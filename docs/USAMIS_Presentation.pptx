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University Student Academic Management</a:t>
            </a:r>
            <a:br/>
            <a:r>
              <a:t>Information System (USAMIS)</a:t>
            </a:r>
          </a:p>
          <a:p>
            <a:pPr>
              <a:defRPr sz="1800">
                <a:solidFill>
                  <a:srgbClr val="CFDCEC"/>
                </a:solidFill>
              </a:defRPr>
            </a:pPr>
            <a:r>
              <a:t>A Role-Based Management Information System using Python, Flask &amp;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USAMIS-Python · Version 1.0 · [Your Name] · [Student ID]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Student records are scattered across paper and spreadsheets.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No single authenticated entry point for staff roles.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Duplicate and inconsistent data across departments.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Management reports are slow to produce and error-prone.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Weak control over who may view or edit records.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Fee tracking and result processing are manual and unreliable.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Centralise all student academic records in one database.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Provide one login for all roles with username + password.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Enforce Role-Based Access Control (RBAC) on the server.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Manage students, courses, enrollment, grades, attendance, fees.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Prevent duplicate records and unauthorized access.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Generate live management reports from real data.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Maintain an audit log of sensitive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Scope &amp; 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Administrator — full control, users, audit log.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Academic staff / Registrar — students, courses, enrollment.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Teacher — grades and attendance for assigned courses.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Finance officer — fee assessments and payments.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Student — own profile, enrollment, grades, fees.</a:t>
            </a:r>
          </a:p>
          <a:p>
            <a:pPr lvl="1">
              <a:spcAft>
                <a:spcPts val="600"/>
              </a:spcAft>
              <a:defRPr sz="1500">
                <a:solidFill>
                  <a:srgbClr val="64748B"/>
                </a:solidFill>
              </a:defRPr>
            </a:pPr>
            <a:r>
              <a:t>– Out of scope: real payment gateway, admissions, AI/ML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Python 3.11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Flask (application factory, blueprints)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SQLAlchemy 2.0 / Flask-SQLAlchemy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Migrations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Flask-Migrate / Alembic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PostgreSQL 17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Auth /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Flask-Login, Flask-WTF, Werkzeug hashing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HTML5, CSS3, vanilla JavaScript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pytest, pytest-cov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pic>
        <p:nvPicPr>
          <p:cNvPr id="4" name="Picture 3" descr="02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3172618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Figure 2 — layered architecture (blueprints, services, algorithms, data).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Database ER Diagram</a:t>
            </a:r>
          </a:p>
        </p:txBody>
      </p:sp>
      <p:pic>
        <p:nvPicPr>
          <p:cNvPr id="4" name="Picture 3" descr="03-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530274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Figure 3 — entity relationship diagram of the implemented schema.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Enrollment Process Flowchart</a:t>
            </a:r>
          </a:p>
        </p:txBody>
      </p:sp>
      <p:pic>
        <p:nvPicPr>
          <p:cNvPr id="4" name="Picture 3" descr="04-enrollment-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392402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Figure 4 — Algorithm 1 with explicit rejection paths.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Three Explainable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1. Course Enrollment Eligibility — status, duplicates, prerequisites, capacity.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2. Academic Performance — credit-weighted average of published grades.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3. Fee Balance — assessments − adjustments − payments (decimal-safe).</a:t>
            </a:r>
          </a:p>
          <a:p>
            <a:pPr lvl="1">
              <a:spcAft>
                <a:spcPts val="600"/>
              </a:spcAft>
              <a:defRPr sz="1500">
                <a:solidFill>
                  <a:srgbClr val="64748B"/>
                </a:solidFill>
              </a:defRPr>
            </a:pPr>
            <a:r>
              <a:t>– Deterministic and unit-tested — not artificial intelligence.</a:t>
            </a:r>
          </a:p>
          <a:p>
            <a:pPr lvl="1">
              <a:spcAft>
                <a:spcPts val="600"/>
              </a:spcAft>
              <a:defRPr sz="1500">
                <a:solidFill>
                  <a:srgbClr val="64748B"/>
                </a:solidFill>
              </a:defRPr>
            </a:pPr>
            <a:r>
              <a:t>– Each returns structure: reason codes, notes, and computed detail.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Flow Diagram</a:t>
            </a:r>
          </a:p>
        </p:txBody>
      </p:sp>
      <p:pic>
        <p:nvPicPr>
          <p:cNvPr id="4" name="Picture 3" descr="05-data-fl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4390843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Figure 5 — movement of requests and academic data between actors, processes, and stores.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Context</a:t>
            </a:r>
          </a:p>
        </p:txBody>
      </p:sp>
      <p:pic>
        <p:nvPicPr>
          <p:cNvPr id="4" name="Picture 3" descr="01-system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5092413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Figure 1 — USAMIS and its external actors and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Passwords stored as salted hashes (Werkzeug).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CSRF protection on all state-changing forms.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Server-side RBAC on every protected endpoint.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Ownership checks: students see only their own records.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Login throttling plus account lockout after failures.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Parameterized ORM queries — no SQL string concatenation.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Audit logging of sensitive actions.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Security headers; no debug mode in production.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Testing Methodology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pytest over a dedicated PostgreSQL test database.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Unit, integration, and security test categories.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Algorithms covered by dedicated unit tests.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Negative security tests for access control.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Actual result: 87 passed, 0 failed.</a:t>
            </a:r>
          </a:p>
          <a:p>
            <a:pPr lvl="1">
              <a:spcAft>
                <a:spcPts val="600"/>
              </a:spcAft>
              <a:defRPr sz="1500">
                <a:solidFill>
                  <a:srgbClr val="64748B"/>
                </a:solidFill>
              </a:defRPr>
            </a:pPr>
            <a:r>
              <a:t>– Six defects found and fixed during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Limitations:</a:t>
            </a:r>
          </a:p>
          <a:p>
            <a:pPr lvl="1">
              <a:spcAft>
                <a:spcPts val="600"/>
              </a:spcAft>
              <a:defRPr sz="1500">
                <a:solidFill>
                  <a:srgbClr val="64748B"/>
                </a:solidFill>
              </a:defRPr>
            </a:pPr>
            <a:r>
              <a:t>– Fee module records payments; it is not a payment gateway.</a:t>
            </a:r>
          </a:p>
          <a:p>
            <a:pPr lvl="1">
              <a:spcAft>
                <a:spcPts val="600"/>
              </a:spcAft>
              <a:defRPr sz="1500">
                <a:solidFill>
                  <a:srgbClr val="64748B"/>
                </a:solidFill>
              </a:defRPr>
            </a:pPr>
            <a:r>
              <a:t>– In-memory rate-limit storage by default.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Future work:</a:t>
            </a:r>
          </a:p>
          <a:p>
            <a:pPr lvl="1">
              <a:spcAft>
                <a:spcPts val="600"/>
              </a:spcAft>
              <a:defRPr sz="1500">
                <a:solidFill>
                  <a:srgbClr val="64748B"/>
                </a:solidFill>
              </a:defRPr>
            </a:pPr>
            <a:r>
              <a:t>– Mobile client; email/SMS notifications.</a:t>
            </a:r>
          </a:p>
          <a:p>
            <a:pPr lvl="1">
              <a:spcAft>
                <a:spcPts val="600"/>
              </a:spcAft>
              <a:defRPr sz="1500">
                <a:solidFill>
                  <a:srgbClr val="64748B"/>
                </a:solidFill>
              </a:defRPr>
            </a:pPr>
            <a:r>
              <a:t>– Payment-gateway integration; QR attendance.</a:t>
            </a:r>
          </a:p>
          <a:p>
            <a:pPr lvl="1">
              <a:spcAft>
                <a:spcPts val="600"/>
              </a:spcAft>
              <a:defRPr sz="1500">
                <a:solidFill>
                  <a:srgbClr val="64748B"/>
                </a:solidFill>
              </a:defRPr>
            </a:pPr>
            <a:r>
              <a:t>– Cloud deployment with a shared rate-limit backend.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Centralised, role-based academic management information system.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Server-enforced access control with an audit trail.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Three explainable algorithms, unit-tested.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Tested (87 passing), documented, and reproducible.</a:t>
            </a:r>
          </a:p>
          <a:p>
            <a:pPr>
              <a:spcAft>
                <a:spcPts val="600"/>
              </a:spcAft>
              <a:defRPr sz="1800">
                <a:solidFill>
                  <a:srgbClr val="1A2433"/>
                </a:solidFill>
              </a:defRPr>
            </a:pPr>
            <a:r>
              <a:t>• Delivered as working software with five verified diagrams.</a:t>
            </a:r>
          </a:p>
          <a:p>
            <a:pPr lvl="1">
              <a:spcAft>
                <a:spcPts val="600"/>
              </a:spcAft>
              <a:defRPr sz="1500">
                <a:solidFill>
                  <a:srgbClr val="64748B"/>
                </a:solidFill>
              </a:defRPr>
            </a:pPr>
            <a:r>
              <a:t>– Thank you — Questions &amp;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