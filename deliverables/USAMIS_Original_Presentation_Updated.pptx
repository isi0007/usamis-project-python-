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a738151664fe0" /><Relationship Type="http://schemas.openxmlformats.org/officeDocument/2006/relationships/extended-properties" Target="/docProps/app.xml" Id="R465259ca4d4e44b2" /><Relationship Type="http://schemas.openxmlformats.org/officeDocument/2006/relationships/officeDocument" Target="/ppt/presentation.xml" Id="R50fe46d65edc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7334bc8454307"/>
  </p:sldMasterIdLst>
  <p:notesMasterIdLst>
    <p:notesMasterId xmlns:r="http://schemas.openxmlformats.org/officeDocument/2006/relationships" r:id="R9d1f9763fbff4b3a"/>
  </p:notesMasterIdLst>
  <p:sldIdLst>
    <p:sldId xmlns:r="http://schemas.openxmlformats.org/officeDocument/2006/relationships" id="256" r:id="Rd04aa40e8c054cc6"/>
    <p:sldId xmlns:r="http://schemas.openxmlformats.org/officeDocument/2006/relationships" id="257" r:id="R590ebc7616cf419e"/>
    <p:sldId xmlns:r="http://schemas.openxmlformats.org/officeDocument/2006/relationships" id="258" r:id="R315568e23062449a"/>
    <p:sldId xmlns:r="http://schemas.openxmlformats.org/officeDocument/2006/relationships" id="259" r:id="R6527c4812fe248c3"/>
    <p:sldId xmlns:r="http://schemas.openxmlformats.org/officeDocument/2006/relationships" id="260" r:id="R19e287139c1f4302"/>
    <p:sldId xmlns:r="http://schemas.openxmlformats.org/officeDocument/2006/relationships" id="261" r:id="Rdcb089a7cb424210"/>
    <p:sldId xmlns:r="http://schemas.openxmlformats.org/officeDocument/2006/relationships" id="262" r:id="Rf2f21a9e366f4cbf"/>
    <p:sldId xmlns:r="http://schemas.openxmlformats.org/officeDocument/2006/relationships" id="263" r:id="R6723683929e74d33"/>
    <p:sldId xmlns:r="http://schemas.openxmlformats.org/officeDocument/2006/relationships" id="264" r:id="R34538b469f654a82"/>
    <p:sldId xmlns:r="http://schemas.openxmlformats.org/officeDocument/2006/relationships" id="265" r:id="Rb852c6d135bc454d"/>
    <p:sldId xmlns:r="http://schemas.openxmlformats.org/officeDocument/2006/relationships" id="266" r:id="Rf9e0c07249c14198"/>
    <p:sldId xmlns:r="http://schemas.openxmlformats.org/officeDocument/2006/relationships" id="267" r:id="Rcfbadec33a6e4895"/>
    <p:sldId xmlns:r="http://schemas.openxmlformats.org/officeDocument/2006/relationships" id="268" r:id="R1e278fde1ee6437f"/>
    <p:sldId xmlns:r="http://schemas.openxmlformats.org/officeDocument/2006/relationships" id="269" r:id="Rabaaa46a371546ca"/>
    <p:sldId xmlns:r="http://schemas.openxmlformats.org/officeDocument/2006/relationships" id="270" r:id="R36eab0218b4648e3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80f9ebac44a34" /><Relationship Type="http://schemas.openxmlformats.org/officeDocument/2006/relationships/slideMaster" Target="/ppt/slideMasters/slideMaster1.xml" Id="R1677334bc8454307" /><Relationship Type="http://schemas.openxmlformats.org/officeDocument/2006/relationships/notesMaster" Target="/ppt/notesMasters/notesMaster1.xml" Id="R9d1f9763fbff4b3a" /><Relationship Type="http://schemas.openxmlformats.org/officeDocument/2006/relationships/presProps" Target="/ppt/presProps.xml" Id="R042b1c1cefd347a9" /><Relationship Type="http://schemas.openxmlformats.org/officeDocument/2006/relationships/viewProps" Target="/ppt/viewProps.xml" Id="Re52a2530f8374764" /><Relationship Type="http://schemas.openxmlformats.org/officeDocument/2006/relationships/tableStyles" Target="/ppt/tableStyles.xml" Id="R8376e53a22b544cd" /><Relationship Type="http://schemas.openxmlformats.org/officeDocument/2006/relationships/slide" Target="/ppt/slides/slide1.xml" Id="Rd04aa40e8c054cc6" /><Relationship Type="http://schemas.openxmlformats.org/officeDocument/2006/relationships/slide" Target="/ppt/slides/slide2.xml" Id="R590ebc7616cf419e" /><Relationship Type="http://schemas.openxmlformats.org/officeDocument/2006/relationships/slide" Target="/ppt/slides/slide3.xml" Id="R315568e23062449a" /><Relationship Type="http://schemas.openxmlformats.org/officeDocument/2006/relationships/slide" Target="/ppt/slides/slide4.xml" Id="R6527c4812fe248c3" /><Relationship Type="http://schemas.openxmlformats.org/officeDocument/2006/relationships/slide" Target="/ppt/slides/slide5.xml" Id="R19e287139c1f4302" /><Relationship Type="http://schemas.openxmlformats.org/officeDocument/2006/relationships/slide" Target="/ppt/slides/slide6.xml" Id="Rdcb089a7cb424210" /><Relationship Type="http://schemas.openxmlformats.org/officeDocument/2006/relationships/slide" Target="/ppt/slides/slide7.xml" Id="Rf2f21a9e366f4cbf" /><Relationship Type="http://schemas.openxmlformats.org/officeDocument/2006/relationships/slide" Target="/ppt/slides/slide8.xml" Id="R6723683929e74d33" /><Relationship Type="http://schemas.openxmlformats.org/officeDocument/2006/relationships/slide" Target="/ppt/slides/slide9.xml" Id="R34538b469f654a82" /><Relationship Type="http://schemas.openxmlformats.org/officeDocument/2006/relationships/slide" Target="/ppt/slides/slide10.xml" Id="Rb852c6d135bc454d" /><Relationship Type="http://schemas.openxmlformats.org/officeDocument/2006/relationships/slide" Target="/ppt/slides/slide11.xml" Id="Rf9e0c07249c14198" /><Relationship Type="http://schemas.openxmlformats.org/officeDocument/2006/relationships/slide" Target="/ppt/slides/slide12.xml" Id="Rcfbadec33a6e4895" /><Relationship Type="http://schemas.openxmlformats.org/officeDocument/2006/relationships/slide" Target="/ppt/slides/slide13.xml" Id="R1e278fde1ee6437f" /><Relationship Type="http://schemas.openxmlformats.org/officeDocument/2006/relationships/slide" Target="/ppt/slides/slide14.xml" Id="Rabaaa46a371546ca" /><Relationship Type="http://schemas.openxmlformats.org/officeDocument/2006/relationships/slide" Target="/ppt/slides/slide15.xml" Id="R36eab0218b46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c83963bc6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79f97d0184fcf" /><Relationship Type="http://schemas.openxmlformats.org/officeDocument/2006/relationships/notesMaster" Target="/ppt/notesMasters/notesMaster1.xml" Id="R24cd4ece054d4e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54444e8714b79" /><Relationship Type="http://schemas.openxmlformats.org/officeDocument/2006/relationships/notesMaster" Target="/ppt/notesMasters/notesMaster1.xml" Id="R2a4c3d8b35e1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353fe813b4400" /><Relationship Type="http://schemas.openxmlformats.org/officeDocument/2006/relationships/notesMaster" Target="/ppt/notesMasters/notesMaster1.xml" Id="Ra4ead71b9272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610e99c83d41d3" /><Relationship Type="http://schemas.openxmlformats.org/officeDocument/2006/relationships/notesMaster" Target="/ppt/notesMasters/notesMaster1.xml" Id="R9e222dced76449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e37ea169924e67" /><Relationship Type="http://schemas.openxmlformats.org/officeDocument/2006/relationships/notesMaster" Target="/ppt/notesMasters/notesMaster1.xml" Id="Rb115cce48530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e0f19e39d4c52" /><Relationship Type="http://schemas.openxmlformats.org/officeDocument/2006/relationships/notesMaster" Target="/ppt/notesMasters/notesMaster1.xml" Id="R75d028b3b73f40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09e3a56d9d4bec" /><Relationship Type="http://schemas.openxmlformats.org/officeDocument/2006/relationships/notesMaster" Target="/ppt/notesMasters/notesMaster1.xml" Id="R706ade74f5bd40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3371c794f3407a" /><Relationship Type="http://schemas.openxmlformats.org/officeDocument/2006/relationships/notesMaster" Target="/ppt/notesMasters/notesMaster1.xml" Id="Rac9accef7638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c0200bda642d6" /><Relationship Type="http://schemas.openxmlformats.org/officeDocument/2006/relationships/notesMaster" Target="/ppt/notesMasters/notesMaster1.xml" Id="R22e9598f079a4f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da0061e6e24fdf" /><Relationship Type="http://schemas.openxmlformats.org/officeDocument/2006/relationships/notesMaster" Target="/ppt/notesMasters/notesMaster1.xml" Id="Redd6483a7e124e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14f16c145b49eb" /><Relationship Type="http://schemas.openxmlformats.org/officeDocument/2006/relationships/notesMaster" Target="/ppt/notesMasters/notesMaster1.xml" Id="R628cfa11d5ba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95eb566b2f4093" /><Relationship Type="http://schemas.openxmlformats.org/officeDocument/2006/relationships/notesMaster" Target="/ppt/notesMasters/notesMaster1.xml" Id="R99c88256921845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1046409d684bc2" /><Relationship Type="http://schemas.openxmlformats.org/officeDocument/2006/relationships/notesMaster" Target="/ppt/notesMasters/notesMaster1.xml" Id="R394290e014b943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6925d909ed44a3" /><Relationship Type="http://schemas.openxmlformats.org/officeDocument/2006/relationships/notesMaster" Target="/ppt/notesMasters/notesMaster1.xml" Id="R42e4258ee99b46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39f7e19ac44b3f" /><Relationship Type="http://schemas.openxmlformats.org/officeDocument/2006/relationships/notesMaster" Target="/ppt/notesMasters/notesMaster1.xml" Id="R246565ee4fa1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b7bf0cc9a45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321a892dd41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0960ffe6a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cb00d715840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4593964d244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f0df2baa146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9a6a57b1846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e4d71513345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675d76bbc4b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bbdca1e524b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8150de39d4b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605ADA-FFCC-429F-B190-CCE30F67211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44C500-2EA8-4062-8C70-AD856C63F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2D482A-FEDE-43E1-AA18-05C5AFF025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E6F122-4BAA-4E61-923E-C0DE424C37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781C7-E7D5-43BB-9276-599D48B75B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14FB82-0B95-4806-8166-44FB35B88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AC03EB-6087-409C-B7CF-F55D5DB273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1E8BC8-8B01-4726-8CB6-7B4E33F597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0D8809-2CCF-4E18-ABBA-D7A8934360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01E8F-677B-461D-9FF6-CAE5AB39B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3425A-EBB8-4A94-A557-78E5223CE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3DDF8-6F20-47D0-A184-EE7435A15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38EB07-AA8C-47E9-972F-21E166EDE0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AAF90A-8C62-4ACD-A637-0928B758DB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265CF1-68E4-467B-A93B-65B8C77D6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0339E7-5154-4819-8C3D-F425D18C9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E56E60-7E10-41D4-B121-7EAF1624ED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CB5337-3228-47FA-AE18-11CFF8761C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5C0862-68B1-408B-8666-6ABBEA4ED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D13848-F88E-41DF-8F7B-4592B4B9FE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66EADAF-9498-4ED2-B1A1-E4A9A2FA5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50791A-59AF-47CD-893D-006847C7A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2F6FDA-7D94-48EF-B025-7181F41165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4A8C88-CC03-4AE1-9C13-FE457F930F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3B843F-23A9-48CA-BAD1-2F2A75E1A3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37C9175-210A-4A32-949D-08277F40A9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FB2B14C-0673-47A0-929F-6EAC0A6700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A77F5F-A8DC-422E-9928-1195B6A614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2C36334-9399-47A7-A3D3-9EF341F408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D14CDB-93EB-4D9D-9A45-8E2CB0A69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A147DD-297C-4042-BFD4-62229E48D9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1C40BA2-2A63-4A7B-B3BF-DD7FA32984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4FE6125-274F-4A72-9E6F-0235000A2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4ED118B-8210-43E8-9FAC-9F53E2CF6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0A67B82-43D9-471F-B114-38CA7E3A4A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08D72BA-E96C-44EA-8537-1071061C62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FAA6BE-0653-426A-A147-464817DFB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DBA6F0-A851-40AE-95E2-7410DD55FA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7A6FA66-BAF2-434F-9E1A-4461A6F4B3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7B89EE-0013-4DE5-85CE-E712D24138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579040-940B-4F7B-94F4-CA7214E0C5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432746-9500-46E5-ABAD-C89A0FF44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9A3C3E-4DEE-4402-813C-8AB246D63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66D799F-A00B-4647-888C-0968C7A578D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4AF12F-64FE-4BBC-ACD2-64E275F2B0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9984B2-8E29-436D-9269-E7DFA74F4F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74034B-BACB-45E6-AF2A-A02614A4A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0C349B-3D69-4E60-BC35-206040FD8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2FAF8-7195-49FA-B4B6-BEF62CDAB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6AE2C6-D799-44D6-82E2-F7FC4D8392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CF3BF4-F83C-4DE1-A982-0FE84CBA93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995664-1BAC-4D92-BBED-6D43ED3208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BE3804-BA09-490F-A010-2E8412818B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B4D6339-6F15-4CEC-B1DC-235AB3383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7AE131-81FD-43D0-B2C9-45C75B43F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2CB375-B1C6-4A85-A945-047056A344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802C41-23F5-4E68-93AA-814081F25A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76674C-5E01-476B-98D2-ACCD8CBC91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c3b51927874779" /><Relationship Type="http://schemas.openxmlformats.org/officeDocument/2006/relationships/slideLayout" Target="/ppt/slideLayouts/slideLayout1.xml" Id="Rffb200756c324c13" /><Relationship Type="http://schemas.openxmlformats.org/officeDocument/2006/relationships/slideLayout" Target="/ppt/slideLayouts/slideLayout2.xml" Id="Rff0a61391da7406d" /><Relationship Type="http://schemas.openxmlformats.org/officeDocument/2006/relationships/slideLayout" Target="/ppt/slideLayouts/slideLayout3.xml" Id="R2be4f69c0d1f4bdb" /><Relationship Type="http://schemas.openxmlformats.org/officeDocument/2006/relationships/slideLayout" Target="/ppt/slideLayouts/slideLayout4.xml" Id="Re87b0da36e764a2a" /><Relationship Type="http://schemas.openxmlformats.org/officeDocument/2006/relationships/slideLayout" Target="/ppt/slideLayouts/slideLayout5.xml" Id="R64ac345e0a9e456d" /><Relationship Type="http://schemas.openxmlformats.org/officeDocument/2006/relationships/slideLayout" Target="/ppt/slideLayouts/slideLayout6.xml" Id="R78c777902d5042d2" /><Relationship Type="http://schemas.openxmlformats.org/officeDocument/2006/relationships/slideLayout" Target="/ppt/slideLayouts/slideLayout7.xml" Id="R5042b4a3f07c4c7d" /><Relationship Type="http://schemas.openxmlformats.org/officeDocument/2006/relationships/slideLayout" Target="/ppt/slideLayouts/slideLayout8.xml" Id="Ra12f832b2b7549ca" /><Relationship Type="http://schemas.openxmlformats.org/officeDocument/2006/relationships/slideLayout" Target="/ppt/slideLayouts/slideLayout9.xml" Id="Ra7aad97cb80d48c8" /><Relationship Type="http://schemas.openxmlformats.org/officeDocument/2006/relationships/slideLayout" Target="/ppt/slideLayouts/slideLayout10.xml" Id="Rdeac2720335446dc" /><Relationship Type="http://schemas.openxmlformats.org/officeDocument/2006/relationships/slideLayout" Target="/ppt/slideLayouts/slideLayout11.xml" Id="R34c9efc9c2194a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7309FE2-5E69-406D-A71C-09F74657C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4CA66D-ED0F-449D-8DCA-AA783453E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E07669-244E-4DCE-A65E-24F8C9821B4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8E1E47-90D9-4054-92DE-C82308DB598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8502DB-A0AD-4D6C-92FD-F51B13FA8B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200756c324c13"/>
    <p:sldLayoutId xmlns:r="http://schemas.openxmlformats.org/officeDocument/2006/relationships" id="2147483650" r:id="Rff0a61391da7406d"/>
    <p:sldLayoutId xmlns:r="http://schemas.openxmlformats.org/officeDocument/2006/relationships" id="2147483651" r:id="R2be4f69c0d1f4bdb"/>
    <p:sldLayoutId xmlns:r="http://schemas.openxmlformats.org/officeDocument/2006/relationships" id="2147483652" r:id="Re87b0da36e764a2a"/>
    <p:sldLayoutId xmlns:r="http://schemas.openxmlformats.org/officeDocument/2006/relationships" id="2147483653" r:id="R64ac345e0a9e456d"/>
    <p:sldLayoutId xmlns:r="http://schemas.openxmlformats.org/officeDocument/2006/relationships" id="2147483654" r:id="R78c777902d5042d2"/>
    <p:sldLayoutId xmlns:r="http://schemas.openxmlformats.org/officeDocument/2006/relationships" id="2147483655" r:id="R5042b4a3f07c4c7d"/>
    <p:sldLayoutId xmlns:r="http://schemas.openxmlformats.org/officeDocument/2006/relationships" id="2147483656" r:id="Ra12f832b2b7549ca"/>
    <p:sldLayoutId xmlns:r="http://schemas.openxmlformats.org/officeDocument/2006/relationships" id="2147483657" r:id="Ra7aad97cb80d48c8"/>
    <p:sldLayoutId xmlns:r="http://schemas.openxmlformats.org/officeDocument/2006/relationships" id="2147483658" r:id="Rdeac2720335446dc"/>
    <p:sldLayoutId xmlns:r="http://schemas.openxmlformats.org/officeDocument/2006/relationships" id="2147483659" r:id="R34c9efc9c2194a3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9bfd09a6314005" /><Relationship Type="http://schemas.openxmlformats.org/officeDocument/2006/relationships/notesSlide" Target="/ppt/notesSlides/notesSlide1.xml" Id="Rc30c2fdda0a9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f9e88382c94783" /><Relationship Type="http://schemas.openxmlformats.org/officeDocument/2006/relationships/notesSlide" Target="/ppt/notesSlides/notesSlide2.xml" Id="R04f555e8f262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0ffe084514695" /><Relationship Type="http://schemas.openxmlformats.org/officeDocument/2006/relationships/notesSlide" Target="/ppt/notesSlides/notesSlide3.xml" Id="Rd399cbfb9ac947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654d30af9546c1" /><Relationship Type="http://schemas.openxmlformats.org/officeDocument/2006/relationships/notesSlide" Target="/ppt/notesSlides/notesSlide4.xml" Id="R433ee05ed52745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e418a087f84b8b" /><Relationship Type="http://schemas.openxmlformats.org/officeDocument/2006/relationships/notesSlide" Target="/ppt/notesSlides/notesSlide5.xml" Id="R4f330e3c8f2d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e4bf2155c249ff" /><Relationship Type="http://schemas.openxmlformats.org/officeDocument/2006/relationships/image" Target="/ppt/media/image.png" Id="R51b0cfbf82294aa9" /><Relationship Type="http://schemas.openxmlformats.org/officeDocument/2006/relationships/image" Target="/ppt/media/image.svg" Id="R229ddd10e4424e30" /><Relationship Type="http://schemas.openxmlformats.org/officeDocument/2006/relationships/notesSlide" Target="/ppt/notesSlides/notesSlide6.xml" Id="R9fa33b487d1a45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4c0dc742fc4504" /><Relationship Type="http://schemas.openxmlformats.org/officeDocument/2006/relationships/image" Target="/ppt/media/image2.png" Id="Ra47924ce7763437d" /><Relationship Type="http://schemas.openxmlformats.org/officeDocument/2006/relationships/notesSlide" Target="/ppt/notesSlides/notesSlide7.xml" Id="R1f658564e9e74e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8b51c89dd54955" /><Relationship Type="http://schemas.openxmlformats.org/officeDocument/2006/relationships/image" Target="/ppt/media/image3.png" Id="Rcac2ea3192384129" /><Relationship Type="http://schemas.openxmlformats.org/officeDocument/2006/relationships/notesSlide" Target="/ppt/notesSlides/notesSlide8.xml" Id="R192f77b29f6b44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c4e80136524bae" /><Relationship Type="http://schemas.openxmlformats.org/officeDocument/2006/relationships/notesSlide" Target="/ppt/notesSlides/notesSlide9.xml" Id="Rbe476f4f2d8a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eb4f4e641b4f4d" /><Relationship Type="http://schemas.openxmlformats.org/officeDocument/2006/relationships/image" Target="/ppt/media/image4.png" Id="Rcbdfded511544784" /><Relationship Type="http://schemas.openxmlformats.org/officeDocument/2006/relationships/notesSlide" Target="/ppt/notesSlides/notesSlide10.xml" Id="R8e38d2599a0944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071783606d455a" /><Relationship Type="http://schemas.openxmlformats.org/officeDocument/2006/relationships/image" Target="/ppt/media/image5.png" Id="R3139436590d34bad" /><Relationship Type="http://schemas.openxmlformats.org/officeDocument/2006/relationships/notesSlide" Target="/ppt/notesSlides/notesSlide11.xml" Id="R14e20d2b4b9242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56455c7b624527" /><Relationship Type="http://schemas.openxmlformats.org/officeDocument/2006/relationships/notesSlide" Target="/ppt/notesSlides/notesSlide12.xml" Id="R90b1ed44f9ea41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648d592e2e4548" /><Relationship Type="http://schemas.openxmlformats.org/officeDocument/2006/relationships/notesSlide" Target="/ppt/notesSlides/notesSlide13.xml" Id="R944a3ba657364f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369925169b4a12" /><Relationship Type="http://schemas.openxmlformats.org/officeDocument/2006/relationships/notesSlide" Target="/ppt/notesSlides/notesSlide14.xml" Id="R366608b3114f4b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36b7541ae24187" /><Relationship Type="http://schemas.openxmlformats.org/officeDocument/2006/relationships/notesSlide" Target="/ppt/notesSlides/notesSlide15.xml" Id="Rd1284c215c484b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3E9EB6-343B-48F4-A7EA-E9EF7C2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93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E06976-7E89-41A7-873E-21BD83DC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9728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FFFFFF"/>
                </a:solidFill>
              </a:defRPr>
            </a:pPr>
            <a:r>
              <a:t>University Student Academic Management</a:t>
            </a:r>
            <a:br/>
            <a:r>
              <a:t>Information System (USAMIS)</a:t>
            </a:r>
          </a:p>
          <a:p xmlns:a="http://schemas.openxmlformats.org/drawingml/2006/main">
            <a:pPr>
              <a:buNone/>
              <a:defRPr sz="1800">
                <a:solidFill>
                  <a:srgbClr val="CFDCEC"/>
                </a:solidFill>
              </a:defRPr>
            </a:pPr>
            <a:r>
              <a:t>A Role-Based Management Information System using Python, Flask &amp; PostgreSQL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9F26C7-FC34-44F7-A49D-85FEE02F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35040"/>
            <a:ext cx="42532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USAMIS-Python · Yaseen Hussain · 2422486012 ·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21333302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D48E12-D650-48A9-A71A-352A2073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4963C6-51F0-4D3F-81E9-09EE5BC9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AD2D07-8992-4581-8655-1A54B36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Student records are scattered across paper and spreadsheets.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No single authenticated entry point for staff roles.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Duplicate and inconsistent data across departments.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Management reports are slow to produce and error-prone.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Weak control over who may view or edit records.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Fee tracking and result processing are manual and unreliable.</a:t>
            </a:r>
          </a:p>
        </p:txBody>
      </p:sp>
    </p:spTree>
    <p:extLst>
      <p:ext uri="{BB962C8B-B14F-4D97-AF65-F5344CB8AC3E}">
        <p14:creationId xmlns:p14="http://schemas.microsoft.com/office/powerpoint/2010/main" val="8337424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6E96E9-5487-40FF-8FCD-769B4232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B9F5A5-1DA6-45FA-A8E6-919B1306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08AE1D-D87B-4605-901A-BE5B20DD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Centralise all student academic records in one database.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Provide one login for all roles with username + password.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Enforce Role-Based Access Control (RBAC) on the server.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Manage students, courses, enrollment, grades, attendance, fees.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Prevent duplicate records and unauthorized access.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Generate live management reports from real data.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Maintain an audit log of sensitive actions.</a:t>
            </a:r>
          </a:p>
        </p:txBody>
      </p:sp>
    </p:spTree>
    <p:extLst>
      <p:ext uri="{BB962C8B-B14F-4D97-AF65-F5344CB8AC3E}">
        <p14:creationId xmlns:p14="http://schemas.microsoft.com/office/powerpoint/2010/main" val="7245004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784268-ECD7-489A-90DC-92D9177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111DFD-79DA-4DA8-96AE-12974C3C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Scope &amp; User Roles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702C98-0621-4974-9C38-D3AFE433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211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Administrator — users, roles and audit log.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Registrar — student records, courses and enrollment.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Teacher — grades, attendance and QR sessions.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Finance officer — fee assessments and payments.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Student and parent — authorized academic information.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Fictional demo profiles include eight students and two teachers.</a:t>
            </a:r>
          </a:p>
        </p:txBody>
      </p:sp>
    </p:spTree>
    <p:extLst>
      <p:ext uri="{BB962C8B-B14F-4D97-AF65-F5344CB8AC3E}">
        <p14:creationId xmlns:p14="http://schemas.microsoft.com/office/powerpoint/2010/main" val="13383182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814AD5-2188-4B0C-B9C0-EA8481A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8C4719-AB9B-4E7B-B65F-870ED30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>
            <a:extLst xmlns:a="http://schemas.openxmlformats.org/drawingml/2006/main">
              <a:ext uri="{FF2B5EF4-FFF2-40B4-BE49-F238E27FC236}">
                <a16:creationId xmlns:a16="http://schemas.microsoft.com/office/drawing/2014/main" id="{E41A0CBF-5B35-473C-9AEF-5125EB98556D}"/>
              </a:ext>
            </a:extLst>
          </p:cNvPr>
          <p:cNvGraphicFramePr/>
          <p:nvPr/>
        </p:nvGraphicFramePr>
        <p:xfrm>
          <a:off xmlns:a="http://schemas.openxmlformats.org/drawingml/2006/main" x="640080" y="137160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2B6C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Language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Python 3.11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Framework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Flask (application factory, blueprints)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SQLAlchemy 2.0 / Flask-SQLAlchemy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Migrations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Flask-Migrate / Alembic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Database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PostgreSQL 17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Auth / Forms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Flask-Login, Flask-WTF, Werkzeug hashing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HTML5, CSS3, vanilla JavaScript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Testing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/>
                        <a:t>pytest, pytest-cov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0114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731FB5-0CC8-439F-BCFD-4A9D1AE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CBD2FC9-E16D-4BBE-91CE-39DF6B4B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98449FB-1FF3-4AB4-BEA3-51B80F850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0cfbf82294aa9">
            <a:extLst>
              <a:ext uri="{96DAC541-7B7A-43D3-8B79-37D633B846F1}">
                <asvg:svgBlip xmlns:asvg="http://schemas.microsoft.com/office/drawing/2016/SVG/main" r:embed="R229ddd10e4424e3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143000"/>
            <a:ext cx="102870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0D25B4-2B2D-4453-B0C6-8575A383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375634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Figure 2 — four logical layers within one Flask application.</a:t>
            </a:r>
          </a:p>
        </p:txBody>
      </p:sp>
    </p:spTree>
    <p:extLst>
      <p:ext uri="{BB962C8B-B14F-4D97-AF65-F5344CB8AC3E}">
        <p14:creationId xmlns:p14="http://schemas.microsoft.com/office/powerpoint/2010/main" val="19472855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AC324F-BC27-4E93-AC8C-D550D667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1DF6B-853E-4259-857F-081D4442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Database ER Diagram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BA736CE-7380-442C-B3CB-45F9A1D5D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924ce7763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34440"/>
            <a:ext cx="5302740" cy="47548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B102EF-91C4-4EFE-9844-B5EBEBDC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55105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Figure 3 — original core ER diagram; the current schema also includes research tables.</a:t>
            </a:r>
          </a:p>
        </p:txBody>
      </p:sp>
    </p:spTree>
    <p:extLst>
      <p:ext uri="{BB962C8B-B14F-4D97-AF65-F5344CB8AC3E}">
        <p14:creationId xmlns:p14="http://schemas.microsoft.com/office/powerpoint/2010/main" val="1144146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3C6B66-EB87-4E4C-B1B5-FF8858E0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509FF3-ABCB-4023-A73E-36B2913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Enrollment Process Flowchart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7508166-D648-4B90-9E5D-1F2F53951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2ea319238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34440"/>
            <a:ext cx="3924027" cy="47548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C345BB-D41D-4260-85F2-9CF0EDC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Figure 4 — Algorithm 1 with explicit rejection paths.</a:t>
            </a:r>
          </a:p>
        </p:txBody>
      </p:sp>
    </p:spTree>
    <p:extLst>
      <p:ext uri="{BB962C8B-B14F-4D97-AF65-F5344CB8AC3E}">
        <p14:creationId xmlns:p14="http://schemas.microsoft.com/office/powerpoint/2010/main" val="20704329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F890B3-F060-4128-873E-92A31E2C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9D43D-F0D3-4EA5-8073-3CACE04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5735955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Academic Algorithms and Deep Learning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309480-EC30-4809-94A5-49A9CCF0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211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Enrollment: student status, prerequisites and capacity.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Grades and GPA: credit-weighted academic results.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Fees: decimal-safe assessments and payments.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OpenCV: decode a QR image; validate the signed attendance session.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Neural network: 4 inputs → 32 → 16 → 1 for an academic-risk experiment.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Logistic regression provides a simpler comparison.</a:t>
            </a:r>
          </a:p>
        </p:txBody>
      </p:sp>
    </p:spTree>
    <p:extLst>
      <p:ext uri="{BB962C8B-B14F-4D97-AF65-F5344CB8AC3E}">
        <p14:creationId xmlns:p14="http://schemas.microsoft.com/office/powerpoint/2010/main" val="13667534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30A8FC-3EFB-47E0-823A-B8B75BB1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B2A3636-B456-4261-9667-58141F34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149103B-01EE-4F3F-A99E-2223A1E55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fded51154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34440"/>
            <a:ext cx="4390843" cy="47548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AE26D98-9B7C-49C3-972E-ACEB230E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Figure 5 — movement of requests and academic data between actors, processes, and stores.</a:t>
            </a:r>
          </a:p>
        </p:txBody>
      </p:sp>
    </p:spTree>
    <p:extLst>
      <p:ext uri="{BB962C8B-B14F-4D97-AF65-F5344CB8AC3E}">
        <p14:creationId xmlns:p14="http://schemas.microsoft.com/office/powerpoint/2010/main" val="1074919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F7D218-5706-459A-A9AF-08A5E27B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4BBFB78-6C80-456D-87D8-5023D56F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System Context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56B6090-68C8-47F4-8BA1-FB20EECC2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9436590d34b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34440"/>
            <a:ext cx="15092413" cy="47548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5F8F94-200B-4449-B475-3985B3D2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4748B"/>
                </a:solidFill>
              </a:defRPr>
            </a:pPr>
            <a:r>
              <a:t>Figure 1 — USAMIS and its external actors and database.</a:t>
            </a:r>
          </a:p>
        </p:txBody>
      </p:sp>
    </p:spTree>
    <p:extLst>
      <p:ext uri="{BB962C8B-B14F-4D97-AF65-F5344CB8AC3E}">
        <p14:creationId xmlns:p14="http://schemas.microsoft.com/office/powerpoint/2010/main" val="12254280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DCBBC5-5E72-49A0-A088-F7CFA5C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E74A644-735C-419F-B125-D4929BE4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B8E92E-6592-4DBC-96CA-102DC637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Passwords stored as salted hashes (Werkzeug).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CSRF protection on all state-changing forms.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Server-side RBAC on every protected endpoint.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Ownership checks: students see only their own records.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Login throttling plus account lockout after failures.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Parameterized ORM queries — no SQL string concatenation.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Audit logging of sensitive actions.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Security headers; no debug mode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1614252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17A3AC-9F91-447E-9385-2A92F3A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8BEB42-59A9-440C-8AD5-2707B790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Testing Methodology &amp; 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22C972-AE3B-46D4-AE13-CACC88E9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211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PostgreSQL-backed unit, integration and security tests.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Four layer responsibilities checked independently.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Complete QR and neural-form workflows tested.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Full suite: 194 passed, 0 failed.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SQL dump restored into an empty database with matching counts.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Browser checks covered administrator, teacher, student and parent.</a:t>
            </a:r>
          </a:p>
        </p:txBody>
      </p:sp>
    </p:spTree>
    <p:extLst>
      <p:ext uri="{BB962C8B-B14F-4D97-AF65-F5344CB8AC3E}">
        <p14:creationId xmlns:p14="http://schemas.microsoft.com/office/powerpoint/2010/main" val="14242104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462929-42B6-4F75-8A2A-5EDD06CC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B32278-4247-4828-B137-D174D51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9A11F4-3763-4775-A6EB-E5E0B9A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211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The neural experiment uses 600 synthetic snapshots.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Synthetic results do not prove accuracy for real students.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QR decoding is computer vision; the neural network is deep learning.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A physical-phone classroom trial remains to be completed.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External payment and SMS delivery were not tested.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Future work: real historical data and production deployment.</a:t>
            </a:r>
          </a:p>
        </p:txBody>
      </p:sp>
    </p:spTree>
    <p:extLst>
      <p:ext uri="{BB962C8B-B14F-4D97-AF65-F5344CB8AC3E}">
        <p14:creationId xmlns:p14="http://schemas.microsoft.com/office/powerpoint/2010/main" val="20772885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DE8C0C-A0BF-444B-BA7F-B8E1E3A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695AC8-5CE1-4600-BFCD-9C89000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31FBA5-39CE-497D-BAE9-2CA6D17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972800" cy="2118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t>• Centralised, role-based academic information system.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Four clear code folders: frontend, backend, algorithms and database.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OpenCV QR attendance and a trained neural-network experiment.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Ten illustrated fictional profiles and a complete SQL demo dataset.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194 automated tests passed.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800">
                <a:solidFill>
                  <a:srgbClr val="1A2433"/>
                </a:solidFill>
              </a:defRPr>
            </a:pPr>
            <a:r>
              <a:rPr sz="1800">
                <a:solidFill>
                  <a:srgbClr val="1A2433"/>
                </a:solidFill>
              </a:rPr>
              <a:t>• Thank you — questions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334602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2026-10-30T04:39:40.3650000Z</dcterms:created>
  <dcterms:modified xsi:type="dcterms:W3CDTF">2026-10-30T04:39:40.3650000Z</dcterms:modified>
</coreProperties>
</file>