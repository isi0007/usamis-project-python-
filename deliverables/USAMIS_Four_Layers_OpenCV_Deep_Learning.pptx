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ee0bb461d44813" /><Relationship Type="http://schemas.openxmlformats.org/officeDocument/2006/relationships/extended-properties" Target="/docProps/app.xml" Id="Ra3b48ec5bd884543" /><Relationship Type="http://schemas.openxmlformats.org/officeDocument/2006/relationships/officeDocument" Target="/ppt/presentation.xml" Id="R2ab536d6a75941a6" /></Relationships>
</file>

<file path=ppt/presentation.xml><?xml version="1.0" encoding="utf-8"?>
<p:presentation xmlns:p="http://schemas.openxmlformats.org/presentationml/2006/main">
  <p:sldMasterIdLst>
    <p:sldMasterId xmlns:r="http://schemas.openxmlformats.org/officeDocument/2006/relationships" id="2147483648" r:id="R85a8bf32951049e5"/>
  </p:sldMasterIdLst>
  <p:notesMasterIdLst>
    <p:notesMasterId xmlns:r="http://schemas.openxmlformats.org/officeDocument/2006/relationships" r:id="R97cc3547545745ee"/>
  </p:notesMasterIdLst>
  <p:sldIdLst>
    <p:sldId xmlns:r="http://schemas.openxmlformats.org/officeDocument/2006/relationships" id="256" r:id="R4d2c9310517a4288"/>
    <p:sldId xmlns:r="http://schemas.openxmlformats.org/officeDocument/2006/relationships" id="257" r:id="R309918b82c164fff"/>
    <p:sldId xmlns:r="http://schemas.openxmlformats.org/officeDocument/2006/relationships" id="258" r:id="Rf9f2cfcb5fa0443e"/>
    <p:sldId xmlns:r="http://schemas.openxmlformats.org/officeDocument/2006/relationships" id="259" r:id="Rfa725ee6fa7942a0"/>
    <p:sldId xmlns:r="http://schemas.openxmlformats.org/officeDocument/2006/relationships" id="260" r:id="Re0b878113bd74d23"/>
    <p:sldId xmlns:r="http://schemas.openxmlformats.org/officeDocument/2006/relationships" id="261" r:id="Rad46888eb8794535"/>
    <p:sldId xmlns:r="http://schemas.openxmlformats.org/officeDocument/2006/relationships" id="262" r:id="Rb8f7419f43d64d14"/>
    <p:sldId xmlns:r="http://schemas.openxmlformats.org/officeDocument/2006/relationships" id="263" r:id="R2ba41d07e0264679"/>
    <p:sldId xmlns:r="http://schemas.openxmlformats.org/officeDocument/2006/relationships" id="264" r:id="R34692df72cc34fa1"/>
    <p:sldId xmlns:r="http://schemas.openxmlformats.org/officeDocument/2006/relationships" id="265" r:id="R2d7e6badd3b548a3"/>
    <p:sldId xmlns:r="http://schemas.openxmlformats.org/officeDocument/2006/relationships" id="266" r:id="R153cae56733d43c3"/>
    <p:sldId xmlns:r="http://schemas.openxmlformats.org/officeDocument/2006/relationships" id="267" r:id="R930a93a06983403b"/>
    <p:sldId xmlns:r="http://schemas.openxmlformats.org/officeDocument/2006/relationships" id="268" r:id="Ra27ae9c8079b4411"/>
    <p:sldId xmlns:r="http://schemas.openxmlformats.org/officeDocument/2006/relationships" id="269" r:id="Re86fe893988d407c"/>
    <p:sldId xmlns:r="http://schemas.openxmlformats.org/officeDocument/2006/relationships" id="270" r:id="R9dac0defcfa441e1"/>
    <p:sldId xmlns:r="http://schemas.openxmlformats.org/officeDocument/2006/relationships" id="271" r:id="R0fa0006db16c4649"/>
    <p:sldId xmlns:r="http://schemas.openxmlformats.org/officeDocument/2006/relationships" id="272" r:id="R6895d3ab4a124bde"/>
    <p:sldId xmlns:r="http://schemas.openxmlformats.org/officeDocument/2006/relationships" id="273" r:id="Rb688313839c644cc"/>
    <p:sldId xmlns:r="http://schemas.openxmlformats.org/officeDocument/2006/relationships" id="274" r:id="Rf35da606c7014d06"/>
    <p:sldId xmlns:r="http://schemas.openxmlformats.org/officeDocument/2006/relationships" id="275" r:id="Rdbbb23b1a3e94b89"/>
    <p:sldId xmlns:r="http://schemas.openxmlformats.org/officeDocument/2006/relationships" id="276" r:id="R5e27bbce530d49de"/>
    <p:sldId xmlns:r="http://schemas.openxmlformats.org/officeDocument/2006/relationships" id="277" r:id="Rd7103ce3f4ff47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fca35fbb5b40b2" /><Relationship Type="http://schemas.openxmlformats.org/officeDocument/2006/relationships/slideMaster" Target="/ppt/slideMasters/slideMaster1.xml" Id="R85a8bf32951049e5" /><Relationship Type="http://schemas.openxmlformats.org/officeDocument/2006/relationships/notesMaster" Target="/ppt/notesMasters/notesMaster1.xml" Id="R97cc3547545745ee" /><Relationship Type="http://schemas.openxmlformats.org/officeDocument/2006/relationships/presProps" Target="/ppt/presProps.xml" Id="R7a4f8c5433de4f53" /><Relationship Type="http://schemas.openxmlformats.org/officeDocument/2006/relationships/tableStyles" Target="/ppt/tableStyles.xml" Id="R1d418741e0fb4312" /><Relationship Type="http://schemas.openxmlformats.org/officeDocument/2006/relationships/slide" Target="/ppt/slides/slide1.xml" Id="R4d2c9310517a4288" /><Relationship Type="http://schemas.openxmlformats.org/officeDocument/2006/relationships/slide" Target="/ppt/slides/slide2.xml" Id="R309918b82c164fff" /><Relationship Type="http://schemas.openxmlformats.org/officeDocument/2006/relationships/slide" Target="/ppt/slides/slide3.xml" Id="Rf9f2cfcb5fa0443e" /><Relationship Type="http://schemas.openxmlformats.org/officeDocument/2006/relationships/slide" Target="/ppt/slides/slide4.xml" Id="Rfa725ee6fa7942a0" /><Relationship Type="http://schemas.openxmlformats.org/officeDocument/2006/relationships/slide" Target="/ppt/slides/slide5.xml" Id="Re0b878113bd74d23" /><Relationship Type="http://schemas.openxmlformats.org/officeDocument/2006/relationships/slide" Target="/ppt/slides/slide6.xml" Id="Rad46888eb8794535" /><Relationship Type="http://schemas.openxmlformats.org/officeDocument/2006/relationships/slide" Target="/ppt/slides/slide7.xml" Id="Rb8f7419f43d64d14" /><Relationship Type="http://schemas.openxmlformats.org/officeDocument/2006/relationships/slide" Target="/ppt/slides/slide8.xml" Id="R2ba41d07e0264679" /><Relationship Type="http://schemas.openxmlformats.org/officeDocument/2006/relationships/slide" Target="/ppt/slides/slide9.xml" Id="R34692df72cc34fa1" /><Relationship Type="http://schemas.openxmlformats.org/officeDocument/2006/relationships/slide" Target="/ppt/slides/slide10.xml" Id="R2d7e6badd3b548a3" /><Relationship Type="http://schemas.openxmlformats.org/officeDocument/2006/relationships/slide" Target="/ppt/slides/slide11.xml" Id="R153cae56733d43c3" /><Relationship Type="http://schemas.openxmlformats.org/officeDocument/2006/relationships/slide" Target="/ppt/slides/slide12.xml" Id="R930a93a06983403b" /><Relationship Type="http://schemas.openxmlformats.org/officeDocument/2006/relationships/slide" Target="/ppt/slides/slide13.xml" Id="Ra27ae9c8079b4411" /><Relationship Type="http://schemas.openxmlformats.org/officeDocument/2006/relationships/slide" Target="/ppt/slides/slide14.xml" Id="Re86fe893988d407c" /><Relationship Type="http://schemas.openxmlformats.org/officeDocument/2006/relationships/slide" Target="/ppt/slides/slide15.xml" Id="R9dac0defcfa441e1" /><Relationship Type="http://schemas.openxmlformats.org/officeDocument/2006/relationships/slide" Target="/ppt/slides/slide16.xml" Id="R0fa0006db16c4649" /><Relationship Type="http://schemas.openxmlformats.org/officeDocument/2006/relationships/slide" Target="/ppt/slides/slide17.xml" Id="R6895d3ab4a124bde" /><Relationship Type="http://schemas.openxmlformats.org/officeDocument/2006/relationships/slide" Target="/ppt/slides/slide18.xml" Id="Rb688313839c644cc" /><Relationship Type="http://schemas.openxmlformats.org/officeDocument/2006/relationships/slide" Target="/ppt/slides/slide19.xml" Id="Rf35da606c7014d06" /><Relationship Type="http://schemas.openxmlformats.org/officeDocument/2006/relationships/slide" Target="/ppt/slides/slide20.xml" Id="Rdbbb23b1a3e94b89" /><Relationship Type="http://schemas.openxmlformats.org/officeDocument/2006/relationships/slide" Target="/ppt/slides/slide21.xml" Id="R5e27bbce530d49de" /><Relationship Type="http://schemas.openxmlformats.org/officeDocument/2006/relationships/slide" Target="/ppt/slides/slide22.xml" Id="Rd7103ce3f4ff47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b03515469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4d5d33edb34289" /><Relationship Type="http://schemas.openxmlformats.org/officeDocument/2006/relationships/notesMaster" Target="/ppt/notesMasters/notesMaster1.xml" Id="R2147b47f543544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5ecab57def4ed9" /><Relationship Type="http://schemas.openxmlformats.org/officeDocument/2006/relationships/notesMaster" Target="/ppt/notesMasters/notesMaster1.xml" Id="R4761cb589f274e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ab7e3a018c483f" /><Relationship Type="http://schemas.openxmlformats.org/officeDocument/2006/relationships/notesMaster" Target="/ppt/notesMasters/notesMaster1.xml" Id="R01041e0ede8544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99a358ee34a1d" /><Relationship Type="http://schemas.openxmlformats.org/officeDocument/2006/relationships/notesMaster" Target="/ppt/notesMasters/notesMaster1.xml" Id="R88fcb3065e4043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f2b1590daa4402" /><Relationship Type="http://schemas.openxmlformats.org/officeDocument/2006/relationships/notesMaster" Target="/ppt/notesMasters/notesMaster1.xml" Id="Rd7fc6a687b964f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43e53c39d94621" /><Relationship Type="http://schemas.openxmlformats.org/officeDocument/2006/relationships/notesMaster" Target="/ppt/notesMasters/notesMaster1.xml" Id="R6d7097d5622b46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448cad552478d" /><Relationship Type="http://schemas.openxmlformats.org/officeDocument/2006/relationships/notesMaster" Target="/ppt/notesMasters/notesMaster1.xml" Id="R32ff22ca466248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9ffd096d1c4f74" /><Relationship Type="http://schemas.openxmlformats.org/officeDocument/2006/relationships/notesMaster" Target="/ppt/notesMasters/notesMaster1.xml" Id="Re348aae8715d44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9a83a5a94c4005" /><Relationship Type="http://schemas.openxmlformats.org/officeDocument/2006/relationships/notesMaster" Target="/ppt/notesMasters/notesMaster1.xml" Id="Rc2a0fa6a3a9d4e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048e04495f420b" /><Relationship Type="http://schemas.openxmlformats.org/officeDocument/2006/relationships/notesMaster" Target="/ppt/notesMasters/notesMaster1.xml" Id="R7ad9dfaa5f6347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031db3cbdd4791" /><Relationship Type="http://schemas.openxmlformats.org/officeDocument/2006/relationships/notesMaster" Target="/ppt/notesMasters/notesMaster1.xml" Id="R0f8bfb3054fd46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c88cfdb824d89" /><Relationship Type="http://schemas.openxmlformats.org/officeDocument/2006/relationships/notesMaster" Target="/ppt/notesMasters/notesMaster1.xml" Id="R36461327683b45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caad39d3cd47cd" /><Relationship Type="http://schemas.openxmlformats.org/officeDocument/2006/relationships/notesMaster" Target="/ppt/notesMasters/notesMaster1.xml" Id="R9e20c479bcb345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32de6978884c8f" /><Relationship Type="http://schemas.openxmlformats.org/officeDocument/2006/relationships/notesMaster" Target="/ppt/notesMasters/notesMaster1.xml" Id="R61691099bc5d46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fbdc45f09940c5" /><Relationship Type="http://schemas.openxmlformats.org/officeDocument/2006/relationships/notesMaster" Target="/ppt/notesMasters/notesMaster1.xml" Id="Ra335c70609484f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936c91d8fe4f44" /><Relationship Type="http://schemas.openxmlformats.org/officeDocument/2006/relationships/notesMaster" Target="/ppt/notesMasters/notesMaster1.xml" Id="R6dbf0dfcc5bc49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5a953efd6d4f4f" /><Relationship Type="http://schemas.openxmlformats.org/officeDocument/2006/relationships/notesMaster" Target="/ppt/notesMasters/notesMaster1.xml" Id="R1baecdaab0394e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7ded54372841ef" /><Relationship Type="http://schemas.openxmlformats.org/officeDocument/2006/relationships/notesMaster" Target="/ppt/notesMasters/notesMaster1.xml" Id="R2090c55443cf47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0ea435ab144501" /><Relationship Type="http://schemas.openxmlformats.org/officeDocument/2006/relationships/notesMaster" Target="/ppt/notesMasters/notesMaster1.xml" Id="R8d6e42f0a2574e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2b296d9caa4bd0" /><Relationship Type="http://schemas.openxmlformats.org/officeDocument/2006/relationships/notesMaster" Target="/ppt/notesMasters/notesMaster1.xml" Id="Rc7002b0856a74a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c1cd39585c4092" /><Relationship Type="http://schemas.openxmlformats.org/officeDocument/2006/relationships/notesMaster" Target="/ppt/notesMasters/notesMaster1.xml" Id="R5450fa190d7144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79065e51614e02" /><Relationship Type="http://schemas.openxmlformats.org/officeDocument/2006/relationships/notesMaster" Target="/ppt/notesMasters/notesMaster1.xml" Id="R5d73ab2f253945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university academic management. Explain that the updated presentation covers the four logical software layers and a visual QR plus deep-learning demonstration.</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original problem: scattered records, duplicate enrollment and weak access control. The extension supports the existing academic workflow. Parent is a sixth role in current code, beyond the original five-role report.</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layers share one Flask deployment. Layer 3 is Academic Processing and Algorithms. Security checks occur at the application boundary; database constraints remain authoritative. Legacy routes sometimes query ORM models directly, so do not claim a fully strict adjacent-only dependency architecture.</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is not trusted merely because the browser validates it. The server repeats checks. Mention app/templates/attendance/scanner.html and app/templates/predictions/neural.html.</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an example POST route. The controller checks identity and permission, then invokes Layer 3. The new neural route never runs training during a web request.</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computation layer requested by the teacher. Services orchestrate the work; algorithm modules do not import Flask or SQLAlchemy. OpenCV QRCodeDetector detects and decodes QR pixels: https://docs.opencv.org/4.x/de/dc3/classcv_1_1QRCodeDetector.html</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implementation has 22 application tables. User roles are stored in users.role; the older multi-role ER diagram should be replaced. Model JSON and dated CSV are file-backed repositories, not PostgreSQL training-history tables.</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opens a session. The student signs in and submits a photo or image. OpenCV extracts the token without following the decoded URL. HMAC verification, expiry and enrollment checks precede a database write. An ordinary camera link now asks for POST confirmation.</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feature is image decoding rather than deep learning. It demonstrates acquisition, validation and persistence. Do not claim QR proves physical presence: an active code can be shared. The application does not store the uploaded image.</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trainable multilayer perceptron implemented in NumPy. Hidden layers use ReLU; output uses sigmoid. Backpropagation minimizes binary cross-entropy with L2 regularization. Architecture is a project design choice. Keras structured-data examples: https://keras.io/examples/structured_data/</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snapshot per student. Data owners must ensure features were actually available at snapshot time; dates alone cannot prove that. Minimum-row checks are software guards, not adequate-sample guarantees. A later-cohort evaluation remains necessary.</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measured results from the fixed-seed classroom simulation, not real-student accuracy. Validation F1 selected logistic regression. Do not change that decision using the test set. Neural test F1 is higher in this particular split, but its validation score is lower.</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a generated schema.sql bootstrap and the migration chain were executed in separate empty PostgreSQL databases. Alembic metadata comparison returned no differences in each. This checks schema consistency, not every conceivable concurrency or production issue.</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isolation: Layer 1 compiles without a web server; pure Layer 3 algorithms train/decode without a database; Layer 4 uses a disposable PostgreSQL database. HTTP integration tests join all four. See scripts/verify_layers.ps1 and docs/VERIFICATION_2026_10_30.md for exact evidence.</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inspected baseline functionality from the new work and test evidence. Existing adapters may use stub providers. Do not imply external SMS or payment connections were verified.</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scope matches available academic tabular data and the teacher’s request. A prerequisite graph is a useful deterministic extension but is not implemented by this upgrade. LSTM requires longitudinal sequences. Face recognition is unnecessary for the current objective and introduces extra validation and data requirements.</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is testable, but classroom preparation includes a physical-phone trial and synchronized report screenshots. A real historical dataset is required for any real-world predictive-performance claim. Keep these limitations explicit during the viva.</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talk: 1) show the four-layer diagram; 2) log in as a teacher and open a session; 3) log in as the enrolled student and upload a QR image; 4) show the persisted attendance row; 5) open /predictions/neural as administrator; 6) compare the two models; 7) explain why synthetic evaluation is not real-world validation. The new algorithm has two hidden layers and learned weights; QR decoding itself is classical computer vision.</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demo records. The SQL export includes 600 research snapshots and a trained experiment; illustrated PNG files are shipped with the application and SQL stores their paths. All 194 automated tests passed, and 25 browser checks returned HTTP 200.</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preview screenshot captured 30 October 2026. All ten people have illustrated profile images.</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preview screenshot captured 30 October 2026. Measured comparison and an interactive academic snapshot.</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preview screenshot captured 30 October 2026. Signed session validation connects image decoding to attendance records.</a:t>
            </a:r>
          </a:p>
          <a:p xmlns:a="http://schemas.openxmlformats.org/drawingml/2006/main">
            <a:r>
              <a:t>Source: https://github.com/ISI0007/USAMIS-PROJECT-Python-/tree/492517e6a32d1ded0f7176460c9283d8afd5035e</a:t>
            </a:r>
          </a:p>
          <a:p xmlns:a="http://schemas.openxmlformats.org/drawingml/2006/main">
            <a:r>
              <a:t>Local upgrade: docs/FOUR_LAYER_UPGRADE.md, app/algorithms/neural_risk.py, app/algorithms/qr_decoder.py.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a0ea9ad8dc4b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4b2ab00caf46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c1bae044e74e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26de20c3de4d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f89bc0f56a41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886cb6e27d41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34394-EB64-45A8-A1B9-0222A63042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DDD44C-B64A-44CA-AFBD-9E9DD24049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188793-5E27-4650-A0EB-56ABF1476B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47B7BF-D1DA-48DF-8A5B-865C94FFE4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4E11D5-F394-4A4F-9C07-EC588815FF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F47E91-8E13-423E-8426-618B699294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B1998E-050F-481C-B148-22A8F6549B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B83102-1C2C-443A-BEDC-9D9047BCBF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FB0506-F277-486F-AE50-42E5A040A5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0712A8-C617-4F81-B8C5-2860DE3C3A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5285248be04d0d" /><Relationship Type="http://schemas.openxmlformats.org/officeDocument/2006/relationships/slideLayout" Target="/ppt/slideLayouts/slideLayout1.xml" Id="R125da76aa4a8425f" /><Relationship Type="http://schemas.openxmlformats.org/officeDocument/2006/relationships/slideLayout" Target="/ppt/slideLayouts/slideLayout2.xml" Id="R48c7887adc0b4b90" /><Relationship Type="http://schemas.openxmlformats.org/officeDocument/2006/relationships/slideLayout" Target="/ppt/slideLayouts/slideLayout3.xml" Id="R435d6032892a458f" /><Relationship Type="http://schemas.openxmlformats.org/officeDocument/2006/relationships/slideLayout" Target="/ppt/slideLayouts/slideLayout4.xml" Id="R06d88dd61c214640" /><Relationship Type="http://schemas.openxmlformats.org/officeDocument/2006/relationships/slideLayout" Target="/ppt/slideLayouts/slideLayout5.xml" Id="R9dbdfcea0f7146a0" /><Relationship Type="http://schemas.openxmlformats.org/officeDocument/2006/relationships/slideLayout" Target="/ppt/slideLayouts/slideLayout6.xml" Id="Rd1f71cdcf7da4e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5da76aa4a8425f"/>
    <p:sldLayoutId xmlns:r="http://schemas.openxmlformats.org/officeDocument/2006/relationships" id="2147483650" r:id="R48c7887adc0b4b90"/>
    <p:sldLayoutId xmlns:r="http://schemas.openxmlformats.org/officeDocument/2006/relationships" id="2147483651" r:id="R435d6032892a458f"/>
    <p:sldLayoutId xmlns:r="http://schemas.openxmlformats.org/officeDocument/2006/relationships" id="2147483652" r:id="R06d88dd61c214640"/>
    <p:sldLayoutId xmlns:r="http://schemas.openxmlformats.org/officeDocument/2006/relationships" id="2147483653" r:id="R9dbdfcea0f7146a0"/>
    <p:sldLayoutId xmlns:r="http://schemas.openxmlformats.org/officeDocument/2006/relationships" id="2147483654" r:id="Rd1f71cdcf7da4e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93c1e6e652404f" /><Relationship Type="http://schemas.openxmlformats.org/officeDocument/2006/relationships/notesSlide" Target="/ppt/notesSlides/notesSlide1.xml" Id="Re4570e5aaf8648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4cd813f68e4659" /><Relationship Type="http://schemas.openxmlformats.org/officeDocument/2006/relationships/notesSlide" Target="/ppt/notesSlides/notesSlide2.xml" Id="Rffef8038e096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756146d44e4a7b" /><Relationship Type="http://schemas.openxmlformats.org/officeDocument/2006/relationships/notesSlide" Target="/ppt/notesSlides/notesSlide3.xml" Id="Reb3ff9a0cd304e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05e3e99e4f49d3" /><Relationship Type="http://schemas.openxmlformats.org/officeDocument/2006/relationships/notesSlide" Target="/ppt/notesSlides/notesSlide4.xml" Id="R1a9f4d6371f841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16e1a17e75486c" /><Relationship Type="http://schemas.openxmlformats.org/officeDocument/2006/relationships/notesSlide" Target="/ppt/notesSlides/notesSlide5.xml" Id="R0a2f70c66c1d42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b3f55fc1c94326" /><Relationship Type="http://schemas.openxmlformats.org/officeDocument/2006/relationships/notesSlide" Target="/ppt/notesSlides/notesSlide6.xml" Id="Rf54039c1792c49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a626a04c7c4710" /><Relationship Type="http://schemas.openxmlformats.org/officeDocument/2006/relationships/notesSlide" Target="/ppt/notesSlides/notesSlide7.xml" Id="R8e30a324787f4d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ab5d0612c34962" /><Relationship Type="http://schemas.openxmlformats.org/officeDocument/2006/relationships/notesSlide" Target="/ppt/notesSlides/notesSlide8.xml" Id="R4d3e3dc86a814b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e0eb446bb54244" /><Relationship Type="http://schemas.openxmlformats.org/officeDocument/2006/relationships/notesSlide" Target="/ppt/notesSlides/notesSlide9.xml" Id="R1653297ea45f4f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ccd6ea4c5741f8" /><Relationship Type="http://schemas.openxmlformats.org/officeDocument/2006/relationships/notesSlide" Target="/ppt/notesSlides/notesSlide10.xml" Id="R1bbfe7eba7a647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2e6109c75341ff" /><Relationship Type="http://schemas.openxmlformats.org/officeDocument/2006/relationships/notesSlide" Target="/ppt/notesSlides/notesSlide11.xml" Id="R25e22c938f9a43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b08fffe4ff04cb8" /><Relationship Type="http://schemas.openxmlformats.org/officeDocument/2006/relationships/notesSlide" Target="/ppt/notesSlides/notesSlide12.xml" Id="R5e8d620933d049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69d50b89834a51" /><Relationship Type="http://schemas.openxmlformats.org/officeDocument/2006/relationships/notesSlide" Target="/ppt/notesSlides/notesSlide13.xml" Id="R4c071f56b2414d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c08c92857d4fe6" /><Relationship Type="http://schemas.openxmlformats.org/officeDocument/2006/relationships/notesSlide" Target="/ppt/notesSlides/notesSlide14.xml" Id="R8e098a12fb6348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ec07647b4584249" /><Relationship Type="http://schemas.openxmlformats.org/officeDocument/2006/relationships/notesSlide" Target="/ppt/notesSlides/notesSlide15.xml" Id="R37d728ad625a4f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9b53a07a0864963" /><Relationship Type="http://schemas.openxmlformats.org/officeDocument/2006/relationships/notesSlide" Target="/ppt/notesSlides/notesSlide16.xml" Id="R0063aaa3f63543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699dada6e014a79" /><Relationship Type="http://schemas.openxmlformats.org/officeDocument/2006/relationships/notesSlide" Target="/ppt/notesSlides/notesSlide17.xml" Id="Re313a62ad37842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732562ad84446a" /><Relationship Type="http://schemas.openxmlformats.org/officeDocument/2006/relationships/notesSlide" Target="/ppt/notesSlides/notesSlide18.xml" Id="R5cced89a3a304ae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76490bdbbb440a" /><Relationship Type="http://schemas.openxmlformats.org/officeDocument/2006/relationships/notesSlide" Target="/ppt/notesSlides/notesSlide19.xml" Id="Rff868f8675df4a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b273d12445e46dd" /><Relationship Type="http://schemas.openxmlformats.org/officeDocument/2006/relationships/image" Target="/ppt/media/image.png" Id="Rabfe2545fcfd43a4" /><Relationship Type="http://schemas.openxmlformats.org/officeDocument/2006/relationships/notesSlide" Target="/ppt/notesSlides/notesSlide20.xml" Id="R062a461755b647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977d4e147f14c94" /><Relationship Type="http://schemas.openxmlformats.org/officeDocument/2006/relationships/image" Target="/ppt/media/image2.png" Id="R277e2177eced4326" /><Relationship Type="http://schemas.openxmlformats.org/officeDocument/2006/relationships/notesSlide" Target="/ppt/notesSlides/notesSlide21.xml" Id="R90a4afa1aac048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66a262141d041b4" /><Relationship Type="http://schemas.openxmlformats.org/officeDocument/2006/relationships/image" Target="/ppt/media/image3.png" Id="R0a6af42e321042f3" /><Relationship Type="http://schemas.openxmlformats.org/officeDocument/2006/relationships/notesSlide" Target="/ppt/notesSlides/notesSlide22.xml" Id="R9e6b4a786d2648fd" /></Relationships>
</file>

<file path=ppt/slides/slide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C452FE-7E00-4FB7-B67B-75E38559D22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USAMIS</a:t>
            </a:r>
          </a:p>
        </p:txBody>
      </p:sp>
      <p:sp>
        <p:nvSpPr>
          <p:cNvPr id="2" name="">
            <a:extLst xmlns:a="http://schemas.openxmlformats.org/drawingml/2006/main">
              <a:ext uri="{FF2B5EF4-FFF2-40B4-BE49-F238E27FC236}">
                <a16:creationId xmlns:a16="http://schemas.microsoft.com/office/drawing/2014/main" id="{AB6A73B0-D9BD-43EA-A914-E9412BB36785}"/>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a:t>
            </a:r>
          </a:p>
        </p:txBody>
      </p:sp>
      <p:sp>
        <p:nvSpPr>
          <p:cNvPr id="3" name="">
            <a:extLst xmlns:a="http://schemas.openxmlformats.org/drawingml/2006/main">
              <a:ext uri="{FF2B5EF4-FFF2-40B4-BE49-F238E27FC236}">
                <a16:creationId xmlns:a16="http://schemas.microsoft.com/office/drawing/2014/main" id="{F5C7B22F-506A-4288-A89B-FE922F56AC2B}"/>
              </a:ext>
            </a:extLst>
          </p:cNvPr>
          <p:cNvSpPr>
            <a:spLocks xmlns:a="http://schemas.openxmlformats.org/drawingml/2006/main" noGrp="1"/>
          </p:cNvSpPr>
          <p:nvPr/>
        </p:nvSpPr>
        <p:spPr>
          <a:xfrm xmlns:a="http://schemas.openxmlformats.org/drawingml/2006/main">
            <a:off x="762000" y="1857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62D44"/>
                </a:solidFill>
                <a:latin typeface="Arial"/>
                <a:ea typeface="Arial"/>
                <a:cs typeface="Arial"/>
              </a:defRPr>
            </a:defPPr>
            <a:lvl1pPr>
              <a:defRPr sz="4050" b="1">
                <a:solidFill>
                  <a:srgbClr val="162D44"/>
                </a:solidFill>
                <a:latin typeface="Arial"/>
                <a:ea typeface="Arial"/>
                <a:cs typeface="Arial"/>
              </a:defRPr>
            </a:lvl1pPr>
            <a:lvl2pPr>
              <a:defRPr sz="4050" b="1">
                <a:solidFill>
                  <a:srgbClr val="162D44"/>
                </a:solidFill>
                <a:latin typeface="Arial"/>
                <a:ea typeface="Arial"/>
                <a:cs typeface="Arial"/>
              </a:defRPr>
            </a:lvl2pPr>
            <a:lvl3pPr>
              <a:defRPr sz="4050" b="1">
                <a:solidFill>
                  <a:srgbClr val="162D44"/>
                </a:solidFill>
                <a:latin typeface="Arial"/>
                <a:ea typeface="Arial"/>
                <a:cs typeface="Arial"/>
              </a:defRPr>
            </a:lvl3pPr>
            <a:lvl4pPr>
              <a:defRPr sz="4050" b="1">
                <a:solidFill>
                  <a:srgbClr val="162D44"/>
                </a:solidFill>
                <a:latin typeface="Arial"/>
                <a:ea typeface="Arial"/>
                <a:cs typeface="Arial"/>
              </a:defRPr>
            </a:lvl4pPr>
            <a:lvl5pPr>
              <a:defRPr sz="4050" b="1">
                <a:solidFill>
                  <a:srgbClr val="162D44"/>
                </a:solidFill>
                <a:latin typeface="Arial"/>
                <a:ea typeface="Arial"/>
                <a:cs typeface="Arial"/>
              </a:defRPr>
            </a:lvl5pPr>
            <a:lvl6pPr>
              <a:defRPr sz="4050" b="1">
                <a:solidFill>
                  <a:srgbClr val="162D44"/>
                </a:solidFill>
                <a:latin typeface="Arial"/>
                <a:ea typeface="Arial"/>
                <a:cs typeface="Arial"/>
              </a:defRPr>
            </a:lvl6pPr>
            <a:lvl7pPr>
              <a:defRPr sz="4050" b="1">
                <a:solidFill>
                  <a:srgbClr val="162D44"/>
                </a:solidFill>
                <a:latin typeface="Arial"/>
                <a:ea typeface="Arial"/>
                <a:cs typeface="Arial"/>
              </a:defRPr>
            </a:lvl7pPr>
            <a:lvl8pPr>
              <a:defRPr sz="4050" b="1">
                <a:solidFill>
                  <a:srgbClr val="162D44"/>
                </a:solidFill>
                <a:latin typeface="Arial"/>
                <a:ea typeface="Arial"/>
                <a:cs typeface="Arial"/>
              </a:defRPr>
            </a:lvl8pPr>
            <a:lvl9pPr>
              <a:defRPr sz="4050" b="1">
                <a:solidFill>
                  <a:srgbClr val="162D44"/>
                </a:solidFill>
                <a:latin typeface="Arial"/>
                <a:ea typeface="Arial"/>
                <a:cs typeface="Arial"/>
              </a:defRPr>
            </a:lvl9pPr>
          </a:lstStyle>
          <a:p xmlns:a="http://schemas.openxmlformats.org/drawingml/2006/main">
            <a:pPr>
              <a:defRPr sz="4050" b="1">
                <a:solidFill>
                  <a:srgbClr val="162D44"/>
                </a:solidFill>
                <a:latin typeface="Arial"/>
                <a:ea typeface="Arial"/>
                <a:cs typeface="Arial"/>
              </a:defRPr>
            </a:pPr>
            <a:r>
              <a:rPr sz="4050" b="1">
                <a:solidFill>
                  <a:srgbClr val="162D44"/>
                </a:solidFill>
                <a:latin typeface="Arial"/>
                <a:ea typeface="Arial"/>
                <a:cs typeface="Arial"/>
              </a:rPr>
              <a:t>Four-layer academic management</a:t>
            </a:r>
          </a:p>
        </p:txBody>
      </p:sp>
      <p:sp>
        <p:nvSpPr>
          <p:cNvPr id="4" name="">
            <a:extLst xmlns:a="http://schemas.openxmlformats.org/drawingml/2006/main">
              <a:ext uri="{FF2B5EF4-FFF2-40B4-BE49-F238E27FC236}">
                <a16:creationId xmlns:a16="http://schemas.microsoft.com/office/drawing/2014/main" id="{F7D54578-D64C-41A7-A8CE-80BB99025C2B}"/>
              </a:ext>
            </a:extLst>
          </p:cNvPr>
          <p:cNvSpPr>
            <a:spLocks xmlns:a="http://schemas.openxmlformats.org/drawingml/2006/main" noGrp="1"/>
          </p:cNvSpPr>
          <p:nvPr/>
        </p:nvSpPr>
        <p:spPr>
          <a:xfrm xmlns:a="http://schemas.openxmlformats.org/drawingml/2006/main">
            <a:off x="762000" y="3095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87F83"/>
                </a:solidFill>
                <a:latin typeface="Arial"/>
                <a:ea typeface="Arial"/>
                <a:cs typeface="Arial"/>
              </a:defRPr>
            </a:defPPr>
            <a:lvl1pPr>
              <a:defRPr sz="2550" b="0">
                <a:solidFill>
                  <a:srgbClr val="087F83"/>
                </a:solidFill>
                <a:latin typeface="Arial"/>
                <a:ea typeface="Arial"/>
                <a:cs typeface="Arial"/>
              </a:defRPr>
            </a:lvl1pPr>
            <a:lvl2pPr>
              <a:defRPr sz="2550" b="0">
                <a:solidFill>
                  <a:srgbClr val="087F83"/>
                </a:solidFill>
                <a:latin typeface="Arial"/>
                <a:ea typeface="Arial"/>
                <a:cs typeface="Arial"/>
              </a:defRPr>
            </a:lvl2pPr>
            <a:lvl3pPr>
              <a:defRPr sz="2550" b="0">
                <a:solidFill>
                  <a:srgbClr val="087F83"/>
                </a:solidFill>
                <a:latin typeface="Arial"/>
                <a:ea typeface="Arial"/>
                <a:cs typeface="Arial"/>
              </a:defRPr>
            </a:lvl3pPr>
            <a:lvl4pPr>
              <a:defRPr sz="2550" b="0">
                <a:solidFill>
                  <a:srgbClr val="087F83"/>
                </a:solidFill>
                <a:latin typeface="Arial"/>
                <a:ea typeface="Arial"/>
                <a:cs typeface="Arial"/>
              </a:defRPr>
            </a:lvl4pPr>
            <a:lvl5pPr>
              <a:defRPr sz="2550" b="0">
                <a:solidFill>
                  <a:srgbClr val="087F83"/>
                </a:solidFill>
                <a:latin typeface="Arial"/>
                <a:ea typeface="Arial"/>
                <a:cs typeface="Arial"/>
              </a:defRPr>
            </a:lvl5pPr>
            <a:lvl6pPr>
              <a:defRPr sz="2550" b="0">
                <a:solidFill>
                  <a:srgbClr val="087F83"/>
                </a:solidFill>
                <a:latin typeface="Arial"/>
                <a:ea typeface="Arial"/>
                <a:cs typeface="Arial"/>
              </a:defRPr>
            </a:lvl6pPr>
            <a:lvl7pPr>
              <a:defRPr sz="2550" b="0">
                <a:solidFill>
                  <a:srgbClr val="087F83"/>
                </a:solidFill>
                <a:latin typeface="Arial"/>
                <a:ea typeface="Arial"/>
                <a:cs typeface="Arial"/>
              </a:defRPr>
            </a:lvl7pPr>
            <a:lvl8pPr>
              <a:defRPr sz="2550" b="0">
                <a:solidFill>
                  <a:srgbClr val="087F83"/>
                </a:solidFill>
                <a:latin typeface="Arial"/>
                <a:ea typeface="Arial"/>
                <a:cs typeface="Arial"/>
              </a:defRPr>
            </a:lvl8pPr>
            <a:lvl9pPr>
              <a:defRPr sz="2550" b="0">
                <a:solidFill>
                  <a:srgbClr val="087F83"/>
                </a:solidFill>
                <a:latin typeface="Arial"/>
                <a:ea typeface="Arial"/>
                <a:cs typeface="Arial"/>
              </a:defRPr>
            </a:lvl9pPr>
          </a:lstStyle>
          <a:p xmlns:a="http://schemas.openxmlformats.org/drawingml/2006/main">
            <a:pPr>
              <a:defRPr sz="2550" b="0">
                <a:solidFill>
                  <a:srgbClr val="087F83"/>
                </a:solidFill>
                <a:latin typeface="Arial"/>
                <a:ea typeface="Arial"/>
                <a:cs typeface="Arial"/>
              </a:defRPr>
            </a:pPr>
            <a:r>
              <a:rPr sz="2550" b="0">
                <a:solidFill>
                  <a:srgbClr val="087F83"/>
                </a:solidFill>
                <a:latin typeface="Arial"/>
                <a:ea typeface="Arial"/>
                <a:cs typeface="Arial"/>
              </a:rPr>
              <a:t>OpenCV QR attendance and early academic-risk modelling</a:t>
            </a:r>
          </a:p>
        </p:txBody>
      </p:sp>
      <p:sp>
        <p:nvSpPr>
          <p:cNvPr id="5" name="">
            <a:extLst xmlns:a="http://schemas.openxmlformats.org/drawingml/2006/main">
              <a:ext uri="{FF2B5EF4-FFF2-40B4-BE49-F238E27FC236}">
                <a16:creationId xmlns:a16="http://schemas.microsoft.com/office/drawing/2014/main" id="{B486F711-1D25-4A26-B2B7-52154AF273EF}"/>
              </a:ext>
            </a:extLst>
          </p:cNvPr>
          <p:cNvSpPr>
            <a:spLocks xmlns:a="http://schemas.openxmlformats.org/drawingml/2006/main" noGrp="1"/>
          </p:cNvSpPr>
          <p:nvPr/>
        </p:nvSpPr>
        <p:spPr>
          <a:xfrm xmlns:a="http://schemas.openxmlformats.org/drawingml/2006/main">
            <a:off x="762000" y="4810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Yaseen Hussain   •   2422486012</a:t>
            </a:r>
          </a:p>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Jinling Institute of Technology</a:t>
            </a:r>
          </a:p>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30 October 2026</a:t>
            </a:r>
          </a:p>
        </p:txBody>
      </p:sp>
    </p:spTree>
    <p:extLst>
      <p:ext uri="{BB962C8B-B14F-4D97-AF65-F5344CB8AC3E}">
        <p14:creationId xmlns:p14="http://schemas.microsoft.com/office/powerpoint/2010/main" val="969625357"/>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B2200A-7A08-42D8-8457-0F4F7F34371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Project purpose and scope</a:t>
            </a:r>
          </a:p>
        </p:txBody>
      </p:sp>
      <p:sp>
        <p:nvSpPr>
          <p:cNvPr id="2" name="">
            <a:extLst xmlns:a="http://schemas.openxmlformats.org/drawingml/2006/main">
              <a:ext uri="{FF2B5EF4-FFF2-40B4-BE49-F238E27FC236}">
                <a16:creationId xmlns:a16="http://schemas.microsoft.com/office/drawing/2014/main" id="{03851C8D-3A43-49B8-A277-5A28B96AC76D}"/>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2</a:t>
            </a:r>
          </a:p>
        </p:txBody>
      </p:sp>
      <p:sp>
        <p:nvSpPr>
          <p:cNvPr id="3" name="">
            <a:extLst xmlns:a="http://schemas.openxmlformats.org/drawingml/2006/main">
              <a:ext uri="{FF2B5EF4-FFF2-40B4-BE49-F238E27FC236}">
                <a16:creationId xmlns:a16="http://schemas.microsoft.com/office/drawing/2014/main" id="{C84BF962-AC42-4648-B0CE-33267BF52B31}"/>
              </a:ext>
            </a:extLst>
          </p:cNvPr>
          <p:cNvSpPr>
            <a:spLocks xmlns:a="http://schemas.openxmlformats.org/drawingml/2006/main" noGrp="1"/>
          </p:cNvSpPr>
          <p:nvPr/>
        </p:nvSpPr>
        <p:spPr>
          <a:xfrm xmlns:a="http://schemas.openxmlformats.org/drawingml/2006/main">
            <a:off x="762000" y="1476375"/>
            <a:ext cx="1062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Centralize student records, enrollment, grades, attendance and fees.</a:t>
            </a:r>
          </a:p>
        </p:txBody>
      </p:sp>
      <p:sp>
        <p:nvSpPr>
          <p:cNvPr id="4" name="">
            <a:extLst xmlns:a="http://schemas.openxmlformats.org/drawingml/2006/main">
              <a:ext uri="{FF2B5EF4-FFF2-40B4-BE49-F238E27FC236}">
                <a16:creationId xmlns:a16="http://schemas.microsoft.com/office/drawing/2014/main" id="{ECBF48A9-EC00-40DF-A243-06907108FC72}"/>
              </a:ext>
            </a:extLst>
          </p:cNvPr>
          <p:cNvSpPr>
            <a:spLocks xmlns:a="http://schemas.openxmlformats.org/drawingml/2006/main" noGrp="1"/>
          </p:cNvSpPr>
          <p:nvPr/>
        </p:nvSpPr>
        <p:spPr>
          <a:xfrm xmlns:a="http://schemas.openxmlformats.org/drawingml/2006/main">
            <a:off x="762000" y="2524125"/>
            <a:ext cx="1062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Give each role the permissions and records needed for its work.</a:t>
            </a:r>
          </a:p>
        </p:txBody>
      </p:sp>
      <p:sp>
        <p:nvSpPr>
          <p:cNvPr id="5" name="">
            <a:extLst xmlns:a="http://schemas.openxmlformats.org/drawingml/2006/main">
              <a:ext uri="{FF2B5EF4-FFF2-40B4-BE49-F238E27FC236}">
                <a16:creationId xmlns:a16="http://schemas.microsoft.com/office/drawing/2014/main" id="{7C029550-D45E-4698-B450-681EA3D22791}"/>
              </a:ext>
            </a:extLst>
          </p:cNvPr>
          <p:cNvSpPr>
            <a:spLocks xmlns:a="http://schemas.openxmlformats.org/drawingml/2006/main" noGrp="1"/>
          </p:cNvSpPr>
          <p:nvPr/>
        </p:nvSpPr>
        <p:spPr>
          <a:xfrm xmlns:a="http://schemas.openxmlformats.org/drawingml/2006/main">
            <a:off x="762000" y="3571875"/>
            <a:ext cx="1062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Make attendance capture visible and demonstrate a trained neural network.</a:t>
            </a:r>
          </a:p>
        </p:txBody>
      </p:sp>
      <p:sp>
        <p:nvSpPr>
          <p:cNvPr id="6" name="">
            <a:extLst xmlns:a="http://schemas.openxmlformats.org/drawingml/2006/main">
              <a:ext uri="{FF2B5EF4-FFF2-40B4-BE49-F238E27FC236}">
                <a16:creationId xmlns:a16="http://schemas.microsoft.com/office/drawing/2014/main" id="{8DA3EAD4-C3A9-42F3-AAC4-9C1500F5E65B}"/>
              </a:ext>
            </a:extLst>
          </p:cNvPr>
          <p:cNvSpPr>
            <a:spLocks xmlns:a="http://schemas.openxmlformats.org/drawingml/2006/main" noGrp="1"/>
          </p:cNvSpPr>
          <p:nvPr/>
        </p:nvSpPr>
        <p:spPr>
          <a:xfrm xmlns:a="http://schemas.openxmlformats.org/drawingml/2006/main">
            <a:off x="762000" y="4619625"/>
            <a:ext cx="1062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Keep official academic decisions governed by rules and staff review.</a:t>
            </a:r>
          </a:p>
        </p:txBody>
      </p:sp>
    </p:spTree>
    <p:extLst>
      <p:ext uri="{BB962C8B-B14F-4D97-AF65-F5344CB8AC3E}">
        <p14:creationId xmlns:p14="http://schemas.microsoft.com/office/powerpoint/2010/main" val="1696246516"/>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8186B3-8FFD-4FCE-9E13-3970BD359CC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Four logical software layers</a:t>
            </a:r>
          </a:p>
        </p:txBody>
      </p:sp>
      <p:sp>
        <p:nvSpPr>
          <p:cNvPr id="2" name="">
            <a:extLst xmlns:a="http://schemas.openxmlformats.org/drawingml/2006/main">
              <a:ext uri="{FF2B5EF4-FFF2-40B4-BE49-F238E27FC236}">
                <a16:creationId xmlns:a16="http://schemas.microsoft.com/office/drawing/2014/main" id="{9790E60D-92A5-4710-8357-B77AB047133E}"/>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3</a:t>
            </a:r>
          </a:p>
        </p:txBody>
      </p:sp>
      <p:sp>
        <p:nvSpPr>
          <p:cNvPr id="3" name="">
            <a:extLst xmlns:a="http://schemas.openxmlformats.org/drawingml/2006/main">
              <a:ext uri="{FF2B5EF4-FFF2-40B4-BE49-F238E27FC236}">
                <a16:creationId xmlns:a16="http://schemas.microsoft.com/office/drawing/2014/main" id="{59FA960B-83E9-4539-A8CD-F468A86DE451}"/>
              </a:ext>
            </a:extLst>
          </p:cNvPr>
          <p:cNvSpPr>
            <a:spLocks xmlns:a="http://schemas.openxmlformats.org/drawingml/2006/main" noGrp="1"/>
          </p:cNvSpPr>
          <p:nvPr/>
        </p:nvSpPr>
        <p:spPr>
          <a:xfrm xmlns:a="http://schemas.openxmlformats.org/drawingml/2006/main">
            <a:off x="762000" y="1400175"/>
            <a:ext cx="10668000" cy="514350"/>
          </a:xfrm>
          <a:prstGeom xmlns:a="http://schemas.openxmlformats.org/drawingml/2006/main" prst="rect">
            <a:avLst/>
          </a:prstGeom>
          <a:solidFill xmlns:a="http://schemas.openxmlformats.org/drawingml/2006/main">
            <a:srgbClr val="162D44"/>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1  PRESENTATION</a:t>
            </a:r>
          </a:p>
        </p:txBody>
      </p:sp>
      <p:sp>
        <p:nvSpPr>
          <p:cNvPr id="4" name="">
            <a:extLst xmlns:a="http://schemas.openxmlformats.org/drawingml/2006/main">
              <a:ext uri="{FF2B5EF4-FFF2-40B4-BE49-F238E27FC236}">
                <a16:creationId xmlns:a16="http://schemas.microsoft.com/office/drawing/2014/main" id="{8665793B-ECAB-4DBD-B9F0-B953E8F2A031}"/>
              </a:ext>
            </a:extLst>
          </p:cNvPr>
          <p:cNvSpPr>
            <a:spLocks xmlns:a="http://schemas.openxmlformats.org/drawingml/2006/main" noGrp="1"/>
          </p:cNvSpPr>
          <p:nvPr/>
        </p:nvSpPr>
        <p:spPr>
          <a:xfrm xmlns:a="http://schemas.openxmlformats.org/drawingml/2006/main">
            <a:off x="933450" y="19716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Templates, forms, dashboards and QR upload</a:t>
            </a:r>
          </a:p>
        </p:txBody>
      </p:sp>
      <p:sp>
        <p:nvSpPr>
          <p:cNvPr id="5" name="">
            <a:extLst xmlns:a="http://schemas.openxmlformats.org/drawingml/2006/main">
              <a:ext uri="{FF2B5EF4-FFF2-40B4-BE49-F238E27FC236}">
                <a16:creationId xmlns:a16="http://schemas.microsoft.com/office/drawing/2014/main" id="{F61F3288-FFEF-40B4-9950-DFDC781271BD}"/>
              </a:ext>
            </a:extLst>
          </p:cNvPr>
          <p:cNvSpPr>
            <a:spLocks xmlns:a="http://schemas.openxmlformats.org/drawingml/2006/main" noGrp="1"/>
          </p:cNvSpPr>
          <p:nvPr/>
        </p:nvSpPr>
        <p:spPr>
          <a:xfrm xmlns:a="http://schemas.openxmlformats.org/drawingml/2006/main">
            <a:off x="762000" y="2543175"/>
            <a:ext cx="10668000" cy="514350"/>
          </a:xfrm>
          <a:prstGeom xmlns:a="http://schemas.openxmlformats.org/drawingml/2006/main" prst="rect">
            <a:avLst/>
          </a:prstGeom>
          <a:solidFill xmlns:a="http://schemas.openxmlformats.org/drawingml/2006/main">
            <a:srgbClr val="162D44"/>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2  APPLICATION</a:t>
            </a:r>
          </a:p>
        </p:txBody>
      </p:sp>
      <p:sp>
        <p:nvSpPr>
          <p:cNvPr id="6" name="">
            <a:extLst xmlns:a="http://schemas.openxmlformats.org/drawingml/2006/main">
              <a:ext uri="{FF2B5EF4-FFF2-40B4-BE49-F238E27FC236}">
                <a16:creationId xmlns:a16="http://schemas.microsoft.com/office/drawing/2014/main" id="{2C983812-D9D4-4F73-9989-42F6990AA2D2}"/>
              </a:ext>
            </a:extLst>
          </p:cNvPr>
          <p:cNvSpPr>
            <a:spLocks xmlns:a="http://schemas.openxmlformats.org/drawingml/2006/main" noGrp="1"/>
          </p:cNvSpPr>
          <p:nvPr/>
        </p:nvSpPr>
        <p:spPr>
          <a:xfrm xmlns:a="http://schemas.openxmlformats.org/drawingml/2006/main">
            <a:off x="933450" y="31146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Flask routes, authentication, permissions and HTTP</a:t>
            </a:r>
          </a:p>
        </p:txBody>
      </p:sp>
      <p:sp>
        <p:nvSpPr>
          <p:cNvPr id="7" name="">
            <a:extLst xmlns:a="http://schemas.openxmlformats.org/drawingml/2006/main">
              <a:ext uri="{FF2B5EF4-FFF2-40B4-BE49-F238E27FC236}">
                <a16:creationId xmlns:a16="http://schemas.microsoft.com/office/drawing/2014/main" id="{19A77683-CCA0-4B7F-9977-9E96080CB7E9}"/>
              </a:ext>
            </a:extLst>
          </p:cNvPr>
          <p:cNvSpPr>
            <a:spLocks xmlns:a="http://schemas.openxmlformats.org/drawingml/2006/main" noGrp="1"/>
          </p:cNvSpPr>
          <p:nvPr/>
        </p:nvSpPr>
        <p:spPr>
          <a:xfrm xmlns:a="http://schemas.openxmlformats.org/drawingml/2006/main">
            <a:off x="762000" y="3686175"/>
            <a:ext cx="10668000" cy="514350"/>
          </a:xfrm>
          <a:prstGeom xmlns:a="http://schemas.openxmlformats.org/drawingml/2006/main" prst="rect">
            <a:avLst/>
          </a:prstGeom>
          <a:solidFill xmlns:a="http://schemas.openxmlformats.org/drawingml/2006/main">
            <a:srgbClr val="087F83"/>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3  ACADEMIC PROCESSING AND ALGORITHMS</a:t>
            </a:r>
          </a:p>
        </p:txBody>
      </p:sp>
      <p:sp>
        <p:nvSpPr>
          <p:cNvPr id="8" name="">
            <a:extLst xmlns:a="http://schemas.openxmlformats.org/drawingml/2006/main">
              <a:ext uri="{FF2B5EF4-FFF2-40B4-BE49-F238E27FC236}">
                <a16:creationId xmlns:a16="http://schemas.microsoft.com/office/drawing/2014/main" id="{F584EFEC-5C65-4B06-A43A-7F139D8F8D5F}"/>
              </a:ext>
            </a:extLst>
          </p:cNvPr>
          <p:cNvSpPr>
            <a:spLocks xmlns:a="http://schemas.openxmlformats.org/drawingml/2006/main" noGrp="1"/>
          </p:cNvSpPr>
          <p:nvPr/>
        </p:nvSpPr>
        <p:spPr>
          <a:xfrm xmlns:a="http://schemas.openxmlformats.org/drawingml/2006/main">
            <a:off x="933450" y="42576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Academic rules, OpenCV decoding and neural modelling</a:t>
            </a:r>
          </a:p>
        </p:txBody>
      </p:sp>
      <p:sp>
        <p:nvSpPr>
          <p:cNvPr id="9" name="">
            <a:extLst xmlns:a="http://schemas.openxmlformats.org/drawingml/2006/main">
              <a:ext uri="{FF2B5EF4-FFF2-40B4-BE49-F238E27FC236}">
                <a16:creationId xmlns:a16="http://schemas.microsoft.com/office/drawing/2014/main" id="{940E456E-F8A9-4866-90D4-3CC358CDB1A7}"/>
              </a:ext>
            </a:extLst>
          </p:cNvPr>
          <p:cNvSpPr>
            <a:spLocks xmlns:a="http://schemas.openxmlformats.org/drawingml/2006/main" noGrp="1"/>
          </p:cNvSpPr>
          <p:nvPr/>
        </p:nvSpPr>
        <p:spPr>
          <a:xfrm xmlns:a="http://schemas.openxmlformats.org/drawingml/2006/main">
            <a:off x="762000" y="4829175"/>
            <a:ext cx="10668000" cy="514350"/>
          </a:xfrm>
          <a:prstGeom xmlns:a="http://schemas.openxmlformats.org/drawingml/2006/main" prst="rect">
            <a:avLst/>
          </a:prstGeom>
          <a:solidFill xmlns:a="http://schemas.openxmlformats.org/drawingml/2006/main">
            <a:srgbClr val="162D44"/>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4  DATA</a:t>
            </a:r>
          </a:p>
        </p:txBody>
      </p:sp>
      <p:sp>
        <p:nvSpPr>
          <p:cNvPr id="10" name="">
            <a:extLst xmlns:a="http://schemas.openxmlformats.org/drawingml/2006/main">
              <a:ext uri="{FF2B5EF4-FFF2-40B4-BE49-F238E27FC236}">
                <a16:creationId xmlns:a16="http://schemas.microsoft.com/office/drawing/2014/main" id="{F5C864CF-C4C2-41DA-AF64-680C709A8337}"/>
              </a:ext>
            </a:extLst>
          </p:cNvPr>
          <p:cNvSpPr>
            <a:spLocks xmlns:a="http://schemas.openxmlformats.org/drawingml/2006/main" noGrp="1"/>
          </p:cNvSpPr>
          <p:nvPr/>
        </p:nvSpPr>
        <p:spPr>
          <a:xfrm xmlns:a="http://schemas.openxmlformats.org/drawingml/2006/main">
            <a:off x="933450" y="54006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SQLAlchemy, repositories, PostgreSQL and model artifacts</a:t>
            </a:r>
          </a:p>
        </p:txBody>
      </p:sp>
    </p:spTree>
    <p:extLst>
      <p:ext uri="{BB962C8B-B14F-4D97-AF65-F5344CB8AC3E}">
        <p14:creationId xmlns:p14="http://schemas.microsoft.com/office/powerpoint/2010/main" val="1512007948"/>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ECE0AA-C1F4-4452-9429-DAE19408D69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Layer 1: Presentation</a:t>
            </a:r>
          </a:p>
        </p:txBody>
      </p:sp>
      <p:sp>
        <p:nvSpPr>
          <p:cNvPr id="2" name="">
            <a:extLst xmlns:a="http://schemas.openxmlformats.org/drawingml/2006/main">
              <a:ext uri="{FF2B5EF4-FFF2-40B4-BE49-F238E27FC236}">
                <a16:creationId xmlns:a16="http://schemas.microsoft.com/office/drawing/2014/main" id="{F03CCA91-8F86-45AA-BC38-630ADE74F8CF}"/>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4</a:t>
            </a:r>
          </a:p>
        </p:txBody>
      </p:sp>
      <p:sp>
        <p:nvSpPr>
          <p:cNvPr id="3" name="">
            <a:extLst xmlns:a="http://schemas.openxmlformats.org/drawingml/2006/main">
              <a:ext uri="{FF2B5EF4-FFF2-40B4-BE49-F238E27FC236}">
                <a16:creationId xmlns:a16="http://schemas.microsoft.com/office/drawing/2014/main" id="{503DD9A8-25E5-416C-A64A-353B76CCCB15}"/>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Purpose: collect user input and explain the returned result.</a:t>
            </a:r>
          </a:p>
        </p:txBody>
      </p:sp>
      <p:sp>
        <p:nvSpPr>
          <p:cNvPr id="4" name="">
            <a:extLst xmlns:a="http://schemas.openxmlformats.org/drawingml/2006/main">
              <a:ext uri="{FF2B5EF4-FFF2-40B4-BE49-F238E27FC236}">
                <a16:creationId xmlns:a16="http://schemas.microsoft.com/office/drawing/2014/main" id="{6AB50898-AC77-43B4-B776-E546D8BC4598}"/>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Screens: login, academic pages, QR scanner and model comparison.</a:t>
            </a:r>
          </a:p>
        </p:txBody>
      </p:sp>
      <p:sp>
        <p:nvSpPr>
          <p:cNvPr id="5" name="">
            <a:extLst xmlns:a="http://schemas.openxmlformats.org/drawingml/2006/main">
              <a:ext uri="{FF2B5EF4-FFF2-40B4-BE49-F238E27FC236}">
                <a16:creationId xmlns:a16="http://schemas.microsoft.com/office/drawing/2014/main" id="{6E6AE822-193D-4AEA-8369-DBB43052D9D4}"/>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Input: forms or QR image. Output: confirmation, records or model score.</a:t>
            </a:r>
          </a:p>
        </p:txBody>
      </p:sp>
      <p:sp>
        <p:nvSpPr>
          <p:cNvPr id="6" name="">
            <a:extLst xmlns:a="http://schemas.openxmlformats.org/drawingml/2006/main">
              <a:ext uri="{FF2B5EF4-FFF2-40B4-BE49-F238E27FC236}">
                <a16:creationId xmlns:a16="http://schemas.microsoft.com/office/drawing/2014/main" id="{55ABC95E-153D-45B1-9B61-0F3F2F8169E2}"/>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Code: app/templates/ and app/static/.</a:t>
            </a:r>
          </a:p>
        </p:txBody>
      </p:sp>
      <p:sp>
        <p:nvSpPr>
          <p:cNvPr id="7" name="">
            <a:extLst xmlns:a="http://schemas.openxmlformats.org/drawingml/2006/main">
              <a:ext uri="{FF2B5EF4-FFF2-40B4-BE49-F238E27FC236}">
                <a16:creationId xmlns:a16="http://schemas.microsoft.com/office/drawing/2014/main" id="{8BE00B2F-D42C-4217-8D5F-AF4154396B3C}"/>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Independent check: every Jinja template parses without a running server.</a:t>
            </a:r>
          </a:p>
        </p:txBody>
      </p:sp>
    </p:spTree>
    <p:extLst>
      <p:ext uri="{BB962C8B-B14F-4D97-AF65-F5344CB8AC3E}">
        <p14:creationId xmlns:p14="http://schemas.microsoft.com/office/powerpoint/2010/main" val="1698489267"/>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51210C-A914-41E0-B511-805EDCD541F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Layer 2: Application</a:t>
            </a:r>
          </a:p>
        </p:txBody>
      </p:sp>
      <p:sp>
        <p:nvSpPr>
          <p:cNvPr id="2" name="">
            <a:extLst xmlns:a="http://schemas.openxmlformats.org/drawingml/2006/main">
              <a:ext uri="{FF2B5EF4-FFF2-40B4-BE49-F238E27FC236}">
                <a16:creationId xmlns:a16="http://schemas.microsoft.com/office/drawing/2014/main" id="{FC7D8180-5830-47E0-BDA8-ED8EF9D8FCFB}"/>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5</a:t>
            </a:r>
          </a:p>
        </p:txBody>
      </p:sp>
      <p:sp>
        <p:nvSpPr>
          <p:cNvPr id="3" name="">
            <a:extLst xmlns:a="http://schemas.openxmlformats.org/drawingml/2006/main">
              <a:ext uri="{FF2B5EF4-FFF2-40B4-BE49-F238E27FC236}">
                <a16:creationId xmlns:a16="http://schemas.microsoft.com/office/drawing/2014/main" id="{7CB3014E-D79E-4AA3-86F6-296BB2B3DC85}"/>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Purpose: receive requests and control who may perform an action.</a:t>
            </a:r>
          </a:p>
        </p:txBody>
      </p:sp>
      <p:sp>
        <p:nvSpPr>
          <p:cNvPr id="4" name="">
            <a:extLst xmlns:a="http://schemas.openxmlformats.org/drawingml/2006/main">
              <a:ext uri="{FF2B5EF4-FFF2-40B4-BE49-F238E27FC236}">
                <a16:creationId xmlns:a16="http://schemas.microsoft.com/office/drawing/2014/main" id="{7F6685DC-922F-404A-8E63-808A0669F64D}"/>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Flask routes check authentication, role permissions and CSRF.</a:t>
            </a:r>
          </a:p>
        </p:txBody>
      </p:sp>
      <p:sp>
        <p:nvSpPr>
          <p:cNvPr id="5" name="">
            <a:extLst xmlns:a="http://schemas.openxmlformats.org/drawingml/2006/main">
              <a:ext uri="{FF2B5EF4-FFF2-40B4-BE49-F238E27FC236}">
                <a16:creationId xmlns:a16="http://schemas.microsoft.com/office/drawing/2014/main" id="{586DA160-6EA3-41DB-B041-D1C89FE5C460}"/>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The controller calls processing services and returns HTML or errors.</a:t>
            </a:r>
          </a:p>
        </p:txBody>
      </p:sp>
      <p:sp>
        <p:nvSpPr>
          <p:cNvPr id="6" name="">
            <a:extLst xmlns:a="http://schemas.openxmlformats.org/drawingml/2006/main">
              <a:ext uri="{FF2B5EF4-FFF2-40B4-BE49-F238E27FC236}">
                <a16:creationId xmlns:a16="http://schemas.microsoft.com/office/drawing/2014/main" id="{CDE5B558-FACD-45CD-9021-E56455768C8D}"/>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Code: feature blueprints, security decorators and neural_views.py.</a:t>
            </a:r>
          </a:p>
        </p:txBody>
      </p:sp>
      <p:sp>
        <p:nvSpPr>
          <p:cNvPr id="7" name="">
            <a:extLst xmlns:a="http://schemas.openxmlformats.org/drawingml/2006/main">
              <a:ext uri="{FF2B5EF4-FFF2-40B4-BE49-F238E27FC236}">
                <a16:creationId xmlns:a16="http://schemas.microsoft.com/office/drawing/2014/main" id="{9809CC9B-FBD9-4BA6-ABBE-1321F085093F}"/>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Independent check: HTTP success, denied access and invalid-input tests.</a:t>
            </a:r>
          </a:p>
        </p:txBody>
      </p:sp>
    </p:spTree>
    <p:extLst>
      <p:ext uri="{BB962C8B-B14F-4D97-AF65-F5344CB8AC3E}">
        <p14:creationId xmlns:p14="http://schemas.microsoft.com/office/powerpoint/2010/main" val="508287042"/>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6333391-0008-478E-820F-6CB2051D6D6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Layer 3: Academic Processing and Algorithms</a:t>
            </a:r>
          </a:p>
        </p:txBody>
      </p:sp>
      <p:sp>
        <p:nvSpPr>
          <p:cNvPr id="2" name="">
            <a:extLst xmlns:a="http://schemas.openxmlformats.org/drawingml/2006/main">
              <a:ext uri="{FF2B5EF4-FFF2-40B4-BE49-F238E27FC236}">
                <a16:creationId xmlns:a16="http://schemas.microsoft.com/office/drawing/2014/main" id="{67F018A9-847A-4D49-BF77-C1C16DD327D4}"/>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6</a:t>
            </a:r>
          </a:p>
        </p:txBody>
      </p:sp>
      <p:graphicFrame>
        <p:nvGraphicFramePr>
          <p:cNvPr id="3" name="">
            <a:extLst xmlns:a="http://schemas.openxmlformats.org/drawingml/2006/main">
              <a:ext uri="{FF2B5EF4-FFF2-40B4-BE49-F238E27FC236}">
                <a16:creationId xmlns:a16="http://schemas.microsoft.com/office/drawing/2014/main" id="{ECE66412-B070-4C5B-B7DE-73B32CA48D29}"/>
              </a:ext>
            </a:extLst>
          </p:cNvPr>
          <p:cNvGraphicFramePr/>
          <p:nvPr/>
        </p:nvGraphicFramePr>
        <p:xfrm>
          <a:off xmlns:a="http://schemas.openxmlformats.org/drawingml/2006/main" x="609600" y="1409700"/>
          <a:ext xmlns:a="http://schemas.openxmlformats.org/drawingml/2006/main" cx="10972800" cy="4286250"/>
        </p:xfrm>
        <a:graphic xmlns:a="http://schemas.openxmlformats.org/drawingml/2006/main">
          <a:graphicData uri="http://schemas.openxmlformats.org/drawingml/2006/table">
            <a:tbl>
              <a:tblPr/>
              <a:tblGrid>
                <a:gridCol w="2952750"/>
                <a:gridCol w="4857750"/>
                <a:gridCol w="3162300"/>
              </a:tblGrid>
              <a:tr h="612321">
                <a:tc>
                  <a:txBody>
                    <a:bodyPr/>
                    <a:lstStyle/>
                    <a:p>
                      <a:r>
                        <a:rPr sz="1725" b="1">
                          <a:solidFill>
                            <a:srgbClr val="FFFFFF"/>
                          </a:solidFill>
                          <a:latin typeface="Arial"/>
                          <a:ea typeface="Arial"/>
                          <a:cs typeface="Arial"/>
                        </a:rPr>
                        <a:t>Algorithm</a:t>
                      </a:r>
                    </a:p>
                  </a:txBody>
                  <a:tcPr marL="91440" marR="91440" marT="45720" marB="45720">
                    <a:solidFill>
                      <a:srgbClr val="162D44"/>
                    </a:solidFill>
                  </a:tcPr>
                </a:tc>
                <a:tc>
                  <a:txBody>
                    <a:bodyPr/>
                    <a:lstStyle/>
                    <a:p>
                      <a:r>
                        <a:rPr sz="1725" b="1">
                          <a:solidFill>
                            <a:srgbClr val="FFFFFF"/>
                          </a:solidFill>
                          <a:latin typeface="Arial"/>
                          <a:ea typeface="Arial"/>
                          <a:cs typeface="Arial"/>
                        </a:rPr>
                        <a:t>Academic purpose</a:t>
                      </a:r>
                    </a:p>
                  </a:txBody>
                  <a:tcPr marL="91440" marR="91440" marT="45720" marB="45720">
                    <a:solidFill>
                      <a:srgbClr val="162D44"/>
                    </a:solidFill>
                  </a:tcPr>
                </a:tc>
                <a:tc>
                  <a:txBody>
                    <a:bodyPr/>
                    <a:lstStyle/>
                    <a:p>
                      <a:r>
                        <a:rPr sz="1725" b="1">
                          <a:solidFill>
                            <a:srgbClr val="FFFFFF"/>
                          </a:solidFill>
                          <a:latin typeface="Arial"/>
                          <a:ea typeface="Arial"/>
                          <a:cs typeface="Arial"/>
                        </a:rPr>
                        <a:t>Type</a:t>
                      </a:r>
                    </a:p>
                  </a:txBody>
                  <a:tcPr marL="91440" marR="91440" marT="45720" marB="45720">
                    <a:solidFill>
                      <a:srgbClr val="162D44"/>
                    </a:solidFill>
                  </a:tcPr>
                </a:tc>
              </a:tr>
              <a:tr h="612321">
                <a:tc>
                  <a:txBody>
                    <a:bodyPr/>
                    <a:lstStyle/>
                    <a:p>
                      <a:r>
                        <a:rPr sz="1650" b="0">
                          <a:solidFill>
                            <a:srgbClr val="162D44"/>
                          </a:solidFill>
                          <a:latin typeface="Arial"/>
                          <a:ea typeface="Arial"/>
                          <a:cs typeface="Arial"/>
                        </a:rPr>
                        <a:t>Enrollment eligibility</a:t>
                      </a:r>
                    </a:p>
                  </a:txBody>
                  <a:tcPr marL="91440" marR="91440" marT="45720" marB="45720">
                    <a:solidFill>
                      <a:srgbClr val="FFFFFF"/>
                    </a:solidFill>
                  </a:tcPr>
                </a:tc>
                <a:tc>
                  <a:txBody>
                    <a:bodyPr/>
                    <a:lstStyle/>
                    <a:p>
                      <a:r>
                        <a:rPr sz="1650" b="0">
                          <a:solidFill>
                            <a:srgbClr val="162D44"/>
                          </a:solidFill>
                          <a:latin typeface="Arial"/>
                          <a:ea typeface="Arial"/>
                          <a:cs typeface="Arial"/>
                        </a:rPr>
                        <a:t>Status, prerequisites, capacity</a:t>
                      </a:r>
                    </a:p>
                  </a:txBody>
                  <a:tcPr marL="91440" marR="91440" marT="45720" marB="45720">
                    <a:solidFill>
                      <a:srgbClr val="FFFFFF"/>
                    </a:solidFill>
                  </a:tcPr>
                </a:tc>
                <a:tc>
                  <a:txBody>
                    <a:bodyPr/>
                    <a:lstStyle/>
                    <a:p>
                      <a:r>
                        <a:rPr sz="1650" b="0">
                          <a:solidFill>
                            <a:srgbClr val="162D44"/>
                          </a:solidFill>
                          <a:latin typeface="Arial"/>
                          <a:ea typeface="Arial"/>
                          <a:cs typeface="Arial"/>
                        </a:rPr>
                        <a:t>Rules</a:t>
                      </a:r>
                    </a:p>
                  </a:txBody>
                  <a:tcPr marL="91440" marR="91440" marT="45720" marB="45720">
                    <a:solidFill>
                      <a:srgbClr val="FFFFFF"/>
                    </a:solidFill>
                  </a:tcPr>
                </a:tc>
              </a:tr>
              <a:tr h="612321">
                <a:tc>
                  <a:txBody>
                    <a:bodyPr/>
                    <a:lstStyle/>
                    <a:p>
                      <a:r>
                        <a:rPr sz="1650" b="0">
                          <a:solidFill>
                            <a:srgbClr val="162D44"/>
                          </a:solidFill>
                          <a:latin typeface="Arial"/>
                          <a:ea typeface="Arial"/>
                          <a:cs typeface="Arial"/>
                        </a:rPr>
                        <a:t>Grade and GPA</a:t>
                      </a:r>
                    </a:p>
                  </a:txBody>
                  <a:tcPr marL="91440" marR="91440" marT="45720" marB="45720">
                    <a:solidFill>
                      <a:srgbClr val="EAF0F3"/>
                    </a:solidFill>
                  </a:tcPr>
                </a:tc>
                <a:tc>
                  <a:txBody>
                    <a:bodyPr/>
                    <a:lstStyle/>
                    <a:p>
                      <a:r>
                        <a:rPr sz="1650" b="0">
                          <a:solidFill>
                            <a:srgbClr val="162D44"/>
                          </a:solidFill>
                          <a:latin typeface="Arial"/>
                          <a:ea typeface="Arial"/>
                          <a:cs typeface="Arial"/>
                        </a:rPr>
                        <a:t>Published-grade calculations</a:t>
                      </a:r>
                    </a:p>
                  </a:txBody>
                  <a:tcPr marL="91440" marR="91440" marT="45720" marB="45720">
                    <a:solidFill>
                      <a:srgbClr val="EAF0F3"/>
                    </a:solidFill>
                  </a:tcPr>
                </a:tc>
                <a:tc>
                  <a:txBody>
                    <a:bodyPr/>
                    <a:lstStyle/>
                    <a:p>
                      <a:r>
                        <a:rPr sz="1650" b="0">
                          <a:solidFill>
                            <a:srgbClr val="162D44"/>
                          </a:solidFill>
                          <a:latin typeface="Arial"/>
                          <a:ea typeface="Arial"/>
                          <a:cs typeface="Arial"/>
                        </a:rPr>
                        <a:t>Rules</a:t>
                      </a:r>
                    </a:p>
                  </a:txBody>
                  <a:tcPr marL="91440" marR="91440" marT="45720" marB="45720">
                    <a:solidFill>
                      <a:srgbClr val="EAF0F3"/>
                    </a:solidFill>
                  </a:tcPr>
                </a:tc>
              </a:tr>
              <a:tr h="612321">
                <a:tc>
                  <a:txBody>
                    <a:bodyPr/>
                    <a:lstStyle/>
                    <a:p>
                      <a:r>
                        <a:rPr sz="1650" b="0">
                          <a:solidFill>
                            <a:srgbClr val="162D44"/>
                          </a:solidFill>
                          <a:latin typeface="Arial"/>
                          <a:ea typeface="Arial"/>
                          <a:cs typeface="Arial"/>
                        </a:rPr>
                        <a:t>Fee balance</a:t>
                      </a:r>
                    </a:p>
                  </a:txBody>
                  <a:tcPr marL="91440" marR="91440" marT="45720" marB="45720">
                    <a:solidFill>
                      <a:srgbClr val="FFFFFF"/>
                    </a:solidFill>
                  </a:tcPr>
                </a:tc>
                <a:tc>
                  <a:txBody>
                    <a:bodyPr/>
                    <a:lstStyle/>
                    <a:p>
                      <a:r>
                        <a:rPr sz="1650" b="0">
                          <a:solidFill>
                            <a:srgbClr val="162D44"/>
                          </a:solidFill>
                          <a:latin typeface="Arial"/>
                          <a:ea typeface="Arial"/>
                          <a:cs typeface="Arial"/>
                        </a:rPr>
                        <a:t>Decimal-safe balances</a:t>
                      </a:r>
                    </a:p>
                  </a:txBody>
                  <a:tcPr marL="91440" marR="91440" marT="45720" marB="45720">
                    <a:solidFill>
                      <a:srgbClr val="FFFFFF"/>
                    </a:solidFill>
                  </a:tcPr>
                </a:tc>
                <a:tc>
                  <a:txBody>
                    <a:bodyPr/>
                    <a:lstStyle/>
                    <a:p>
                      <a:r>
                        <a:rPr sz="1650" b="0">
                          <a:solidFill>
                            <a:srgbClr val="162D44"/>
                          </a:solidFill>
                          <a:latin typeface="Arial"/>
                          <a:ea typeface="Arial"/>
                          <a:cs typeface="Arial"/>
                        </a:rPr>
                        <a:t>Rules</a:t>
                      </a:r>
                    </a:p>
                  </a:txBody>
                  <a:tcPr marL="91440" marR="91440" marT="45720" marB="45720">
                    <a:solidFill>
                      <a:srgbClr val="FFFFFF"/>
                    </a:solidFill>
                  </a:tcPr>
                </a:tc>
              </a:tr>
              <a:tr h="612321">
                <a:tc>
                  <a:txBody>
                    <a:bodyPr/>
                    <a:lstStyle/>
                    <a:p>
                      <a:r>
                        <a:rPr sz="1650" b="0">
                          <a:solidFill>
                            <a:srgbClr val="162D44"/>
                          </a:solidFill>
                          <a:latin typeface="Arial"/>
                          <a:ea typeface="Arial"/>
                          <a:cs typeface="Arial"/>
                        </a:rPr>
                        <a:t>QR decoding and validation</a:t>
                      </a:r>
                    </a:p>
                  </a:txBody>
                  <a:tcPr marL="91440" marR="91440" marT="45720" marB="45720">
                    <a:solidFill>
                      <a:srgbClr val="EAF0F3"/>
                    </a:solidFill>
                  </a:tcPr>
                </a:tc>
                <a:tc>
                  <a:txBody>
                    <a:bodyPr/>
                    <a:lstStyle/>
                    <a:p>
                      <a:r>
                        <a:rPr sz="1650" b="0">
                          <a:solidFill>
                            <a:srgbClr val="162D44"/>
                          </a:solidFill>
                          <a:latin typeface="Arial"/>
                          <a:ea typeface="Arial"/>
                          <a:cs typeface="Arial"/>
                        </a:rPr>
                        <a:t>Read image; validate session</a:t>
                      </a:r>
                    </a:p>
                  </a:txBody>
                  <a:tcPr marL="91440" marR="91440" marT="45720" marB="45720">
                    <a:solidFill>
                      <a:srgbClr val="EAF0F3"/>
                    </a:solidFill>
                  </a:tcPr>
                </a:tc>
                <a:tc>
                  <a:txBody>
                    <a:bodyPr/>
                    <a:lstStyle/>
                    <a:p>
                      <a:r>
                        <a:rPr sz="1650" b="0">
                          <a:solidFill>
                            <a:srgbClr val="162D44"/>
                          </a:solidFill>
                          <a:latin typeface="Arial"/>
                          <a:ea typeface="Arial"/>
                          <a:cs typeface="Arial"/>
                        </a:rPr>
                        <a:t>Computer vision + rules</a:t>
                      </a:r>
                    </a:p>
                  </a:txBody>
                  <a:tcPr marL="91440" marR="91440" marT="45720" marB="45720">
                    <a:solidFill>
                      <a:srgbClr val="EAF0F3"/>
                    </a:solidFill>
                  </a:tcPr>
                </a:tc>
              </a:tr>
              <a:tr h="612321">
                <a:tc>
                  <a:txBody>
                    <a:bodyPr/>
                    <a:lstStyle/>
                    <a:p>
                      <a:r>
                        <a:rPr sz="1650" b="0">
                          <a:solidFill>
                            <a:srgbClr val="162D44"/>
                          </a:solidFill>
                          <a:latin typeface="Arial"/>
                          <a:ea typeface="Arial"/>
                          <a:cs typeface="Arial"/>
                        </a:rPr>
                        <a:t>Logistic regression</a:t>
                      </a:r>
                    </a:p>
                  </a:txBody>
                  <a:tcPr marL="91440" marR="91440" marT="45720" marB="45720">
                    <a:solidFill>
                      <a:srgbClr val="FFFFFF"/>
                    </a:solidFill>
                  </a:tcPr>
                </a:tc>
                <a:tc>
                  <a:txBody>
                    <a:bodyPr/>
                    <a:lstStyle/>
                    <a:p>
                      <a:r>
                        <a:rPr sz="1650" b="0">
                          <a:solidFill>
                            <a:srgbClr val="162D44"/>
                          </a:solidFill>
                          <a:latin typeface="Arial"/>
                          <a:ea typeface="Arial"/>
                          <a:cs typeface="Arial"/>
                        </a:rPr>
                        <a:t>Predictive comparison</a:t>
                      </a:r>
                    </a:p>
                  </a:txBody>
                  <a:tcPr marL="91440" marR="91440" marT="45720" marB="45720">
                    <a:solidFill>
                      <a:srgbClr val="FFFFFF"/>
                    </a:solidFill>
                  </a:tcPr>
                </a:tc>
                <a:tc>
                  <a:txBody>
                    <a:bodyPr/>
                    <a:lstStyle/>
                    <a:p>
                      <a:r>
                        <a:rPr sz="1650" b="0">
                          <a:solidFill>
                            <a:srgbClr val="162D44"/>
                          </a:solidFill>
                          <a:latin typeface="Arial"/>
                          <a:ea typeface="Arial"/>
                          <a:cs typeface="Arial"/>
                        </a:rPr>
                        <a:t>Machine learning</a:t>
                      </a:r>
                    </a:p>
                  </a:txBody>
                  <a:tcPr marL="91440" marR="91440" marT="45720" marB="45720">
                    <a:solidFill>
                      <a:srgbClr val="FFFFFF"/>
                    </a:solidFill>
                  </a:tcPr>
                </a:tc>
              </a:tr>
              <a:tr h="612321">
                <a:tc>
                  <a:txBody>
                    <a:bodyPr/>
                    <a:lstStyle/>
                    <a:p>
                      <a:r>
                        <a:rPr sz="1650" b="0">
                          <a:solidFill>
                            <a:srgbClr val="162D44"/>
                          </a:solidFill>
                          <a:latin typeface="Arial"/>
                          <a:ea typeface="Arial"/>
                          <a:cs typeface="Arial"/>
                        </a:rPr>
                        <a:t>4–32–16–1 neural network</a:t>
                      </a:r>
                    </a:p>
                  </a:txBody>
                  <a:tcPr marL="91440" marR="91440" marT="45720" marB="45720">
                    <a:solidFill>
                      <a:srgbClr val="EAF0F3"/>
                    </a:solidFill>
                  </a:tcPr>
                </a:tc>
                <a:tc>
                  <a:txBody>
                    <a:bodyPr/>
                    <a:lstStyle/>
                    <a:p>
                      <a:r>
                        <a:rPr sz="1650" b="0">
                          <a:solidFill>
                            <a:srgbClr val="162D44"/>
                          </a:solidFill>
                          <a:latin typeface="Arial"/>
                          <a:ea typeface="Arial"/>
                          <a:cs typeface="Arial"/>
                        </a:rPr>
                        <a:t>Early academic-risk experiment</a:t>
                      </a:r>
                    </a:p>
                  </a:txBody>
                  <a:tcPr marL="91440" marR="91440" marT="45720" marB="45720">
                    <a:solidFill>
                      <a:srgbClr val="EAF0F3"/>
                    </a:solidFill>
                  </a:tcPr>
                </a:tc>
                <a:tc>
                  <a:txBody>
                    <a:bodyPr/>
                    <a:lstStyle/>
                    <a:p>
                      <a:r>
                        <a:rPr sz="1650" b="0">
                          <a:solidFill>
                            <a:srgbClr val="162D44"/>
                          </a:solidFill>
                          <a:latin typeface="Arial"/>
                          <a:ea typeface="Arial"/>
                          <a:cs typeface="Arial"/>
                        </a:rPr>
                        <a:t>Deep learning</a:t>
                      </a:r>
                    </a:p>
                  </a:txBody>
                  <a:tcPr marL="91440" marR="91440" marT="45720" marB="45720">
                    <a:solidFill>
                      <a:srgbClr val="EAF0F3"/>
                    </a:solidFill>
                  </a:tcPr>
                </a:tc>
              </a:tr>
            </a:tbl>
          </a:graphicData>
        </a:graphic>
      </p:graphicFrame>
    </p:spTree>
    <p:extLst>
      <p:ext uri="{BB962C8B-B14F-4D97-AF65-F5344CB8AC3E}">
        <p14:creationId xmlns:p14="http://schemas.microsoft.com/office/powerpoint/2010/main" val="1509457220"/>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025F22-88DF-4D03-B707-5B6E8923CD9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Layer 4: Data</a:t>
            </a:r>
          </a:p>
        </p:txBody>
      </p:sp>
      <p:sp>
        <p:nvSpPr>
          <p:cNvPr id="2" name="">
            <a:extLst xmlns:a="http://schemas.openxmlformats.org/drawingml/2006/main">
              <a:ext uri="{FF2B5EF4-FFF2-40B4-BE49-F238E27FC236}">
                <a16:creationId xmlns:a16="http://schemas.microsoft.com/office/drawing/2014/main" id="{3FBAD93C-2C00-4D15-BD40-75BA7E629B0E}"/>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7</a:t>
            </a:r>
          </a:p>
        </p:txBody>
      </p:sp>
      <p:sp>
        <p:nvSpPr>
          <p:cNvPr id="3" name="">
            <a:extLst xmlns:a="http://schemas.openxmlformats.org/drawingml/2006/main">
              <a:ext uri="{FF2B5EF4-FFF2-40B4-BE49-F238E27FC236}">
                <a16:creationId xmlns:a16="http://schemas.microsoft.com/office/drawing/2014/main" id="{56D28066-A22E-4602-9AF7-D2A4FE7659D6}"/>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Purpose: persist records and enforce relational integrity.</a:t>
            </a:r>
          </a:p>
        </p:txBody>
      </p:sp>
      <p:sp>
        <p:nvSpPr>
          <p:cNvPr id="4" name="">
            <a:extLst xmlns:a="http://schemas.openxmlformats.org/drawingml/2006/main">
              <a:ext uri="{FF2B5EF4-FFF2-40B4-BE49-F238E27FC236}">
                <a16:creationId xmlns:a16="http://schemas.microsoft.com/office/drawing/2014/main" id="{941AA120-2203-4E24-BE67-70C7D481785A}"/>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PostgreSQL stores 22 application tables with keys and constraints.</a:t>
            </a:r>
          </a:p>
        </p:txBody>
      </p:sp>
      <p:sp>
        <p:nvSpPr>
          <p:cNvPr id="5" name="">
            <a:extLst xmlns:a="http://schemas.openxmlformats.org/drawingml/2006/main">
              <a:ext uri="{FF2B5EF4-FFF2-40B4-BE49-F238E27FC236}">
                <a16:creationId xmlns:a16="http://schemas.microsoft.com/office/drawing/2014/main" id="{7730FC47-BE4F-465A-A588-C8E44F552970}"/>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SQLAlchemy models and migrations define the academic schema.</a:t>
            </a:r>
          </a:p>
        </p:txBody>
      </p:sp>
      <p:sp>
        <p:nvSpPr>
          <p:cNvPr id="6" name="">
            <a:extLst xmlns:a="http://schemas.openxmlformats.org/drawingml/2006/main">
              <a:ext uri="{FF2B5EF4-FFF2-40B4-BE49-F238E27FC236}">
                <a16:creationId xmlns:a16="http://schemas.microsoft.com/office/drawing/2014/main" id="{73B3779C-37FD-4955-B578-2DE6AB8A85BE}"/>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Risk repository reads dated CSV and saves a versioned JSON model.</a:t>
            </a:r>
          </a:p>
        </p:txBody>
      </p:sp>
      <p:sp>
        <p:nvSpPr>
          <p:cNvPr id="7" name="">
            <a:extLst xmlns:a="http://schemas.openxmlformats.org/drawingml/2006/main">
              <a:ext uri="{FF2B5EF4-FFF2-40B4-BE49-F238E27FC236}">
                <a16:creationId xmlns:a16="http://schemas.microsoft.com/office/drawing/2014/main" id="{B4D0438C-26CD-40D0-828F-0A088E2ED3D9}"/>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Independent check: SQL execution, fresh migrations and schema comparison.</a:t>
            </a:r>
          </a:p>
        </p:txBody>
      </p:sp>
    </p:spTree>
    <p:extLst>
      <p:ext uri="{BB962C8B-B14F-4D97-AF65-F5344CB8AC3E}">
        <p14:creationId xmlns:p14="http://schemas.microsoft.com/office/powerpoint/2010/main" val="1202908415"/>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3C79DD-A981-43AA-9ADA-D262F106703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QR attendance through all four layers</a:t>
            </a:r>
          </a:p>
        </p:txBody>
      </p:sp>
      <p:sp>
        <p:nvSpPr>
          <p:cNvPr id="2" name="">
            <a:extLst xmlns:a="http://schemas.openxmlformats.org/drawingml/2006/main">
              <a:ext uri="{FF2B5EF4-FFF2-40B4-BE49-F238E27FC236}">
                <a16:creationId xmlns:a16="http://schemas.microsoft.com/office/drawing/2014/main" id="{2E19DD8A-496C-4734-BF1F-2D4A07D71297}"/>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8</a:t>
            </a:r>
          </a:p>
        </p:txBody>
      </p:sp>
      <p:sp>
        <p:nvSpPr>
          <p:cNvPr id="3" name="">
            <a:extLst xmlns:a="http://schemas.openxmlformats.org/drawingml/2006/main">
              <a:ext uri="{FF2B5EF4-FFF2-40B4-BE49-F238E27FC236}">
                <a16:creationId xmlns:a16="http://schemas.microsoft.com/office/drawing/2014/main" id="{6003D42C-848B-4460-9BAE-D06605AC3FDE}"/>
              </a:ext>
            </a:extLst>
          </p:cNvPr>
          <p:cNvSpPr>
            <a:spLocks xmlns:a="http://schemas.openxmlformats.org/drawingml/2006/main" noGrp="1"/>
          </p:cNvSpPr>
          <p:nvPr/>
        </p:nvSpPr>
        <p:spPr>
          <a:xfrm xmlns:a="http://schemas.openxmlformats.org/drawingml/2006/main">
            <a:off x="762000" y="150495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3"/>
                </a:solidFill>
                <a:latin typeface="Arial"/>
                <a:ea typeface="Arial"/>
                <a:cs typeface="Arial"/>
              </a:defRPr>
            </a:defPPr>
            <a:lvl1pPr>
              <a:defRPr sz="3150" b="1">
                <a:solidFill>
                  <a:srgbClr val="087F83"/>
                </a:solidFill>
                <a:latin typeface="Arial"/>
                <a:ea typeface="Arial"/>
                <a:cs typeface="Arial"/>
              </a:defRPr>
            </a:lvl1pPr>
            <a:lvl2pPr>
              <a:defRPr sz="3150" b="1">
                <a:solidFill>
                  <a:srgbClr val="087F83"/>
                </a:solidFill>
                <a:latin typeface="Arial"/>
                <a:ea typeface="Arial"/>
                <a:cs typeface="Arial"/>
              </a:defRPr>
            </a:lvl2pPr>
            <a:lvl3pPr>
              <a:defRPr sz="3150" b="1">
                <a:solidFill>
                  <a:srgbClr val="087F83"/>
                </a:solidFill>
                <a:latin typeface="Arial"/>
                <a:ea typeface="Arial"/>
                <a:cs typeface="Arial"/>
              </a:defRPr>
            </a:lvl3pPr>
            <a:lvl4pPr>
              <a:defRPr sz="3150" b="1">
                <a:solidFill>
                  <a:srgbClr val="087F83"/>
                </a:solidFill>
                <a:latin typeface="Arial"/>
                <a:ea typeface="Arial"/>
                <a:cs typeface="Arial"/>
              </a:defRPr>
            </a:lvl4pPr>
            <a:lvl5pPr>
              <a:defRPr sz="3150" b="1">
                <a:solidFill>
                  <a:srgbClr val="087F83"/>
                </a:solidFill>
                <a:latin typeface="Arial"/>
                <a:ea typeface="Arial"/>
                <a:cs typeface="Arial"/>
              </a:defRPr>
            </a:lvl5pPr>
            <a:lvl6pPr>
              <a:defRPr sz="3150" b="1">
                <a:solidFill>
                  <a:srgbClr val="087F83"/>
                </a:solidFill>
                <a:latin typeface="Arial"/>
                <a:ea typeface="Arial"/>
                <a:cs typeface="Arial"/>
              </a:defRPr>
            </a:lvl6pPr>
            <a:lvl7pPr>
              <a:defRPr sz="3150" b="1">
                <a:solidFill>
                  <a:srgbClr val="087F83"/>
                </a:solidFill>
                <a:latin typeface="Arial"/>
                <a:ea typeface="Arial"/>
                <a:cs typeface="Arial"/>
              </a:defRPr>
            </a:lvl7pPr>
            <a:lvl8pPr>
              <a:defRPr sz="3150" b="1">
                <a:solidFill>
                  <a:srgbClr val="087F83"/>
                </a:solidFill>
                <a:latin typeface="Arial"/>
                <a:ea typeface="Arial"/>
                <a:cs typeface="Arial"/>
              </a:defRPr>
            </a:lvl8pPr>
            <a:lvl9pPr>
              <a:defRPr sz="3150" b="1">
                <a:solidFill>
                  <a:srgbClr val="087F83"/>
                </a:solidFill>
                <a:latin typeface="Arial"/>
                <a:ea typeface="Arial"/>
                <a:cs typeface="Arial"/>
              </a:defRPr>
            </a:lvl9pPr>
          </a:lstStyle>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2CD66B4E-F6B2-4C78-8914-EE52950DC341}"/>
              </a:ext>
            </a:extLst>
          </p:cNvPr>
          <p:cNvSpPr>
            <a:spLocks xmlns:a="http://schemas.openxmlformats.org/drawingml/2006/main" noGrp="1"/>
          </p:cNvSpPr>
          <p:nvPr/>
        </p:nvSpPr>
        <p:spPr>
          <a:xfrm xmlns:a="http://schemas.openxmlformats.org/drawingml/2006/main">
            <a:off x="1619250" y="157162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2D44"/>
                </a:solidFill>
                <a:latin typeface="Arial"/>
                <a:ea typeface="Arial"/>
                <a:cs typeface="Arial"/>
              </a:defRPr>
            </a:defPPr>
            <a:lvl1pPr>
              <a:defRPr sz="2325" b="1">
                <a:solidFill>
                  <a:srgbClr val="162D44"/>
                </a:solidFill>
                <a:latin typeface="Arial"/>
                <a:ea typeface="Arial"/>
                <a:cs typeface="Arial"/>
              </a:defRPr>
            </a:lvl1pPr>
            <a:lvl2pPr>
              <a:defRPr sz="2325" b="1">
                <a:solidFill>
                  <a:srgbClr val="162D44"/>
                </a:solidFill>
                <a:latin typeface="Arial"/>
                <a:ea typeface="Arial"/>
                <a:cs typeface="Arial"/>
              </a:defRPr>
            </a:lvl2pPr>
            <a:lvl3pPr>
              <a:defRPr sz="2325" b="1">
                <a:solidFill>
                  <a:srgbClr val="162D44"/>
                </a:solidFill>
                <a:latin typeface="Arial"/>
                <a:ea typeface="Arial"/>
                <a:cs typeface="Arial"/>
              </a:defRPr>
            </a:lvl3pPr>
            <a:lvl4pPr>
              <a:defRPr sz="2325" b="1">
                <a:solidFill>
                  <a:srgbClr val="162D44"/>
                </a:solidFill>
                <a:latin typeface="Arial"/>
                <a:ea typeface="Arial"/>
                <a:cs typeface="Arial"/>
              </a:defRPr>
            </a:lvl4pPr>
            <a:lvl5pPr>
              <a:defRPr sz="2325" b="1">
                <a:solidFill>
                  <a:srgbClr val="162D44"/>
                </a:solidFill>
                <a:latin typeface="Arial"/>
                <a:ea typeface="Arial"/>
                <a:cs typeface="Arial"/>
              </a:defRPr>
            </a:lvl5pPr>
            <a:lvl6pPr>
              <a:defRPr sz="2325" b="1">
                <a:solidFill>
                  <a:srgbClr val="162D44"/>
                </a:solidFill>
                <a:latin typeface="Arial"/>
                <a:ea typeface="Arial"/>
                <a:cs typeface="Arial"/>
              </a:defRPr>
            </a:lvl6pPr>
            <a:lvl7pPr>
              <a:defRPr sz="2325" b="1">
                <a:solidFill>
                  <a:srgbClr val="162D44"/>
                </a:solidFill>
                <a:latin typeface="Arial"/>
                <a:ea typeface="Arial"/>
                <a:cs typeface="Arial"/>
              </a:defRPr>
            </a:lvl7pPr>
            <a:lvl8pPr>
              <a:defRPr sz="2325" b="1">
                <a:solidFill>
                  <a:srgbClr val="162D44"/>
                </a:solidFill>
                <a:latin typeface="Arial"/>
                <a:ea typeface="Arial"/>
                <a:cs typeface="Arial"/>
              </a:defRPr>
            </a:lvl8pPr>
            <a:lvl9pPr>
              <a:defRPr sz="2325" b="1">
                <a:solidFill>
                  <a:srgbClr val="162D44"/>
                </a:solidFill>
                <a:latin typeface="Arial"/>
                <a:ea typeface="Arial"/>
                <a:cs typeface="Arial"/>
              </a:defRPr>
            </a:lvl9pPr>
          </a:lstStyle>
          <a:p xmlns:a="http://schemas.openxmlformats.org/drawingml/2006/main">
            <a:pPr>
              <a:defRPr sz="2325" b="1">
                <a:solidFill>
                  <a:srgbClr val="162D44"/>
                </a:solidFill>
                <a:latin typeface="Arial"/>
                <a:ea typeface="Arial"/>
                <a:cs typeface="Arial"/>
              </a:defRPr>
            </a:pPr>
            <a:r>
              <a:rPr sz="2325" b="1">
                <a:solidFill>
                  <a:srgbClr val="162D44"/>
                </a:solidFill>
                <a:latin typeface="Arial"/>
                <a:ea typeface="Arial"/>
                <a:cs typeface="Arial"/>
              </a:rPr>
              <a:t>Student uploads QR image</a:t>
            </a:r>
          </a:p>
        </p:txBody>
      </p:sp>
      <p:sp>
        <p:nvSpPr>
          <p:cNvPr id="5" name="">
            <a:extLst xmlns:a="http://schemas.openxmlformats.org/drawingml/2006/main">
              <a:ext uri="{FF2B5EF4-FFF2-40B4-BE49-F238E27FC236}">
                <a16:creationId xmlns:a16="http://schemas.microsoft.com/office/drawing/2014/main" id="{1D3F4C34-B5DC-4005-AC05-A29E5C8F18F0}"/>
              </a:ext>
            </a:extLst>
          </p:cNvPr>
          <p:cNvSpPr>
            <a:spLocks xmlns:a="http://schemas.openxmlformats.org/drawingml/2006/main" noGrp="1"/>
          </p:cNvSpPr>
          <p:nvPr/>
        </p:nvSpPr>
        <p:spPr>
          <a:xfrm xmlns:a="http://schemas.openxmlformats.org/drawingml/2006/main">
            <a:off x="762000" y="250507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3"/>
                </a:solidFill>
                <a:latin typeface="Arial"/>
                <a:ea typeface="Arial"/>
                <a:cs typeface="Arial"/>
              </a:defRPr>
            </a:defPPr>
            <a:lvl1pPr>
              <a:defRPr sz="3150" b="1">
                <a:solidFill>
                  <a:srgbClr val="087F83"/>
                </a:solidFill>
                <a:latin typeface="Arial"/>
                <a:ea typeface="Arial"/>
                <a:cs typeface="Arial"/>
              </a:defRPr>
            </a:lvl1pPr>
            <a:lvl2pPr>
              <a:defRPr sz="3150" b="1">
                <a:solidFill>
                  <a:srgbClr val="087F83"/>
                </a:solidFill>
                <a:latin typeface="Arial"/>
                <a:ea typeface="Arial"/>
                <a:cs typeface="Arial"/>
              </a:defRPr>
            </a:lvl2pPr>
            <a:lvl3pPr>
              <a:defRPr sz="3150" b="1">
                <a:solidFill>
                  <a:srgbClr val="087F83"/>
                </a:solidFill>
                <a:latin typeface="Arial"/>
                <a:ea typeface="Arial"/>
                <a:cs typeface="Arial"/>
              </a:defRPr>
            </a:lvl3pPr>
            <a:lvl4pPr>
              <a:defRPr sz="3150" b="1">
                <a:solidFill>
                  <a:srgbClr val="087F83"/>
                </a:solidFill>
                <a:latin typeface="Arial"/>
                <a:ea typeface="Arial"/>
                <a:cs typeface="Arial"/>
              </a:defRPr>
            </a:lvl4pPr>
            <a:lvl5pPr>
              <a:defRPr sz="3150" b="1">
                <a:solidFill>
                  <a:srgbClr val="087F83"/>
                </a:solidFill>
                <a:latin typeface="Arial"/>
                <a:ea typeface="Arial"/>
                <a:cs typeface="Arial"/>
              </a:defRPr>
            </a:lvl5pPr>
            <a:lvl6pPr>
              <a:defRPr sz="3150" b="1">
                <a:solidFill>
                  <a:srgbClr val="087F83"/>
                </a:solidFill>
                <a:latin typeface="Arial"/>
                <a:ea typeface="Arial"/>
                <a:cs typeface="Arial"/>
              </a:defRPr>
            </a:lvl6pPr>
            <a:lvl7pPr>
              <a:defRPr sz="3150" b="1">
                <a:solidFill>
                  <a:srgbClr val="087F83"/>
                </a:solidFill>
                <a:latin typeface="Arial"/>
                <a:ea typeface="Arial"/>
                <a:cs typeface="Arial"/>
              </a:defRPr>
            </a:lvl7pPr>
            <a:lvl8pPr>
              <a:defRPr sz="3150" b="1">
                <a:solidFill>
                  <a:srgbClr val="087F83"/>
                </a:solidFill>
                <a:latin typeface="Arial"/>
                <a:ea typeface="Arial"/>
                <a:cs typeface="Arial"/>
              </a:defRPr>
            </a:lvl8pPr>
            <a:lvl9pPr>
              <a:defRPr sz="3150" b="1">
                <a:solidFill>
                  <a:srgbClr val="087F83"/>
                </a:solidFill>
                <a:latin typeface="Arial"/>
                <a:ea typeface="Arial"/>
                <a:cs typeface="Arial"/>
              </a:defRPr>
            </a:lvl9pPr>
          </a:lstStyle>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8223C026-C76B-4FD5-BB88-C88DC029B6E2}"/>
              </a:ext>
            </a:extLst>
          </p:cNvPr>
          <p:cNvSpPr>
            <a:spLocks xmlns:a="http://schemas.openxmlformats.org/drawingml/2006/main" noGrp="1"/>
          </p:cNvSpPr>
          <p:nvPr/>
        </p:nvSpPr>
        <p:spPr>
          <a:xfrm xmlns:a="http://schemas.openxmlformats.org/drawingml/2006/main">
            <a:off x="1619250" y="25717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2D44"/>
                </a:solidFill>
                <a:latin typeface="Arial"/>
                <a:ea typeface="Arial"/>
                <a:cs typeface="Arial"/>
              </a:defRPr>
            </a:defPPr>
            <a:lvl1pPr>
              <a:defRPr sz="2325" b="1">
                <a:solidFill>
                  <a:srgbClr val="162D44"/>
                </a:solidFill>
                <a:latin typeface="Arial"/>
                <a:ea typeface="Arial"/>
                <a:cs typeface="Arial"/>
              </a:defRPr>
            </a:lvl1pPr>
            <a:lvl2pPr>
              <a:defRPr sz="2325" b="1">
                <a:solidFill>
                  <a:srgbClr val="162D44"/>
                </a:solidFill>
                <a:latin typeface="Arial"/>
                <a:ea typeface="Arial"/>
                <a:cs typeface="Arial"/>
              </a:defRPr>
            </a:lvl2pPr>
            <a:lvl3pPr>
              <a:defRPr sz="2325" b="1">
                <a:solidFill>
                  <a:srgbClr val="162D44"/>
                </a:solidFill>
                <a:latin typeface="Arial"/>
                <a:ea typeface="Arial"/>
                <a:cs typeface="Arial"/>
              </a:defRPr>
            </a:lvl3pPr>
            <a:lvl4pPr>
              <a:defRPr sz="2325" b="1">
                <a:solidFill>
                  <a:srgbClr val="162D44"/>
                </a:solidFill>
                <a:latin typeface="Arial"/>
                <a:ea typeface="Arial"/>
                <a:cs typeface="Arial"/>
              </a:defRPr>
            </a:lvl4pPr>
            <a:lvl5pPr>
              <a:defRPr sz="2325" b="1">
                <a:solidFill>
                  <a:srgbClr val="162D44"/>
                </a:solidFill>
                <a:latin typeface="Arial"/>
                <a:ea typeface="Arial"/>
                <a:cs typeface="Arial"/>
              </a:defRPr>
            </a:lvl5pPr>
            <a:lvl6pPr>
              <a:defRPr sz="2325" b="1">
                <a:solidFill>
                  <a:srgbClr val="162D44"/>
                </a:solidFill>
                <a:latin typeface="Arial"/>
                <a:ea typeface="Arial"/>
                <a:cs typeface="Arial"/>
              </a:defRPr>
            </a:lvl6pPr>
            <a:lvl7pPr>
              <a:defRPr sz="2325" b="1">
                <a:solidFill>
                  <a:srgbClr val="162D44"/>
                </a:solidFill>
                <a:latin typeface="Arial"/>
                <a:ea typeface="Arial"/>
                <a:cs typeface="Arial"/>
              </a:defRPr>
            </a:lvl7pPr>
            <a:lvl8pPr>
              <a:defRPr sz="2325" b="1">
                <a:solidFill>
                  <a:srgbClr val="162D44"/>
                </a:solidFill>
                <a:latin typeface="Arial"/>
                <a:ea typeface="Arial"/>
                <a:cs typeface="Arial"/>
              </a:defRPr>
            </a:lvl8pPr>
            <a:lvl9pPr>
              <a:defRPr sz="2325" b="1">
                <a:solidFill>
                  <a:srgbClr val="162D44"/>
                </a:solidFill>
                <a:latin typeface="Arial"/>
                <a:ea typeface="Arial"/>
                <a:cs typeface="Arial"/>
              </a:defRPr>
            </a:lvl9pPr>
          </a:lstStyle>
          <a:p xmlns:a="http://schemas.openxmlformats.org/drawingml/2006/main">
            <a:pPr>
              <a:defRPr sz="2325" b="1">
                <a:solidFill>
                  <a:srgbClr val="162D44"/>
                </a:solidFill>
                <a:latin typeface="Arial"/>
                <a:ea typeface="Arial"/>
                <a:cs typeface="Arial"/>
              </a:defRPr>
            </a:pPr>
            <a:r>
              <a:rPr sz="2325" b="1">
                <a:solidFill>
                  <a:srgbClr val="162D44"/>
                </a:solidFill>
                <a:latin typeface="Arial"/>
                <a:ea typeface="Arial"/>
                <a:cs typeface="Arial"/>
              </a:rPr>
              <a:t>Route checks identity and CSRF</a:t>
            </a:r>
          </a:p>
        </p:txBody>
      </p:sp>
      <p:sp>
        <p:nvSpPr>
          <p:cNvPr id="7" name="">
            <a:extLst xmlns:a="http://schemas.openxmlformats.org/drawingml/2006/main">
              <a:ext uri="{FF2B5EF4-FFF2-40B4-BE49-F238E27FC236}">
                <a16:creationId xmlns:a16="http://schemas.microsoft.com/office/drawing/2014/main" id="{BF489FF7-B03D-4CCE-94F7-41E642C70D14}"/>
              </a:ext>
            </a:extLst>
          </p:cNvPr>
          <p:cNvSpPr>
            <a:spLocks xmlns:a="http://schemas.openxmlformats.org/drawingml/2006/main" noGrp="1"/>
          </p:cNvSpPr>
          <p:nvPr/>
        </p:nvSpPr>
        <p:spPr>
          <a:xfrm xmlns:a="http://schemas.openxmlformats.org/drawingml/2006/main">
            <a:off x="762000" y="350520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3"/>
                </a:solidFill>
                <a:latin typeface="Arial"/>
                <a:ea typeface="Arial"/>
                <a:cs typeface="Arial"/>
              </a:defRPr>
            </a:defPPr>
            <a:lvl1pPr>
              <a:defRPr sz="3150" b="1">
                <a:solidFill>
                  <a:srgbClr val="087F83"/>
                </a:solidFill>
                <a:latin typeface="Arial"/>
                <a:ea typeface="Arial"/>
                <a:cs typeface="Arial"/>
              </a:defRPr>
            </a:lvl1pPr>
            <a:lvl2pPr>
              <a:defRPr sz="3150" b="1">
                <a:solidFill>
                  <a:srgbClr val="087F83"/>
                </a:solidFill>
                <a:latin typeface="Arial"/>
                <a:ea typeface="Arial"/>
                <a:cs typeface="Arial"/>
              </a:defRPr>
            </a:lvl2pPr>
            <a:lvl3pPr>
              <a:defRPr sz="3150" b="1">
                <a:solidFill>
                  <a:srgbClr val="087F83"/>
                </a:solidFill>
                <a:latin typeface="Arial"/>
                <a:ea typeface="Arial"/>
                <a:cs typeface="Arial"/>
              </a:defRPr>
            </a:lvl3pPr>
            <a:lvl4pPr>
              <a:defRPr sz="3150" b="1">
                <a:solidFill>
                  <a:srgbClr val="087F83"/>
                </a:solidFill>
                <a:latin typeface="Arial"/>
                <a:ea typeface="Arial"/>
                <a:cs typeface="Arial"/>
              </a:defRPr>
            </a:lvl4pPr>
            <a:lvl5pPr>
              <a:defRPr sz="3150" b="1">
                <a:solidFill>
                  <a:srgbClr val="087F83"/>
                </a:solidFill>
                <a:latin typeface="Arial"/>
                <a:ea typeface="Arial"/>
                <a:cs typeface="Arial"/>
              </a:defRPr>
            </a:lvl5pPr>
            <a:lvl6pPr>
              <a:defRPr sz="3150" b="1">
                <a:solidFill>
                  <a:srgbClr val="087F83"/>
                </a:solidFill>
                <a:latin typeface="Arial"/>
                <a:ea typeface="Arial"/>
                <a:cs typeface="Arial"/>
              </a:defRPr>
            </a:lvl6pPr>
            <a:lvl7pPr>
              <a:defRPr sz="3150" b="1">
                <a:solidFill>
                  <a:srgbClr val="087F83"/>
                </a:solidFill>
                <a:latin typeface="Arial"/>
                <a:ea typeface="Arial"/>
                <a:cs typeface="Arial"/>
              </a:defRPr>
            </a:lvl7pPr>
            <a:lvl8pPr>
              <a:defRPr sz="3150" b="1">
                <a:solidFill>
                  <a:srgbClr val="087F83"/>
                </a:solidFill>
                <a:latin typeface="Arial"/>
                <a:ea typeface="Arial"/>
                <a:cs typeface="Arial"/>
              </a:defRPr>
            </a:lvl8pPr>
            <a:lvl9pPr>
              <a:defRPr sz="3150" b="1">
                <a:solidFill>
                  <a:srgbClr val="087F83"/>
                </a:solidFill>
                <a:latin typeface="Arial"/>
                <a:ea typeface="Arial"/>
                <a:cs typeface="Arial"/>
              </a:defRPr>
            </a:lvl9pPr>
          </a:lstStyle>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43EA8DCF-8A60-4FC2-BA38-A4FEA0738F07}"/>
              </a:ext>
            </a:extLst>
          </p:cNvPr>
          <p:cNvSpPr>
            <a:spLocks xmlns:a="http://schemas.openxmlformats.org/drawingml/2006/main" noGrp="1"/>
          </p:cNvSpPr>
          <p:nvPr/>
        </p:nvSpPr>
        <p:spPr>
          <a:xfrm xmlns:a="http://schemas.openxmlformats.org/drawingml/2006/main">
            <a:off x="1619250" y="357187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2D44"/>
                </a:solidFill>
                <a:latin typeface="Arial"/>
                <a:ea typeface="Arial"/>
                <a:cs typeface="Arial"/>
              </a:defRPr>
            </a:defPPr>
            <a:lvl1pPr>
              <a:defRPr sz="2325" b="1">
                <a:solidFill>
                  <a:srgbClr val="162D44"/>
                </a:solidFill>
                <a:latin typeface="Arial"/>
                <a:ea typeface="Arial"/>
                <a:cs typeface="Arial"/>
              </a:defRPr>
            </a:lvl1pPr>
            <a:lvl2pPr>
              <a:defRPr sz="2325" b="1">
                <a:solidFill>
                  <a:srgbClr val="162D44"/>
                </a:solidFill>
                <a:latin typeface="Arial"/>
                <a:ea typeface="Arial"/>
                <a:cs typeface="Arial"/>
              </a:defRPr>
            </a:lvl2pPr>
            <a:lvl3pPr>
              <a:defRPr sz="2325" b="1">
                <a:solidFill>
                  <a:srgbClr val="162D44"/>
                </a:solidFill>
                <a:latin typeface="Arial"/>
                <a:ea typeface="Arial"/>
                <a:cs typeface="Arial"/>
              </a:defRPr>
            </a:lvl3pPr>
            <a:lvl4pPr>
              <a:defRPr sz="2325" b="1">
                <a:solidFill>
                  <a:srgbClr val="162D44"/>
                </a:solidFill>
                <a:latin typeface="Arial"/>
                <a:ea typeface="Arial"/>
                <a:cs typeface="Arial"/>
              </a:defRPr>
            </a:lvl4pPr>
            <a:lvl5pPr>
              <a:defRPr sz="2325" b="1">
                <a:solidFill>
                  <a:srgbClr val="162D44"/>
                </a:solidFill>
                <a:latin typeface="Arial"/>
                <a:ea typeface="Arial"/>
                <a:cs typeface="Arial"/>
              </a:defRPr>
            </a:lvl5pPr>
            <a:lvl6pPr>
              <a:defRPr sz="2325" b="1">
                <a:solidFill>
                  <a:srgbClr val="162D44"/>
                </a:solidFill>
                <a:latin typeface="Arial"/>
                <a:ea typeface="Arial"/>
                <a:cs typeface="Arial"/>
              </a:defRPr>
            </a:lvl6pPr>
            <a:lvl7pPr>
              <a:defRPr sz="2325" b="1">
                <a:solidFill>
                  <a:srgbClr val="162D44"/>
                </a:solidFill>
                <a:latin typeface="Arial"/>
                <a:ea typeface="Arial"/>
                <a:cs typeface="Arial"/>
              </a:defRPr>
            </a:lvl7pPr>
            <a:lvl8pPr>
              <a:defRPr sz="2325" b="1">
                <a:solidFill>
                  <a:srgbClr val="162D44"/>
                </a:solidFill>
                <a:latin typeface="Arial"/>
                <a:ea typeface="Arial"/>
                <a:cs typeface="Arial"/>
              </a:defRPr>
            </a:lvl8pPr>
            <a:lvl9pPr>
              <a:defRPr sz="2325" b="1">
                <a:solidFill>
                  <a:srgbClr val="162D44"/>
                </a:solidFill>
                <a:latin typeface="Arial"/>
                <a:ea typeface="Arial"/>
                <a:cs typeface="Arial"/>
              </a:defRPr>
            </a:lvl9pPr>
          </a:lstStyle>
          <a:p xmlns:a="http://schemas.openxmlformats.org/drawingml/2006/main">
            <a:pPr>
              <a:defRPr sz="2325" b="1">
                <a:solidFill>
                  <a:srgbClr val="162D44"/>
                </a:solidFill>
                <a:latin typeface="Arial"/>
                <a:ea typeface="Arial"/>
                <a:cs typeface="Arial"/>
              </a:defRPr>
            </a:pPr>
            <a:r>
              <a:rPr sz="2325" b="1">
                <a:solidFill>
                  <a:srgbClr val="162D44"/>
                </a:solidFill>
                <a:latin typeface="Arial"/>
                <a:ea typeface="Arial"/>
                <a:cs typeface="Arial"/>
              </a:rPr>
              <a:t>OpenCV decodes; service validates</a:t>
            </a:r>
          </a:p>
        </p:txBody>
      </p:sp>
      <p:sp>
        <p:nvSpPr>
          <p:cNvPr id="9" name="">
            <a:extLst xmlns:a="http://schemas.openxmlformats.org/drawingml/2006/main">
              <a:ext uri="{FF2B5EF4-FFF2-40B4-BE49-F238E27FC236}">
                <a16:creationId xmlns:a16="http://schemas.microsoft.com/office/drawing/2014/main" id="{4B3A8AA0-91B4-48D2-9A77-DE0F7E8AE362}"/>
              </a:ext>
            </a:extLst>
          </p:cNvPr>
          <p:cNvSpPr>
            <a:spLocks xmlns:a="http://schemas.openxmlformats.org/drawingml/2006/main" noGrp="1"/>
          </p:cNvSpPr>
          <p:nvPr/>
        </p:nvSpPr>
        <p:spPr>
          <a:xfrm xmlns:a="http://schemas.openxmlformats.org/drawingml/2006/main">
            <a:off x="762000" y="45053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87F83"/>
                </a:solidFill>
                <a:latin typeface="Arial"/>
                <a:ea typeface="Arial"/>
                <a:cs typeface="Arial"/>
              </a:defRPr>
            </a:defPPr>
            <a:lvl1pPr>
              <a:defRPr sz="3150" b="1">
                <a:solidFill>
                  <a:srgbClr val="087F83"/>
                </a:solidFill>
                <a:latin typeface="Arial"/>
                <a:ea typeface="Arial"/>
                <a:cs typeface="Arial"/>
              </a:defRPr>
            </a:lvl1pPr>
            <a:lvl2pPr>
              <a:defRPr sz="3150" b="1">
                <a:solidFill>
                  <a:srgbClr val="087F83"/>
                </a:solidFill>
                <a:latin typeface="Arial"/>
                <a:ea typeface="Arial"/>
                <a:cs typeface="Arial"/>
              </a:defRPr>
            </a:lvl2pPr>
            <a:lvl3pPr>
              <a:defRPr sz="3150" b="1">
                <a:solidFill>
                  <a:srgbClr val="087F83"/>
                </a:solidFill>
                <a:latin typeface="Arial"/>
                <a:ea typeface="Arial"/>
                <a:cs typeface="Arial"/>
              </a:defRPr>
            </a:lvl3pPr>
            <a:lvl4pPr>
              <a:defRPr sz="3150" b="1">
                <a:solidFill>
                  <a:srgbClr val="087F83"/>
                </a:solidFill>
                <a:latin typeface="Arial"/>
                <a:ea typeface="Arial"/>
                <a:cs typeface="Arial"/>
              </a:defRPr>
            </a:lvl4pPr>
            <a:lvl5pPr>
              <a:defRPr sz="3150" b="1">
                <a:solidFill>
                  <a:srgbClr val="087F83"/>
                </a:solidFill>
                <a:latin typeface="Arial"/>
                <a:ea typeface="Arial"/>
                <a:cs typeface="Arial"/>
              </a:defRPr>
            </a:lvl5pPr>
            <a:lvl6pPr>
              <a:defRPr sz="3150" b="1">
                <a:solidFill>
                  <a:srgbClr val="087F83"/>
                </a:solidFill>
                <a:latin typeface="Arial"/>
                <a:ea typeface="Arial"/>
                <a:cs typeface="Arial"/>
              </a:defRPr>
            </a:lvl6pPr>
            <a:lvl7pPr>
              <a:defRPr sz="3150" b="1">
                <a:solidFill>
                  <a:srgbClr val="087F83"/>
                </a:solidFill>
                <a:latin typeface="Arial"/>
                <a:ea typeface="Arial"/>
                <a:cs typeface="Arial"/>
              </a:defRPr>
            </a:lvl7pPr>
            <a:lvl8pPr>
              <a:defRPr sz="3150" b="1">
                <a:solidFill>
                  <a:srgbClr val="087F83"/>
                </a:solidFill>
                <a:latin typeface="Arial"/>
                <a:ea typeface="Arial"/>
                <a:cs typeface="Arial"/>
              </a:defRPr>
            </a:lvl8pPr>
            <a:lvl9pPr>
              <a:defRPr sz="3150" b="1">
                <a:solidFill>
                  <a:srgbClr val="087F83"/>
                </a:solidFill>
                <a:latin typeface="Arial"/>
                <a:ea typeface="Arial"/>
                <a:cs typeface="Arial"/>
              </a:defRPr>
            </a:lvl9pPr>
          </a:lstStyle>
          <a:p xmlns:a="http://schemas.openxmlformats.org/drawingml/2006/main">
            <a:pPr>
              <a:defRPr sz="3150" b="1">
                <a:solidFill>
                  <a:srgbClr val="087F83"/>
                </a:solidFill>
                <a:latin typeface="Arial"/>
                <a:ea typeface="Arial"/>
                <a:cs typeface="Arial"/>
              </a:defRPr>
            </a:pPr>
            <a:r>
              <a:rPr sz="3150" b="1">
                <a:solidFill>
                  <a:srgbClr val="087F83"/>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90389FB1-1E66-4ECE-B306-31078D52EEED}"/>
              </a:ext>
            </a:extLst>
          </p:cNvPr>
          <p:cNvSpPr>
            <a:spLocks xmlns:a="http://schemas.openxmlformats.org/drawingml/2006/main" noGrp="1"/>
          </p:cNvSpPr>
          <p:nvPr/>
        </p:nvSpPr>
        <p:spPr>
          <a:xfrm xmlns:a="http://schemas.openxmlformats.org/drawingml/2006/main">
            <a:off x="1619250" y="457200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2D44"/>
                </a:solidFill>
                <a:latin typeface="Arial"/>
                <a:ea typeface="Arial"/>
                <a:cs typeface="Arial"/>
              </a:defRPr>
            </a:defPPr>
            <a:lvl1pPr>
              <a:defRPr sz="2325" b="1">
                <a:solidFill>
                  <a:srgbClr val="162D44"/>
                </a:solidFill>
                <a:latin typeface="Arial"/>
                <a:ea typeface="Arial"/>
                <a:cs typeface="Arial"/>
              </a:defRPr>
            </a:lvl1pPr>
            <a:lvl2pPr>
              <a:defRPr sz="2325" b="1">
                <a:solidFill>
                  <a:srgbClr val="162D44"/>
                </a:solidFill>
                <a:latin typeface="Arial"/>
                <a:ea typeface="Arial"/>
                <a:cs typeface="Arial"/>
              </a:defRPr>
            </a:lvl2pPr>
            <a:lvl3pPr>
              <a:defRPr sz="2325" b="1">
                <a:solidFill>
                  <a:srgbClr val="162D44"/>
                </a:solidFill>
                <a:latin typeface="Arial"/>
                <a:ea typeface="Arial"/>
                <a:cs typeface="Arial"/>
              </a:defRPr>
            </a:lvl3pPr>
            <a:lvl4pPr>
              <a:defRPr sz="2325" b="1">
                <a:solidFill>
                  <a:srgbClr val="162D44"/>
                </a:solidFill>
                <a:latin typeface="Arial"/>
                <a:ea typeface="Arial"/>
                <a:cs typeface="Arial"/>
              </a:defRPr>
            </a:lvl4pPr>
            <a:lvl5pPr>
              <a:defRPr sz="2325" b="1">
                <a:solidFill>
                  <a:srgbClr val="162D44"/>
                </a:solidFill>
                <a:latin typeface="Arial"/>
                <a:ea typeface="Arial"/>
                <a:cs typeface="Arial"/>
              </a:defRPr>
            </a:lvl5pPr>
            <a:lvl6pPr>
              <a:defRPr sz="2325" b="1">
                <a:solidFill>
                  <a:srgbClr val="162D44"/>
                </a:solidFill>
                <a:latin typeface="Arial"/>
                <a:ea typeface="Arial"/>
                <a:cs typeface="Arial"/>
              </a:defRPr>
            </a:lvl6pPr>
            <a:lvl7pPr>
              <a:defRPr sz="2325" b="1">
                <a:solidFill>
                  <a:srgbClr val="162D44"/>
                </a:solidFill>
                <a:latin typeface="Arial"/>
                <a:ea typeface="Arial"/>
                <a:cs typeface="Arial"/>
              </a:defRPr>
            </a:lvl7pPr>
            <a:lvl8pPr>
              <a:defRPr sz="2325" b="1">
                <a:solidFill>
                  <a:srgbClr val="162D44"/>
                </a:solidFill>
                <a:latin typeface="Arial"/>
                <a:ea typeface="Arial"/>
                <a:cs typeface="Arial"/>
              </a:defRPr>
            </a:lvl8pPr>
            <a:lvl9pPr>
              <a:defRPr sz="2325" b="1">
                <a:solidFill>
                  <a:srgbClr val="162D44"/>
                </a:solidFill>
                <a:latin typeface="Arial"/>
                <a:ea typeface="Arial"/>
                <a:cs typeface="Arial"/>
              </a:defRPr>
            </a:lvl9pPr>
          </a:lstStyle>
          <a:p xmlns:a="http://schemas.openxmlformats.org/drawingml/2006/main">
            <a:pPr>
              <a:defRPr sz="2325" b="1">
                <a:solidFill>
                  <a:srgbClr val="162D44"/>
                </a:solidFill>
                <a:latin typeface="Arial"/>
                <a:ea typeface="Arial"/>
                <a:cs typeface="Arial"/>
              </a:defRPr>
            </a:pPr>
            <a:r>
              <a:rPr sz="2325" b="1">
                <a:solidFill>
                  <a:srgbClr val="162D44"/>
                </a:solidFill>
                <a:latin typeface="Arial"/>
                <a:ea typeface="Arial"/>
                <a:cs typeface="Arial"/>
              </a:rPr>
              <a:t>PostgreSQL records attendance</a:t>
            </a:r>
          </a:p>
        </p:txBody>
      </p:sp>
      <p:sp>
        <p:nvSpPr>
          <p:cNvPr id="11" name="">
            <a:extLst xmlns:a="http://schemas.openxmlformats.org/drawingml/2006/main">
              <a:ext uri="{FF2B5EF4-FFF2-40B4-BE49-F238E27FC236}">
                <a16:creationId xmlns:a16="http://schemas.microsoft.com/office/drawing/2014/main" id="{9DA83051-DB44-4FCF-99ED-74E7D723CBE5}"/>
              </a:ext>
            </a:extLst>
          </p:cNvPr>
          <p:cNvSpPr>
            <a:spLocks xmlns:a="http://schemas.openxmlformats.org/drawingml/2006/main" noGrp="1"/>
          </p:cNvSpPr>
          <p:nvPr/>
        </p:nvSpPr>
        <p:spPr>
          <a:xfrm xmlns:a="http://schemas.openxmlformats.org/drawingml/2006/main">
            <a:off x="1619250" y="56959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The result returns to the student’s attendance page.</a:t>
            </a:r>
          </a:p>
        </p:txBody>
      </p:sp>
    </p:spTree>
    <p:extLst>
      <p:ext uri="{BB962C8B-B14F-4D97-AF65-F5344CB8AC3E}">
        <p14:creationId xmlns:p14="http://schemas.microsoft.com/office/powerpoint/2010/main" val="580873849"/>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9FAC62-D134-41CD-9A8E-ADA4E82CCE6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What makes the QR demonstration meaningful</a:t>
            </a:r>
          </a:p>
        </p:txBody>
      </p:sp>
      <p:sp>
        <p:nvSpPr>
          <p:cNvPr id="2" name="">
            <a:extLst xmlns:a="http://schemas.openxmlformats.org/drawingml/2006/main">
              <a:ext uri="{FF2B5EF4-FFF2-40B4-BE49-F238E27FC236}">
                <a16:creationId xmlns:a16="http://schemas.microsoft.com/office/drawing/2014/main" id="{4CFC19F7-5CD8-41FA-9DC4-E2A86C0DC85D}"/>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9</a:t>
            </a:r>
          </a:p>
        </p:txBody>
      </p:sp>
      <p:sp>
        <p:nvSpPr>
          <p:cNvPr id="3" name="">
            <a:extLst xmlns:a="http://schemas.openxmlformats.org/drawingml/2006/main">
              <a:ext uri="{FF2B5EF4-FFF2-40B4-BE49-F238E27FC236}">
                <a16:creationId xmlns:a16="http://schemas.microsoft.com/office/drawing/2014/main" id="{5784F0CF-C876-452B-9F15-E0B2260D835B}"/>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OpenCV reads actual pixels from a photograph or saved QR image.</a:t>
            </a:r>
          </a:p>
        </p:txBody>
      </p:sp>
      <p:sp>
        <p:nvSpPr>
          <p:cNvPr id="4" name="">
            <a:extLst xmlns:a="http://schemas.openxmlformats.org/drawingml/2006/main">
              <a:ext uri="{FF2B5EF4-FFF2-40B4-BE49-F238E27FC236}">
                <a16:creationId xmlns:a16="http://schemas.microsoft.com/office/drawing/2014/main" id="{B61F0ECF-5D7F-48FC-B661-0E3A1F6F7F0E}"/>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A signed, expiring code identifies the lecturer’s course session.</a:t>
            </a:r>
          </a:p>
        </p:txBody>
      </p:sp>
      <p:sp>
        <p:nvSpPr>
          <p:cNvPr id="5" name="">
            <a:extLst xmlns:a="http://schemas.openxmlformats.org/drawingml/2006/main">
              <a:ext uri="{FF2B5EF4-FFF2-40B4-BE49-F238E27FC236}">
                <a16:creationId xmlns:a16="http://schemas.microsoft.com/office/drawing/2014/main" id="{34BC0644-6055-4554-BD5E-241A8EC5C8FD}"/>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The server rejects tampered codes and students outside the course.</a:t>
            </a:r>
          </a:p>
        </p:txBody>
      </p:sp>
      <p:sp>
        <p:nvSpPr>
          <p:cNvPr id="6" name="">
            <a:extLst xmlns:a="http://schemas.openxmlformats.org/drawingml/2006/main">
              <a:ext uri="{FF2B5EF4-FFF2-40B4-BE49-F238E27FC236}">
                <a16:creationId xmlns:a16="http://schemas.microsoft.com/office/drawing/2014/main" id="{A831E977-9BAF-4A50-BA48-F3399DCE4884}"/>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Repeated scans keep one attendance record for that course and day.</a:t>
            </a:r>
          </a:p>
        </p:txBody>
      </p:sp>
      <p:sp>
        <p:nvSpPr>
          <p:cNvPr id="7" name="">
            <a:extLst xmlns:a="http://schemas.openxmlformats.org/drawingml/2006/main">
              <a:ext uri="{FF2B5EF4-FFF2-40B4-BE49-F238E27FC236}">
                <a16:creationId xmlns:a16="http://schemas.microsoft.com/office/drawing/2014/main" id="{62FD7E77-B55C-4C7E-BD34-B106C7C31C87}"/>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The uploaded image stays in memory and is not saved.</a:t>
            </a:r>
          </a:p>
        </p:txBody>
      </p:sp>
    </p:spTree>
    <p:extLst>
      <p:ext uri="{BB962C8B-B14F-4D97-AF65-F5344CB8AC3E}">
        <p14:creationId xmlns:p14="http://schemas.microsoft.com/office/powerpoint/2010/main" val="1806515996"/>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FC809B-76ED-4678-B2AB-D94976F0D1F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Deep learning: early academic-risk network</a:t>
            </a:r>
          </a:p>
        </p:txBody>
      </p:sp>
      <p:sp>
        <p:nvSpPr>
          <p:cNvPr id="2" name="">
            <a:extLst xmlns:a="http://schemas.openxmlformats.org/drawingml/2006/main">
              <a:ext uri="{FF2B5EF4-FFF2-40B4-BE49-F238E27FC236}">
                <a16:creationId xmlns:a16="http://schemas.microsoft.com/office/drawing/2014/main" id="{B5BA29F1-9E27-4D98-ADB7-AC9ED1E9553B}"/>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10</a:t>
            </a:r>
          </a:p>
        </p:txBody>
      </p:sp>
      <p:sp>
        <p:nvSpPr>
          <p:cNvPr id="3" name="">
            <a:extLst xmlns:a="http://schemas.openxmlformats.org/drawingml/2006/main">
              <a:ext uri="{FF2B5EF4-FFF2-40B4-BE49-F238E27FC236}">
                <a16:creationId xmlns:a16="http://schemas.microsoft.com/office/drawing/2014/main" id="{30E624C9-E05D-4129-B2C5-9C22AD82ECB7}"/>
              </a:ext>
            </a:extLst>
          </p:cNvPr>
          <p:cNvSpPr>
            <a:spLocks xmlns:a="http://schemas.openxmlformats.org/drawingml/2006/main" noGrp="1"/>
          </p:cNvSpPr>
          <p:nvPr/>
        </p:nvSpPr>
        <p:spPr>
          <a:xfrm xmlns:a="http://schemas.openxmlformats.org/drawingml/2006/main">
            <a:off x="762000" y="2190750"/>
            <a:ext cx="2286000" cy="952500"/>
          </a:xfrm>
          <a:prstGeom xmlns:a="http://schemas.openxmlformats.org/drawingml/2006/main" prst="rect">
            <a:avLst/>
          </a:prstGeom>
          <a:solidFill xmlns:a="http://schemas.openxmlformats.org/drawingml/2006/main">
            <a:srgbClr val="162D44"/>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4 inputs</a:t>
            </a:r>
          </a:p>
        </p:txBody>
      </p:sp>
      <p:sp>
        <p:nvSpPr>
          <p:cNvPr id="4" name="">
            <a:extLst xmlns:a="http://schemas.openxmlformats.org/drawingml/2006/main">
              <a:ext uri="{FF2B5EF4-FFF2-40B4-BE49-F238E27FC236}">
                <a16:creationId xmlns:a16="http://schemas.microsoft.com/office/drawing/2014/main" id="{F089C1C0-7A47-457E-A02B-81FC10011C09}"/>
              </a:ext>
            </a:extLst>
          </p:cNvPr>
          <p:cNvSpPr>
            <a:spLocks xmlns:a="http://schemas.openxmlformats.org/drawingml/2006/main" noGrp="1"/>
          </p:cNvSpPr>
          <p:nvPr/>
        </p:nvSpPr>
        <p:spPr>
          <a:xfrm xmlns:a="http://schemas.openxmlformats.org/drawingml/2006/main">
            <a:off x="3162300" y="24193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526575"/>
                </a:solidFill>
                <a:latin typeface="Arial"/>
                <a:ea typeface="Arial"/>
                <a:cs typeface="Arial"/>
              </a:defRPr>
            </a:defPPr>
            <a:lvl1pPr>
              <a:defRPr sz="2700" b="0">
                <a:solidFill>
                  <a:srgbClr val="526575"/>
                </a:solidFill>
                <a:latin typeface="Arial"/>
                <a:ea typeface="Arial"/>
                <a:cs typeface="Arial"/>
              </a:defRPr>
            </a:lvl1pPr>
            <a:lvl2pPr>
              <a:defRPr sz="2700" b="0">
                <a:solidFill>
                  <a:srgbClr val="526575"/>
                </a:solidFill>
                <a:latin typeface="Arial"/>
                <a:ea typeface="Arial"/>
                <a:cs typeface="Arial"/>
              </a:defRPr>
            </a:lvl2pPr>
            <a:lvl3pPr>
              <a:defRPr sz="2700" b="0">
                <a:solidFill>
                  <a:srgbClr val="526575"/>
                </a:solidFill>
                <a:latin typeface="Arial"/>
                <a:ea typeface="Arial"/>
                <a:cs typeface="Arial"/>
              </a:defRPr>
            </a:lvl3pPr>
            <a:lvl4pPr>
              <a:defRPr sz="2700" b="0">
                <a:solidFill>
                  <a:srgbClr val="526575"/>
                </a:solidFill>
                <a:latin typeface="Arial"/>
                <a:ea typeface="Arial"/>
                <a:cs typeface="Arial"/>
              </a:defRPr>
            </a:lvl4pPr>
            <a:lvl5pPr>
              <a:defRPr sz="2700" b="0">
                <a:solidFill>
                  <a:srgbClr val="526575"/>
                </a:solidFill>
                <a:latin typeface="Arial"/>
                <a:ea typeface="Arial"/>
                <a:cs typeface="Arial"/>
              </a:defRPr>
            </a:lvl5pPr>
            <a:lvl6pPr>
              <a:defRPr sz="2700" b="0">
                <a:solidFill>
                  <a:srgbClr val="526575"/>
                </a:solidFill>
                <a:latin typeface="Arial"/>
                <a:ea typeface="Arial"/>
                <a:cs typeface="Arial"/>
              </a:defRPr>
            </a:lvl6pPr>
            <a:lvl7pPr>
              <a:defRPr sz="2700" b="0">
                <a:solidFill>
                  <a:srgbClr val="526575"/>
                </a:solidFill>
                <a:latin typeface="Arial"/>
                <a:ea typeface="Arial"/>
                <a:cs typeface="Arial"/>
              </a:defRPr>
            </a:lvl7pPr>
            <a:lvl8pPr>
              <a:defRPr sz="2700" b="0">
                <a:solidFill>
                  <a:srgbClr val="526575"/>
                </a:solidFill>
                <a:latin typeface="Arial"/>
                <a:ea typeface="Arial"/>
                <a:cs typeface="Arial"/>
              </a:defRPr>
            </a:lvl8pPr>
            <a:lvl9pPr>
              <a:defRPr sz="2700" b="0">
                <a:solidFill>
                  <a:srgbClr val="526575"/>
                </a:solidFill>
                <a:latin typeface="Arial"/>
                <a:ea typeface="Arial"/>
                <a:cs typeface="Arial"/>
              </a:defRPr>
            </a:lvl9pPr>
          </a:lstStyle>
          <a:p xmlns:a="http://schemas.openxmlformats.org/drawingml/2006/main">
            <a:pPr>
              <a:defRPr sz="2700" b="0">
                <a:solidFill>
                  <a:srgbClr val="526575"/>
                </a:solidFill>
                <a:latin typeface="Arial"/>
                <a:ea typeface="Arial"/>
                <a:cs typeface="Arial"/>
              </a:defRPr>
            </a:pPr>
            <a:r>
              <a:rPr sz="2700" b="0">
                <a:solidFill>
                  <a:srgbClr val="526575"/>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7DE05522-8E12-4E31-B086-AB83362D4D91}"/>
              </a:ext>
            </a:extLst>
          </p:cNvPr>
          <p:cNvSpPr>
            <a:spLocks xmlns:a="http://schemas.openxmlformats.org/drawingml/2006/main" noGrp="1"/>
          </p:cNvSpPr>
          <p:nvPr/>
        </p:nvSpPr>
        <p:spPr>
          <a:xfrm xmlns:a="http://schemas.openxmlformats.org/drawingml/2006/main">
            <a:off x="3619500" y="2190750"/>
            <a:ext cx="2286000" cy="952500"/>
          </a:xfrm>
          <a:prstGeom xmlns:a="http://schemas.openxmlformats.org/drawingml/2006/main" prst="rect">
            <a:avLst/>
          </a:prstGeom>
          <a:solidFill xmlns:a="http://schemas.openxmlformats.org/drawingml/2006/main">
            <a:srgbClr val="087F83"/>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32 ReLU units</a:t>
            </a:r>
          </a:p>
        </p:txBody>
      </p:sp>
      <p:sp>
        <p:nvSpPr>
          <p:cNvPr id="6" name="">
            <a:extLst xmlns:a="http://schemas.openxmlformats.org/drawingml/2006/main">
              <a:ext uri="{FF2B5EF4-FFF2-40B4-BE49-F238E27FC236}">
                <a16:creationId xmlns:a16="http://schemas.microsoft.com/office/drawing/2014/main" id="{923C8983-687F-405F-B215-3A768B808C11}"/>
              </a:ext>
            </a:extLst>
          </p:cNvPr>
          <p:cNvSpPr>
            <a:spLocks xmlns:a="http://schemas.openxmlformats.org/drawingml/2006/main" noGrp="1"/>
          </p:cNvSpPr>
          <p:nvPr/>
        </p:nvSpPr>
        <p:spPr>
          <a:xfrm xmlns:a="http://schemas.openxmlformats.org/drawingml/2006/main">
            <a:off x="6019800" y="24193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526575"/>
                </a:solidFill>
                <a:latin typeface="Arial"/>
                <a:ea typeface="Arial"/>
                <a:cs typeface="Arial"/>
              </a:defRPr>
            </a:defPPr>
            <a:lvl1pPr>
              <a:defRPr sz="2700" b="0">
                <a:solidFill>
                  <a:srgbClr val="526575"/>
                </a:solidFill>
                <a:latin typeface="Arial"/>
                <a:ea typeface="Arial"/>
                <a:cs typeface="Arial"/>
              </a:defRPr>
            </a:lvl1pPr>
            <a:lvl2pPr>
              <a:defRPr sz="2700" b="0">
                <a:solidFill>
                  <a:srgbClr val="526575"/>
                </a:solidFill>
                <a:latin typeface="Arial"/>
                <a:ea typeface="Arial"/>
                <a:cs typeface="Arial"/>
              </a:defRPr>
            </a:lvl2pPr>
            <a:lvl3pPr>
              <a:defRPr sz="2700" b="0">
                <a:solidFill>
                  <a:srgbClr val="526575"/>
                </a:solidFill>
                <a:latin typeface="Arial"/>
                <a:ea typeface="Arial"/>
                <a:cs typeface="Arial"/>
              </a:defRPr>
            </a:lvl3pPr>
            <a:lvl4pPr>
              <a:defRPr sz="2700" b="0">
                <a:solidFill>
                  <a:srgbClr val="526575"/>
                </a:solidFill>
                <a:latin typeface="Arial"/>
                <a:ea typeface="Arial"/>
                <a:cs typeface="Arial"/>
              </a:defRPr>
            </a:lvl4pPr>
            <a:lvl5pPr>
              <a:defRPr sz="2700" b="0">
                <a:solidFill>
                  <a:srgbClr val="526575"/>
                </a:solidFill>
                <a:latin typeface="Arial"/>
                <a:ea typeface="Arial"/>
                <a:cs typeface="Arial"/>
              </a:defRPr>
            </a:lvl5pPr>
            <a:lvl6pPr>
              <a:defRPr sz="2700" b="0">
                <a:solidFill>
                  <a:srgbClr val="526575"/>
                </a:solidFill>
                <a:latin typeface="Arial"/>
                <a:ea typeface="Arial"/>
                <a:cs typeface="Arial"/>
              </a:defRPr>
            </a:lvl6pPr>
            <a:lvl7pPr>
              <a:defRPr sz="2700" b="0">
                <a:solidFill>
                  <a:srgbClr val="526575"/>
                </a:solidFill>
                <a:latin typeface="Arial"/>
                <a:ea typeface="Arial"/>
                <a:cs typeface="Arial"/>
              </a:defRPr>
            </a:lvl7pPr>
            <a:lvl8pPr>
              <a:defRPr sz="2700" b="0">
                <a:solidFill>
                  <a:srgbClr val="526575"/>
                </a:solidFill>
                <a:latin typeface="Arial"/>
                <a:ea typeface="Arial"/>
                <a:cs typeface="Arial"/>
              </a:defRPr>
            </a:lvl8pPr>
            <a:lvl9pPr>
              <a:defRPr sz="2700" b="0">
                <a:solidFill>
                  <a:srgbClr val="526575"/>
                </a:solidFill>
                <a:latin typeface="Arial"/>
                <a:ea typeface="Arial"/>
                <a:cs typeface="Arial"/>
              </a:defRPr>
            </a:lvl9pPr>
          </a:lstStyle>
          <a:p xmlns:a="http://schemas.openxmlformats.org/drawingml/2006/main">
            <a:pPr>
              <a:defRPr sz="2700" b="0">
                <a:solidFill>
                  <a:srgbClr val="526575"/>
                </a:solidFill>
                <a:latin typeface="Arial"/>
                <a:ea typeface="Arial"/>
                <a:cs typeface="Arial"/>
              </a:defRPr>
            </a:pPr>
            <a:r>
              <a:rPr sz="2700" b="0">
                <a:solidFill>
                  <a:srgbClr val="526575"/>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C88630F4-1D5C-4B01-83FD-70C5E68848E0}"/>
              </a:ext>
            </a:extLst>
          </p:cNvPr>
          <p:cNvSpPr>
            <a:spLocks xmlns:a="http://schemas.openxmlformats.org/drawingml/2006/main" noGrp="1"/>
          </p:cNvSpPr>
          <p:nvPr/>
        </p:nvSpPr>
        <p:spPr>
          <a:xfrm xmlns:a="http://schemas.openxmlformats.org/drawingml/2006/main">
            <a:off x="6477000" y="2190750"/>
            <a:ext cx="2286000" cy="952500"/>
          </a:xfrm>
          <a:prstGeom xmlns:a="http://schemas.openxmlformats.org/drawingml/2006/main" prst="rect">
            <a:avLst/>
          </a:prstGeom>
          <a:solidFill xmlns:a="http://schemas.openxmlformats.org/drawingml/2006/main">
            <a:srgbClr val="087F83"/>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16 ReLU units</a:t>
            </a:r>
          </a:p>
        </p:txBody>
      </p:sp>
      <p:sp>
        <p:nvSpPr>
          <p:cNvPr id="8" name="">
            <a:extLst xmlns:a="http://schemas.openxmlformats.org/drawingml/2006/main">
              <a:ext uri="{FF2B5EF4-FFF2-40B4-BE49-F238E27FC236}">
                <a16:creationId xmlns:a16="http://schemas.microsoft.com/office/drawing/2014/main" id="{80B99F18-15AE-4EEF-A3E5-1523C49CE394}"/>
              </a:ext>
            </a:extLst>
          </p:cNvPr>
          <p:cNvSpPr>
            <a:spLocks xmlns:a="http://schemas.openxmlformats.org/drawingml/2006/main" noGrp="1"/>
          </p:cNvSpPr>
          <p:nvPr/>
        </p:nvSpPr>
        <p:spPr>
          <a:xfrm xmlns:a="http://schemas.openxmlformats.org/drawingml/2006/main">
            <a:off x="8877300" y="24193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526575"/>
                </a:solidFill>
                <a:latin typeface="Arial"/>
                <a:ea typeface="Arial"/>
                <a:cs typeface="Arial"/>
              </a:defRPr>
            </a:defPPr>
            <a:lvl1pPr>
              <a:defRPr sz="2700" b="0">
                <a:solidFill>
                  <a:srgbClr val="526575"/>
                </a:solidFill>
                <a:latin typeface="Arial"/>
                <a:ea typeface="Arial"/>
                <a:cs typeface="Arial"/>
              </a:defRPr>
            </a:lvl1pPr>
            <a:lvl2pPr>
              <a:defRPr sz="2700" b="0">
                <a:solidFill>
                  <a:srgbClr val="526575"/>
                </a:solidFill>
                <a:latin typeface="Arial"/>
                <a:ea typeface="Arial"/>
                <a:cs typeface="Arial"/>
              </a:defRPr>
            </a:lvl2pPr>
            <a:lvl3pPr>
              <a:defRPr sz="2700" b="0">
                <a:solidFill>
                  <a:srgbClr val="526575"/>
                </a:solidFill>
                <a:latin typeface="Arial"/>
                <a:ea typeface="Arial"/>
                <a:cs typeface="Arial"/>
              </a:defRPr>
            </a:lvl3pPr>
            <a:lvl4pPr>
              <a:defRPr sz="2700" b="0">
                <a:solidFill>
                  <a:srgbClr val="526575"/>
                </a:solidFill>
                <a:latin typeface="Arial"/>
                <a:ea typeface="Arial"/>
                <a:cs typeface="Arial"/>
              </a:defRPr>
            </a:lvl4pPr>
            <a:lvl5pPr>
              <a:defRPr sz="2700" b="0">
                <a:solidFill>
                  <a:srgbClr val="526575"/>
                </a:solidFill>
                <a:latin typeface="Arial"/>
                <a:ea typeface="Arial"/>
                <a:cs typeface="Arial"/>
              </a:defRPr>
            </a:lvl5pPr>
            <a:lvl6pPr>
              <a:defRPr sz="2700" b="0">
                <a:solidFill>
                  <a:srgbClr val="526575"/>
                </a:solidFill>
                <a:latin typeface="Arial"/>
                <a:ea typeface="Arial"/>
                <a:cs typeface="Arial"/>
              </a:defRPr>
            </a:lvl6pPr>
            <a:lvl7pPr>
              <a:defRPr sz="2700" b="0">
                <a:solidFill>
                  <a:srgbClr val="526575"/>
                </a:solidFill>
                <a:latin typeface="Arial"/>
                <a:ea typeface="Arial"/>
                <a:cs typeface="Arial"/>
              </a:defRPr>
            </a:lvl7pPr>
            <a:lvl8pPr>
              <a:defRPr sz="2700" b="0">
                <a:solidFill>
                  <a:srgbClr val="526575"/>
                </a:solidFill>
                <a:latin typeface="Arial"/>
                <a:ea typeface="Arial"/>
                <a:cs typeface="Arial"/>
              </a:defRPr>
            </a:lvl8pPr>
            <a:lvl9pPr>
              <a:defRPr sz="2700" b="0">
                <a:solidFill>
                  <a:srgbClr val="526575"/>
                </a:solidFill>
                <a:latin typeface="Arial"/>
                <a:ea typeface="Arial"/>
                <a:cs typeface="Arial"/>
              </a:defRPr>
            </a:lvl9pPr>
          </a:lstStyle>
          <a:p xmlns:a="http://schemas.openxmlformats.org/drawingml/2006/main">
            <a:pPr>
              <a:defRPr sz="2700" b="0">
                <a:solidFill>
                  <a:srgbClr val="526575"/>
                </a:solidFill>
                <a:latin typeface="Arial"/>
                <a:ea typeface="Arial"/>
                <a:cs typeface="Arial"/>
              </a:defRPr>
            </a:pPr>
            <a:r>
              <a:rPr sz="2700" b="0">
                <a:solidFill>
                  <a:srgbClr val="526575"/>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7D1AC23A-8E26-42DB-A7D9-99509DAF9439}"/>
              </a:ext>
            </a:extLst>
          </p:cNvPr>
          <p:cNvSpPr>
            <a:spLocks xmlns:a="http://schemas.openxmlformats.org/drawingml/2006/main" noGrp="1"/>
          </p:cNvSpPr>
          <p:nvPr/>
        </p:nvSpPr>
        <p:spPr>
          <a:xfrm xmlns:a="http://schemas.openxmlformats.org/drawingml/2006/main">
            <a:off x="9334500" y="2190750"/>
            <a:ext cx="2095500" cy="952500"/>
          </a:xfrm>
          <a:prstGeom xmlns:a="http://schemas.openxmlformats.org/drawingml/2006/main" prst="rect">
            <a:avLst/>
          </a:prstGeom>
          <a:solidFill xmlns:a="http://schemas.openxmlformats.org/drawingml/2006/main">
            <a:srgbClr val="162D44"/>
          </a:solidFill>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1 sigmoid</a:t>
            </a:r>
          </a:p>
        </p:txBody>
      </p:sp>
      <p:sp>
        <p:nvSpPr>
          <p:cNvPr id="10" name="">
            <a:extLst xmlns:a="http://schemas.openxmlformats.org/drawingml/2006/main">
              <a:ext uri="{FF2B5EF4-FFF2-40B4-BE49-F238E27FC236}">
                <a16:creationId xmlns:a16="http://schemas.microsoft.com/office/drawing/2014/main" id="{4E01A78C-2FEE-4250-A6F0-3223D908472D}"/>
              </a:ext>
            </a:extLst>
          </p:cNvPr>
          <p:cNvSpPr>
            <a:spLocks xmlns:a="http://schemas.openxmlformats.org/drawingml/2006/main" noGrp="1"/>
          </p:cNvSpPr>
          <p:nvPr/>
        </p:nvSpPr>
        <p:spPr>
          <a:xfrm xmlns:a="http://schemas.openxmlformats.org/drawingml/2006/main">
            <a:off x="762000" y="3762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D44"/>
                </a:solidFill>
                <a:latin typeface="Arial"/>
                <a:ea typeface="Arial"/>
                <a:cs typeface="Arial"/>
              </a:defRPr>
            </a:defPPr>
            <a:lvl1pPr>
              <a:defRPr sz="2175" b="0">
                <a:solidFill>
                  <a:srgbClr val="162D44"/>
                </a:solidFill>
                <a:latin typeface="Arial"/>
                <a:ea typeface="Arial"/>
                <a:cs typeface="Arial"/>
              </a:defRPr>
            </a:lvl1pPr>
            <a:lvl2pPr>
              <a:defRPr sz="2175" b="0">
                <a:solidFill>
                  <a:srgbClr val="162D44"/>
                </a:solidFill>
                <a:latin typeface="Arial"/>
                <a:ea typeface="Arial"/>
                <a:cs typeface="Arial"/>
              </a:defRPr>
            </a:lvl2pPr>
            <a:lvl3pPr>
              <a:defRPr sz="2175" b="0">
                <a:solidFill>
                  <a:srgbClr val="162D44"/>
                </a:solidFill>
                <a:latin typeface="Arial"/>
                <a:ea typeface="Arial"/>
                <a:cs typeface="Arial"/>
              </a:defRPr>
            </a:lvl3pPr>
            <a:lvl4pPr>
              <a:defRPr sz="2175" b="0">
                <a:solidFill>
                  <a:srgbClr val="162D44"/>
                </a:solidFill>
                <a:latin typeface="Arial"/>
                <a:ea typeface="Arial"/>
                <a:cs typeface="Arial"/>
              </a:defRPr>
            </a:lvl4pPr>
            <a:lvl5pPr>
              <a:defRPr sz="2175" b="0">
                <a:solidFill>
                  <a:srgbClr val="162D44"/>
                </a:solidFill>
                <a:latin typeface="Arial"/>
                <a:ea typeface="Arial"/>
                <a:cs typeface="Arial"/>
              </a:defRPr>
            </a:lvl5pPr>
            <a:lvl6pPr>
              <a:defRPr sz="2175" b="0">
                <a:solidFill>
                  <a:srgbClr val="162D44"/>
                </a:solidFill>
                <a:latin typeface="Arial"/>
                <a:ea typeface="Arial"/>
                <a:cs typeface="Arial"/>
              </a:defRPr>
            </a:lvl6pPr>
            <a:lvl7pPr>
              <a:defRPr sz="2175" b="0">
                <a:solidFill>
                  <a:srgbClr val="162D44"/>
                </a:solidFill>
                <a:latin typeface="Arial"/>
                <a:ea typeface="Arial"/>
                <a:cs typeface="Arial"/>
              </a:defRPr>
            </a:lvl7pPr>
            <a:lvl8pPr>
              <a:defRPr sz="2175" b="0">
                <a:solidFill>
                  <a:srgbClr val="162D44"/>
                </a:solidFill>
                <a:latin typeface="Arial"/>
                <a:ea typeface="Arial"/>
                <a:cs typeface="Arial"/>
              </a:defRPr>
            </a:lvl8pPr>
            <a:lvl9pPr>
              <a:defRPr sz="2175" b="0">
                <a:solidFill>
                  <a:srgbClr val="162D44"/>
                </a:solidFill>
                <a:latin typeface="Arial"/>
                <a:ea typeface="Arial"/>
                <a:cs typeface="Arial"/>
              </a:defRPr>
            </a:lvl9pPr>
          </a:lstStyle>
          <a:p xmlns:a="http://schemas.openxmlformats.org/drawingml/2006/main">
            <a:pPr>
              <a:defRPr sz="2175" b="0">
                <a:solidFill>
                  <a:srgbClr val="162D44"/>
                </a:solidFill>
                <a:latin typeface="Arial"/>
                <a:ea typeface="Arial"/>
                <a:cs typeface="Arial"/>
              </a:defRPr>
            </a:pPr>
            <a:r>
              <a:rPr sz="2175" b="0">
                <a:solidFill>
                  <a:srgbClr val="162D44"/>
                </a:solidFill>
                <a:latin typeface="Arial"/>
                <a:ea typeface="Arial"/>
                <a:cs typeface="Arial"/>
              </a:rPr>
              <a:t>Previous average • attendance • early assessment • credit load</a:t>
            </a:r>
          </a:p>
        </p:txBody>
      </p:sp>
      <p:sp>
        <p:nvSpPr>
          <p:cNvPr id="11" name="">
            <a:extLst xmlns:a="http://schemas.openxmlformats.org/drawingml/2006/main">
              <a:ext uri="{FF2B5EF4-FFF2-40B4-BE49-F238E27FC236}">
                <a16:creationId xmlns:a16="http://schemas.microsoft.com/office/drawing/2014/main" id="{38A12981-BA12-4B4F-816B-E31802990484}"/>
              </a:ext>
            </a:extLst>
          </p:cNvPr>
          <p:cNvSpPr>
            <a:spLocks xmlns:a="http://schemas.openxmlformats.org/drawingml/2006/main" noGrp="1"/>
          </p:cNvSpPr>
          <p:nvPr/>
        </p:nvSpPr>
        <p:spPr>
          <a:xfrm xmlns:a="http://schemas.openxmlformats.org/drawingml/2006/main">
            <a:off x="762000" y="4572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62D44"/>
                </a:solidFill>
                <a:latin typeface="Arial"/>
                <a:ea typeface="Arial"/>
                <a:cs typeface="Arial"/>
              </a:defRPr>
            </a:defPPr>
            <a:lvl1pPr>
              <a:defRPr sz="2175" b="0">
                <a:solidFill>
                  <a:srgbClr val="162D44"/>
                </a:solidFill>
                <a:latin typeface="Arial"/>
                <a:ea typeface="Arial"/>
                <a:cs typeface="Arial"/>
              </a:defRPr>
            </a:lvl1pPr>
            <a:lvl2pPr>
              <a:defRPr sz="2175" b="0">
                <a:solidFill>
                  <a:srgbClr val="162D44"/>
                </a:solidFill>
                <a:latin typeface="Arial"/>
                <a:ea typeface="Arial"/>
                <a:cs typeface="Arial"/>
              </a:defRPr>
            </a:lvl2pPr>
            <a:lvl3pPr>
              <a:defRPr sz="2175" b="0">
                <a:solidFill>
                  <a:srgbClr val="162D44"/>
                </a:solidFill>
                <a:latin typeface="Arial"/>
                <a:ea typeface="Arial"/>
                <a:cs typeface="Arial"/>
              </a:defRPr>
            </a:lvl3pPr>
            <a:lvl4pPr>
              <a:defRPr sz="2175" b="0">
                <a:solidFill>
                  <a:srgbClr val="162D44"/>
                </a:solidFill>
                <a:latin typeface="Arial"/>
                <a:ea typeface="Arial"/>
                <a:cs typeface="Arial"/>
              </a:defRPr>
            </a:lvl4pPr>
            <a:lvl5pPr>
              <a:defRPr sz="2175" b="0">
                <a:solidFill>
                  <a:srgbClr val="162D44"/>
                </a:solidFill>
                <a:latin typeface="Arial"/>
                <a:ea typeface="Arial"/>
                <a:cs typeface="Arial"/>
              </a:defRPr>
            </a:lvl5pPr>
            <a:lvl6pPr>
              <a:defRPr sz="2175" b="0">
                <a:solidFill>
                  <a:srgbClr val="162D44"/>
                </a:solidFill>
                <a:latin typeface="Arial"/>
                <a:ea typeface="Arial"/>
                <a:cs typeface="Arial"/>
              </a:defRPr>
            </a:lvl6pPr>
            <a:lvl7pPr>
              <a:defRPr sz="2175" b="0">
                <a:solidFill>
                  <a:srgbClr val="162D44"/>
                </a:solidFill>
                <a:latin typeface="Arial"/>
                <a:ea typeface="Arial"/>
                <a:cs typeface="Arial"/>
              </a:defRPr>
            </a:lvl7pPr>
            <a:lvl8pPr>
              <a:defRPr sz="2175" b="0">
                <a:solidFill>
                  <a:srgbClr val="162D44"/>
                </a:solidFill>
                <a:latin typeface="Arial"/>
                <a:ea typeface="Arial"/>
                <a:cs typeface="Arial"/>
              </a:defRPr>
            </a:lvl8pPr>
            <a:lvl9pPr>
              <a:defRPr sz="2175" b="0">
                <a:solidFill>
                  <a:srgbClr val="162D44"/>
                </a:solidFill>
                <a:latin typeface="Arial"/>
                <a:ea typeface="Arial"/>
                <a:cs typeface="Arial"/>
              </a:defRPr>
            </a:lvl9pPr>
          </a:lstStyle>
          <a:p xmlns:a="http://schemas.openxmlformats.org/drawingml/2006/main">
            <a:pPr>
              <a:defRPr sz="2175" b="0">
                <a:solidFill>
                  <a:srgbClr val="162D44"/>
                </a:solidFill>
                <a:latin typeface="Arial"/>
                <a:ea typeface="Arial"/>
                <a:cs typeface="Arial"/>
              </a:defRPr>
            </a:pPr>
            <a:r>
              <a:rPr sz="2175" b="0">
                <a:solidFill>
                  <a:srgbClr val="162D44"/>
                </a:solidFill>
                <a:latin typeface="Arial"/>
                <a:ea typeface="Arial"/>
                <a:cs typeface="Arial"/>
              </a:rPr>
              <a:t>Target: a later failure outcome after the recorded snapshot date</a:t>
            </a:r>
          </a:p>
        </p:txBody>
      </p:sp>
      <p:sp>
        <p:nvSpPr>
          <p:cNvPr id="12" name="">
            <a:extLst xmlns:a="http://schemas.openxmlformats.org/drawingml/2006/main">
              <a:ext uri="{FF2B5EF4-FFF2-40B4-BE49-F238E27FC236}">
                <a16:creationId xmlns:a16="http://schemas.microsoft.com/office/drawing/2014/main" id="{00495F5E-9CBA-4609-9FAC-5372641F0A38}"/>
              </a:ext>
            </a:extLst>
          </p:cNvPr>
          <p:cNvSpPr>
            <a:spLocks xmlns:a="http://schemas.openxmlformats.org/drawingml/2006/main" noGrp="1"/>
          </p:cNvSpPr>
          <p:nvPr/>
        </p:nvSpPr>
        <p:spPr>
          <a:xfrm xmlns:a="http://schemas.openxmlformats.org/drawingml/2006/main">
            <a:off x="762000"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Advisory experiment. No automatic changes to academic records.</a:t>
            </a:r>
          </a:p>
        </p:txBody>
      </p:sp>
    </p:spTree>
    <p:extLst>
      <p:ext uri="{BB962C8B-B14F-4D97-AF65-F5344CB8AC3E}">
        <p14:creationId xmlns:p14="http://schemas.microsoft.com/office/powerpoint/2010/main" val="1565938728"/>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81728F-C7D1-44F7-B819-292E6C8CB35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Training data and evaluation design</a:t>
            </a:r>
          </a:p>
        </p:txBody>
      </p:sp>
      <p:sp>
        <p:nvSpPr>
          <p:cNvPr id="2" name="">
            <a:extLst xmlns:a="http://schemas.openxmlformats.org/drawingml/2006/main">
              <a:ext uri="{FF2B5EF4-FFF2-40B4-BE49-F238E27FC236}">
                <a16:creationId xmlns:a16="http://schemas.microsoft.com/office/drawing/2014/main" id="{837E684F-5920-440D-87F7-494E4FE1B794}"/>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11</a:t>
            </a:r>
          </a:p>
        </p:txBody>
      </p:sp>
      <p:sp>
        <p:nvSpPr>
          <p:cNvPr id="3" name="">
            <a:extLst xmlns:a="http://schemas.openxmlformats.org/drawingml/2006/main">
              <a:ext uri="{FF2B5EF4-FFF2-40B4-BE49-F238E27FC236}">
                <a16:creationId xmlns:a16="http://schemas.microsoft.com/office/drawing/2014/main" id="{3E84D832-6D15-42C7-903E-20B0B750D1D7}"/>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600 synthetic student snapshots for a reproducible classroom experiment.</a:t>
            </a:r>
          </a:p>
        </p:txBody>
      </p:sp>
      <p:sp>
        <p:nvSpPr>
          <p:cNvPr id="4" name="">
            <a:extLst xmlns:a="http://schemas.openxmlformats.org/drawingml/2006/main">
              <a:ext uri="{FF2B5EF4-FFF2-40B4-BE49-F238E27FC236}">
                <a16:creationId xmlns:a16="http://schemas.microsoft.com/office/drawing/2014/main" id="{6CEE516C-951C-42D1-AB2F-163DE51A1B85}"/>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359 training students, 120 validation students and 121 test students.</a:t>
            </a:r>
          </a:p>
        </p:txBody>
      </p:sp>
      <p:sp>
        <p:nvSpPr>
          <p:cNvPr id="5" name="">
            <a:extLst xmlns:a="http://schemas.openxmlformats.org/drawingml/2006/main">
              <a:ext uri="{FF2B5EF4-FFF2-40B4-BE49-F238E27FC236}">
                <a16:creationId xmlns:a16="http://schemas.microsoft.com/office/drawing/2014/main" id="{E5529301-F0BD-4FE1-850E-008FA9D82C47}"/>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Fit normalization on training data only; stop using validation loss.</a:t>
            </a:r>
          </a:p>
        </p:txBody>
      </p:sp>
      <p:sp>
        <p:nvSpPr>
          <p:cNvPr id="6" name="">
            <a:extLst xmlns:a="http://schemas.openxmlformats.org/drawingml/2006/main">
              <a:ext uri="{FF2B5EF4-FFF2-40B4-BE49-F238E27FC236}">
                <a16:creationId xmlns:a16="http://schemas.microsoft.com/office/drawing/2014/main" id="{4197CDDC-630F-4A64-8475-C8AC15C8B587}"/>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Compare against logistic regression using the same features and splits.</a:t>
            </a:r>
          </a:p>
        </p:txBody>
      </p:sp>
      <p:sp>
        <p:nvSpPr>
          <p:cNvPr id="7" name="">
            <a:extLst xmlns:a="http://schemas.openxmlformats.org/drawingml/2006/main">
              <a:ext uri="{FF2B5EF4-FFF2-40B4-BE49-F238E27FC236}">
                <a16:creationId xmlns:a16="http://schemas.microsoft.com/office/drawing/2014/main" id="{734C05DE-0FC7-4480-8BF9-C5D2F8F575F7}"/>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Use observed historical outcomes before claiming institutional accuracy.</a:t>
            </a:r>
          </a:p>
        </p:txBody>
      </p:sp>
    </p:spTree>
    <p:extLst>
      <p:ext uri="{BB962C8B-B14F-4D97-AF65-F5344CB8AC3E}">
        <p14:creationId xmlns:p14="http://schemas.microsoft.com/office/powerpoint/2010/main" val="634061350"/>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AD7F30-66EC-40BC-9DAF-296C8F9B6A6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Held-out results on synthetic data</a:t>
            </a:r>
          </a:p>
        </p:txBody>
      </p:sp>
      <p:sp>
        <p:nvSpPr>
          <p:cNvPr id="2" name="">
            <a:extLst xmlns:a="http://schemas.openxmlformats.org/drawingml/2006/main">
              <a:ext uri="{FF2B5EF4-FFF2-40B4-BE49-F238E27FC236}">
                <a16:creationId xmlns:a16="http://schemas.microsoft.com/office/drawing/2014/main" id="{7E69DBCF-E877-40D5-9E37-F64756A72866}"/>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12</a:t>
            </a:r>
          </a:p>
        </p:txBody>
      </p:sp>
      <p:graphicFrame>
        <p:nvGraphicFramePr>
          <p:cNvPr id="3" name="">
            <a:extLst xmlns:a="http://schemas.openxmlformats.org/drawingml/2006/main">
              <a:ext uri="{FF2B5EF4-FFF2-40B4-BE49-F238E27FC236}">
                <a16:creationId xmlns:a16="http://schemas.microsoft.com/office/drawing/2014/main" id="{E59AD591-0BF5-41F0-9042-B22F410DDCC3}"/>
              </a:ext>
            </a:extLst>
          </p:cNvPr>
          <p:cNvGraphicFramePr/>
          <p:nvPr/>
        </p:nvGraphicFramePr>
        <p:xfrm>
          <a:off xmlns:a="http://schemas.openxmlformats.org/drawingml/2006/main" x="609600" y="1905000"/>
          <a:ext xmlns:a="http://schemas.openxmlformats.org/drawingml/2006/main" cx="10972800" cy="2095500"/>
        </p:xfrm>
        <a:graphic xmlns:a="http://schemas.openxmlformats.org/drawingml/2006/main">
          <a:graphicData uri="http://schemas.openxmlformats.org/drawingml/2006/table">
            <a:tbl>
              <a:tblPr/>
              <a:tblGrid>
                <a:gridCol w="2857500"/>
                <a:gridCol w="2000250"/>
                <a:gridCol w="2095500"/>
                <a:gridCol w="2000250"/>
                <a:gridCol w="2019300"/>
              </a:tblGrid>
              <a:tr h="698500">
                <a:tc>
                  <a:txBody>
                    <a:bodyPr/>
                    <a:lstStyle/>
                    <a:p>
                      <a:r>
                        <a:rPr sz="1725" b="1">
                          <a:solidFill>
                            <a:srgbClr val="FFFFFF"/>
                          </a:solidFill>
                          <a:latin typeface="Arial"/>
                          <a:ea typeface="Arial"/>
                          <a:cs typeface="Arial"/>
                        </a:rPr>
                        <a:t>Model</a:t>
                      </a:r>
                    </a:p>
                  </a:txBody>
                  <a:tcPr marL="91440" marR="91440" marT="45720" marB="45720">
                    <a:solidFill>
                      <a:srgbClr val="162D44"/>
                    </a:solidFill>
                  </a:tcPr>
                </a:tc>
                <a:tc>
                  <a:txBody>
                    <a:bodyPr/>
                    <a:lstStyle/>
                    <a:p>
                      <a:r>
                        <a:rPr sz="1725" b="1">
                          <a:solidFill>
                            <a:srgbClr val="FFFFFF"/>
                          </a:solidFill>
                          <a:latin typeface="Arial"/>
                          <a:ea typeface="Arial"/>
                          <a:cs typeface="Arial"/>
                        </a:rPr>
                        <a:t>Validation F1</a:t>
                      </a:r>
                    </a:p>
                  </a:txBody>
                  <a:tcPr marL="91440" marR="91440" marT="45720" marB="45720">
                    <a:solidFill>
                      <a:srgbClr val="162D44"/>
                    </a:solidFill>
                  </a:tcPr>
                </a:tc>
                <a:tc>
                  <a:txBody>
                    <a:bodyPr/>
                    <a:lstStyle/>
                    <a:p>
                      <a:r>
                        <a:rPr sz="1725" b="1">
                          <a:solidFill>
                            <a:srgbClr val="FFFFFF"/>
                          </a:solidFill>
                          <a:latin typeface="Arial"/>
                          <a:ea typeface="Arial"/>
                          <a:cs typeface="Arial"/>
                        </a:rPr>
                        <a:t>Test precision</a:t>
                      </a:r>
                    </a:p>
                  </a:txBody>
                  <a:tcPr marL="91440" marR="91440" marT="45720" marB="45720">
                    <a:solidFill>
                      <a:srgbClr val="162D44"/>
                    </a:solidFill>
                  </a:tcPr>
                </a:tc>
                <a:tc>
                  <a:txBody>
                    <a:bodyPr/>
                    <a:lstStyle/>
                    <a:p>
                      <a:r>
                        <a:rPr sz="1725" b="1">
                          <a:solidFill>
                            <a:srgbClr val="FFFFFF"/>
                          </a:solidFill>
                          <a:latin typeface="Arial"/>
                          <a:ea typeface="Arial"/>
                          <a:cs typeface="Arial"/>
                        </a:rPr>
                        <a:t>Test recall</a:t>
                      </a:r>
                    </a:p>
                  </a:txBody>
                  <a:tcPr marL="91440" marR="91440" marT="45720" marB="45720">
                    <a:solidFill>
                      <a:srgbClr val="162D44"/>
                    </a:solidFill>
                  </a:tcPr>
                </a:tc>
                <a:tc>
                  <a:txBody>
                    <a:bodyPr/>
                    <a:lstStyle/>
                    <a:p>
                      <a:r>
                        <a:rPr sz="1725" b="1">
                          <a:solidFill>
                            <a:srgbClr val="FFFFFF"/>
                          </a:solidFill>
                          <a:latin typeface="Arial"/>
                          <a:ea typeface="Arial"/>
                          <a:cs typeface="Arial"/>
                        </a:rPr>
                        <a:t>Test F1</a:t>
                      </a:r>
                    </a:p>
                  </a:txBody>
                  <a:tcPr marL="91440" marR="91440" marT="45720" marB="45720">
                    <a:solidFill>
                      <a:srgbClr val="162D44"/>
                    </a:solidFill>
                  </a:tcPr>
                </a:tc>
              </a:tr>
              <a:tr h="698500">
                <a:tc>
                  <a:txBody>
                    <a:bodyPr/>
                    <a:lstStyle/>
                    <a:p>
                      <a:r>
                        <a:rPr sz="1650" b="0">
                          <a:solidFill>
                            <a:srgbClr val="162D44"/>
                          </a:solidFill>
                          <a:latin typeface="Arial"/>
                          <a:ea typeface="Arial"/>
                          <a:cs typeface="Arial"/>
                        </a:rPr>
                        <a:t>Logistic regression</a:t>
                      </a:r>
                    </a:p>
                  </a:txBody>
                  <a:tcPr marL="91440" marR="91440" marT="45720" marB="45720">
                    <a:solidFill>
                      <a:srgbClr val="FFFFFF"/>
                    </a:solidFill>
                  </a:tcPr>
                </a:tc>
                <a:tc>
                  <a:txBody>
                    <a:bodyPr/>
                    <a:lstStyle/>
                    <a:p>
                      <a:r>
                        <a:rPr sz="1650" b="0">
                          <a:solidFill>
                            <a:srgbClr val="162D44"/>
                          </a:solidFill>
                          <a:latin typeface="Arial"/>
                          <a:ea typeface="Arial"/>
                          <a:cs typeface="Arial"/>
                        </a:rPr>
                        <a:t>0.772</a:t>
                      </a:r>
                    </a:p>
                  </a:txBody>
                  <a:tcPr marL="91440" marR="91440" marT="45720" marB="45720">
                    <a:solidFill>
                      <a:srgbClr val="FFFFFF"/>
                    </a:solidFill>
                  </a:tcPr>
                </a:tc>
                <a:tc>
                  <a:txBody>
                    <a:bodyPr/>
                    <a:lstStyle/>
                    <a:p>
                      <a:r>
                        <a:rPr sz="1650" b="0">
                          <a:solidFill>
                            <a:srgbClr val="162D44"/>
                          </a:solidFill>
                          <a:latin typeface="Arial"/>
                          <a:ea typeface="Arial"/>
                          <a:cs typeface="Arial"/>
                        </a:rPr>
                        <a:t>0.725</a:t>
                      </a:r>
                    </a:p>
                  </a:txBody>
                  <a:tcPr marL="91440" marR="91440" marT="45720" marB="45720">
                    <a:solidFill>
                      <a:srgbClr val="FFFFFF"/>
                    </a:solidFill>
                  </a:tcPr>
                </a:tc>
                <a:tc>
                  <a:txBody>
                    <a:bodyPr/>
                    <a:lstStyle/>
                    <a:p>
                      <a:r>
                        <a:rPr sz="1650" b="0">
                          <a:solidFill>
                            <a:srgbClr val="162D44"/>
                          </a:solidFill>
                          <a:latin typeface="Arial"/>
                          <a:ea typeface="Arial"/>
                          <a:cs typeface="Arial"/>
                        </a:rPr>
                        <a:t>0.806</a:t>
                      </a:r>
                    </a:p>
                  </a:txBody>
                  <a:tcPr marL="91440" marR="91440" marT="45720" marB="45720">
                    <a:solidFill>
                      <a:srgbClr val="FFFFFF"/>
                    </a:solidFill>
                  </a:tcPr>
                </a:tc>
                <a:tc>
                  <a:txBody>
                    <a:bodyPr/>
                    <a:lstStyle/>
                    <a:p>
                      <a:r>
                        <a:rPr sz="1650" b="0">
                          <a:solidFill>
                            <a:srgbClr val="162D44"/>
                          </a:solidFill>
                          <a:latin typeface="Arial"/>
                          <a:ea typeface="Arial"/>
                          <a:cs typeface="Arial"/>
                        </a:rPr>
                        <a:t>0.763</a:t>
                      </a:r>
                    </a:p>
                  </a:txBody>
                  <a:tcPr marL="91440" marR="91440" marT="45720" marB="45720">
                    <a:solidFill>
                      <a:srgbClr val="FFFFFF"/>
                    </a:solidFill>
                  </a:tcPr>
                </a:tc>
              </a:tr>
              <a:tr h="698500">
                <a:tc>
                  <a:txBody>
                    <a:bodyPr/>
                    <a:lstStyle/>
                    <a:p>
                      <a:r>
                        <a:rPr sz="1650" b="0">
                          <a:solidFill>
                            <a:srgbClr val="162D44"/>
                          </a:solidFill>
                          <a:latin typeface="Arial"/>
                          <a:ea typeface="Arial"/>
                          <a:cs typeface="Arial"/>
                        </a:rPr>
                        <a:t>Neural network</a:t>
                      </a:r>
                    </a:p>
                  </a:txBody>
                  <a:tcPr marL="91440" marR="91440" marT="45720" marB="45720">
                    <a:solidFill>
                      <a:srgbClr val="EAF0F3"/>
                    </a:solidFill>
                  </a:tcPr>
                </a:tc>
                <a:tc>
                  <a:txBody>
                    <a:bodyPr/>
                    <a:lstStyle/>
                    <a:p>
                      <a:r>
                        <a:rPr sz="1650" b="0">
                          <a:solidFill>
                            <a:srgbClr val="162D44"/>
                          </a:solidFill>
                          <a:latin typeface="Arial"/>
                          <a:ea typeface="Arial"/>
                          <a:cs typeface="Arial"/>
                        </a:rPr>
                        <a:t>0.750</a:t>
                      </a:r>
                    </a:p>
                  </a:txBody>
                  <a:tcPr marL="91440" marR="91440" marT="45720" marB="45720">
                    <a:solidFill>
                      <a:srgbClr val="EAF0F3"/>
                    </a:solidFill>
                  </a:tcPr>
                </a:tc>
                <a:tc>
                  <a:txBody>
                    <a:bodyPr/>
                    <a:lstStyle/>
                    <a:p>
                      <a:r>
                        <a:rPr sz="1650" b="0">
                          <a:solidFill>
                            <a:srgbClr val="162D44"/>
                          </a:solidFill>
                          <a:latin typeface="Arial"/>
                          <a:ea typeface="Arial"/>
                          <a:cs typeface="Arial"/>
                        </a:rPr>
                        <a:t>0.754</a:t>
                      </a:r>
                    </a:p>
                  </a:txBody>
                  <a:tcPr marL="91440" marR="91440" marT="45720" marB="45720">
                    <a:solidFill>
                      <a:srgbClr val="EAF0F3"/>
                    </a:solidFill>
                  </a:tcPr>
                </a:tc>
                <a:tc>
                  <a:txBody>
                    <a:bodyPr/>
                    <a:lstStyle/>
                    <a:p>
                      <a:r>
                        <a:rPr sz="1650" b="0">
                          <a:solidFill>
                            <a:srgbClr val="162D44"/>
                          </a:solidFill>
                          <a:latin typeface="Arial"/>
                          <a:ea typeface="Arial"/>
                          <a:cs typeface="Arial"/>
                        </a:rPr>
                        <a:t>0.839</a:t>
                      </a:r>
                    </a:p>
                  </a:txBody>
                  <a:tcPr marL="91440" marR="91440" marT="45720" marB="45720">
                    <a:solidFill>
                      <a:srgbClr val="EAF0F3"/>
                    </a:solidFill>
                  </a:tcPr>
                </a:tc>
                <a:tc>
                  <a:txBody>
                    <a:bodyPr/>
                    <a:lstStyle/>
                    <a:p>
                      <a:r>
                        <a:rPr sz="1650" b="0">
                          <a:solidFill>
                            <a:srgbClr val="162D44"/>
                          </a:solidFill>
                          <a:latin typeface="Arial"/>
                          <a:ea typeface="Arial"/>
                          <a:cs typeface="Arial"/>
                        </a:rPr>
                        <a:t>0.794</a:t>
                      </a:r>
                    </a:p>
                  </a:txBody>
                  <a:tcPr marL="91440" marR="91440" marT="45720" marB="45720">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36B9C2A8-C4EE-4E4C-8756-0941B0F89E81}"/>
              </a:ext>
            </a:extLst>
          </p:cNvPr>
          <p:cNvSpPr>
            <a:spLocks xmlns:a="http://schemas.openxmlformats.org/drawingml/2006/main" noGrp="1"/>
          </p:cNvSpPr>
          <p:nvPr/>
        </p:nvSpPr>
        <p:spPr>
          <a:xfrm xmlns:a="http://schemas.openxmlformats.org/drawingml/2006/main">
            <a:off x="762000" y="4429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3"/>
                </a:solidFill>
                <a:latin typeface="Arial"/>
                <a:ea typeface="Arial"/>
                <a:cs typeface="Arial"/>
              </a:defRPr>
            </a:defPPr>
            <a:lvl1pPr>
              <a:defRPr sz="2250" b="1">
                <a:solidFill>
                  <a:srgbClr val="087F83"/>
                </a:solidFill>
                <a:latin typeface="Arial"/>
                <a:ea typeface="Arial"/>
                <a:cs typeface="Arial"/>
              </a:defRPr>
            </a:lvl1pPr>
            <a:lvl2pPr>
              <a:defRPr sz="2250" b="1">
                <a:solidFill>
                  <a:srgbClr val="087F83"/>
                </a:solidFill>
                <a:latin typeface="Arial"/>
                <a:ea typeface="Arial"/>
                <a:cs typeface="Arial"/>
              </a:defRPr>
            </a:lvl2pPr>
            <a:lvl3pPr>
              <a:defRPr sz="2250" b="1">
                <a:solidFill>
                  <a:srgbClr val="087F83"/>
                </a:solidFill>
                <a:latin typeface="Arial"/>
                <a:ea typeface="Arial"/>
                <a:cs typeface="Arial"/>
              </a:defRPr>
            </a:lvl3pPr>
            <a:lvl4pPr>
              <a:defRPr sz="2250" b="1">
                <a:solidFill>
                  <a:srgbClr val="087F83"/>
                </a:solidFill>
                <a:latin typeface="Arial"/>
                <a:ea typeface="Arial"/>
                <a:cs typeface="Arial"/>
              </a:defRPr>
            </a:lvl4pPr>
            <a:lvl5pPr>
              <a:defRPr sz="2250" b="1">
                <a:solidFill>
                  <a:srgbClr val="087F83"/>
                </a:solidFill>
                <a:latin typeface="Arial"/>
                <a:ea typeface="Arial"/>
                <a:cs typeface="Arial"/>
              </a:defRPr>
            </a:lvl5pPr>
            <a:lvl6pPr>
              <a:defRPr sz="2250" b="1">
                <a:solidFill>
                  <a:srgbClr val="087F83"/>
                </a:solidFill>
                <a:latin typeface="Arial"/>
                <a:ea typeface="Arial"/>
                <a:cs typeface="Arial"/>
              </a:defRPr>
            </a:lvl6pPr>
            <a:lvl7pPr>
              <a:defRPr sz="2250" b="1">
                <a:solidFill>
                  <a:srgbClr val="087F83"/>
                </a:solidFill>
                <a:latin typeface="Arial"/>
                <a:ea typeface="Arial"/>
                <a:cs typeface="Arial"/>
              </a:defRPr>
            </a:lvl7pPr>
            <a:lvl8pPr>
              <a:defRPr sz="2250" b="1">
                <a:solidFill>
                  <a:srgbClr val="087F83"/>
                </a:solidFill>
                <a:latin typeface="Arial"/>
                <a:ea typeface="Arial"/>
                <a:cs typeface="Arial"/>
              </a:defRPr>
            </a:lvl8pPr>
            <a:lvl9pPr>
              <a:defRPr sz="2250" b="1">
                <a:solidFill>
                  <a:srgbClr val="087F83"/>
                </a:solidFill>
                <a:latin typeface="Arial"/>
                <a:ea typeface="Arial"/>
                <a:cs typeface="Arial"/>
              </a:defRPr>
            </a:lvl9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Validation selects logistic regression for this experiment.</a:t>
            </a:r>
          </a:p>
        </p:txBody>
      </p:sp>
      <p:sp>
        <p:nvSpPr>
          <p:cNvPr id="5" name="">
            <a:extLst xmlns:a="http://schemas.openxmlformats.org/drawingml/2006/main">
              <a:ext uri="{FF2B5EF4-FFF2-40B4-BE49-F238E27FC236}">
                <a16:creationId xmlns:a16="http://schemas.microsoft.com/office/drawing/2014/main" id="{AE1A4891-3D43-4423-B54C-FE63D39E01C0}"/>
              </a:ext>
            </a:extLst>
          </p:cNvPr>
          <p:cNvSpPr>
            <a:spLocks xmlns:a="http://schemas.openxmlformats.org/drawingml/2006/main" noGrp="1"/>
          </p:cNvSpPr>
          <p:nvPr/>
        </p:nvSpPr>
        <p:spPr>
          <a:xfrm xmlns:a="http://schemas.openxmlformats.org/drawingml/2006/main">
            <a:off x="762000" y="5429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5"/>
                </a:solidFill>
                <a:latin typeface="Arial"/>
                <a:ea typeface="Arial"/>
                <a:cs typeface="Arial"/>
              </a:defRPr>
            </a:defPPr>
            <a:lvl1pPr>
              <a:defRPr sz="2025" b="0">
                <a:solidFill>
                  <a:srgbClr val="526575"/>
                </a:solidFill>
                <a:latin typeface="Arial"/>
                <a:ea typeface="Arial"/>
                <a:cs typeface="Arial"/>
              </a:defRPr>
            </a:lvl1pPr>
            <a:lvl2pPr>
              <a:defRPr sz="2025" b="0">
                <a:solidFill>
                  <a:srgbClr val="526575"/>
                </a:solidFill>
                <a:latin typeface="Arial"/>
                <a:ea typeface="Arial"/>
                <a:cs typeface="Arial"/>
              </a:defRPr>
            </a:lvl2pPr>
            <a:lvl3pPr>
              <a:defRPr sz="2025" b="0">
                <a:solidFill>
                  <a:srgbClr val="526575"/>
                </a:solidFill>
                <a:latin typeface="Arial"/>
                <a:ea typeface="Arial"/>
                <a:cs typeface="Arial"/>
              </a:defRPr>
            </a:lvl3pPr>
            <a:lvl4pPr>
              <a:defRPr sz="2025" b="0">
                <a:solidFill>
                  <a:srgbClr val="526575"/>
                </a:solidFill>
                <a:latin typeface="Arial"/>
                <a:ea typeface="Arial"/>
                <a:cs typeface="Arial"/>
              </a:defRPr>
            </a:lvl4pPr>
            <a:lvl5pPr>
              <a:defRPr sz="2025" b="0">
                <a:solidFill>
                  <a:srgbClr val="526575"/>
                </a:solidFill>
                <a:latin typeface="Arial"/>
                <a:ea typeface="Arial"/>
                <a:cs typeface="Arial"/>
              </a:defRPr>
            </a:lvl5pPr>
            <a:lvl6pPr>
              <a:defRPr sz="2025" b="0">
                <a:solidFill>
                  <a:srgbClr val="526575"/>
                </a:solidFill>
                <a:latin typeface="Arial"/>
                <a:ea typeface="Arial"/>
                <a:cs typeface="Arial"/>
              </a:defRPr>
            </a:lvl6pPr>
            <a:lvl7pPr>
              <a:defRPr sz="2025" b="0">
                <a:solidFill>
                  <a:srgbClr val="526575"/>
                </a:solidFill>
                <a:latin typeface="Arial"/>
                <a:ea typeface="Arial"/>
                <a:cs typeface="Arial"/>
              </a:defRPr>
            </a:lvl7pPr>
            <a:lvl8pPr>
              <a:defRPr sz="2025" b="0">
                <a:solidFill>
                  <a:srgbClr val="526575"/>
                </a:solidFill>
                <a:latin typeface="Arial"/>
                <a:ea typeface="Arial"/>
                <a:cs typeface="Arial"/>
              </a:defRPr>
            </a:lvl8pPr>
            <a:lvl9pPr>
              <a:defRPr sz="2025" b="0">
                <a:solidFill>
                  <a:srgbClr val="526575"/>
                </a:solidFill>
                <a:latin typeface="Arial"/>
                <a:ea typeface="Arial"/>
                <a:cs typeface="Arial"/>
              </a:defRPr>
            </a:lvl9pPr>
          </a:lstStyle>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Both models remain available for comparison. These results are synthetic.</a:t>
            </a:r>
          </a:p>
        </p:txBody>
      </p:sp>
    </p:spTree>
    <p:extLst>
      <p:ext uri="{BB962C8B-B14F-4D97-AF65-F5344CB8AC3E}">
        <p14:creationId xmlns:p14="http://schemas.microsoft.com/office/powerpoint/2010/main" val="148843488"/>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77CF23-B317-41AE-A475-E27A1324B2C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SQL integrity and schema corrections</a:t>
            </a:r>
          </a:p>
        </p:txBody>
      </p:sp>
      <p:sp>
        <p:nvSpPr>
          <p:cNvPr id="2" name="">
            <a:extLst xmlns:a="http://schemas.openxmlformats.org/drawingml/2006/main">
              <a:ext uri="{FF2B5EF4-FFF2-40B4-BE49-F238E27FC236}">
                <a16:creationId xmlns:a16="http://schemas.microsoft.com/office/drawing/2014/main" id="{91B951FB-EF5D-404D-9897-728BF4A47953}"/>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13</a:t>
            </a:r>
          </a:p>
        </p:txBody>
      </p:sp>
      <p:sp>
        <p:nvSpPr>
          <p:cNvPr id="3" name="">
            <a:extLst xmlns:a="http://schemas.openxmlformats.org/drawingml/2006/main">
              <a:ext uri="{FF2B5EF4-FFF2-40B4-BE49-F238E27FC236}">
                <a16:creationId xmlns:a16="http://schemas.microsoft.com/office/drawing/2014/main" id="{A1FE4796-2CA7-469A-AE5D-1F35A5106181}"/>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22 application tables share the same SQLAlchemy schema definition.</a:t>
            </a:r>
          </a:p>
        </p:txBody>
      </p:sp>
      <p:sp>
        <p:nvSpPr>
          <p:cNvPr id="4" name="">
            <a:extLst xmlns:a="http://schemas.openxmlformats.org/drawingml/2006/main">
              <a:ext uri="{FF2B5EF4-FFF2-40B4-BE49-F238E27FC236}">
                <a16:creationId xmlns:a16="http://schemas.microsoft.com/office/drawing/2014/main" id="{E65765BD-B6A6-42B2-B94C-BCB9B06F4D0B}"/>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Avatar column now belongs to an explicit migration.</a:t>
            </a:r>
          </a:p>
        </p:txBody>
      </p:sp>
      <p:sp>
        <p:nvSpPr>
          <p:cNvPr id="5" name="">
            <a:extLst xmlns:a="http://schemas.openxmlformats.org/drawingml/2006/main">
              <a:ext uri="{FF2B5EF4-FFF2-40B4-BE49-F238E27FC236}">
                <a16:creationId xmlns:a16="http://schemas.microsoft.com/office/drawing/2014/main" id="{9CDC2FC8-12ED-4DC2-B0D4-93B62AD8090B}"/>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Application startup no longer changes database structure.</a:t>
            </a:r>
          </a:p>
        </p:txBody>
      </p:sp>
      <p:sp>
        <p:nvSpPr>
          <p:cNvPr id="6" name="">
            <a:extLst xmlns:a="http://schemas.openxmlformats.org/drawingml/2006/main">
              <a:ext uri="{FF2B5EF4-FFF2-40B4-BE49-F238E27FC236}">
                <a16:creationId xmlns:a16="http://schemas.microsoft.com/office/drawing/2014/main" id="{31901600-F4B8-4761-B06E-FE51B42F1DF6}"/>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QR-token uniqueness now matches between models and migrations.</a:t>
            </a:r>
          </a:p>
        </p:txBody>
      </p:sp>
      <p:sp>
        <p:nvSpPr>
          <p:cNvPr id="7" name="">
            <a:extLst xmlns:a="http://schemas.openxmlformats.org/drawingml/2006/main">
              <a:ext uri="{FF2B5EF4-FFF2-40B4-BE49-F238E27FC236}">
                <a16:creationId xmlns:a16="http://schemas.microsoft.com/office/drawing/2014/main" id="{8BC2BB7A-33D6-4C34-8B42-50B4ADFFA88A}"/>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SQL dump restored successfully; all table counts match.</a:t>
            </a:r>
          </a:p>
        </p:txBody>
      </p:sp>
    </p:spTree>
    <p:extLst>
      <p:ext uri="{BB962C8B-B14F-4D97-AF65-F5344CB8AC3E}">
        <p14:creationId xmlns:p14="http://schemas.microsoft.com/office/powerpoint/2010/main" val="95214161"/>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5DFC11-1FD0-4736-AA71-54793781965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Independent checks and complete workflows</a:t>
            </a:r>
          </a:p>
        </p:txBody>
      </p:sp>
      <p:sp>
        <p:nvSpPr>
          <p:cNvPr id="2" name="">
            <a:extLst xmlns:a="http://schemas.openxmlformats.org/drawingml/2006/main">
              <a:ext uri="{FF2B5EF4-FFF2-40B4-BE49-F238E27FC236}">
                <a16:creationId xmlns:a16="http://schemas.microsoft.com/office/drawing/2014/main" id="{41F5FD78-D1F6-4C99-800F-C50B067AC885}"/>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14</a:t>
            </a:r>
          </a:p>
        </p:txBody>
      </p:sp>
      <p:graphicFrame>
        <p:nvGraphicFramePr>
          <p:cNvPr id="3" name="">
            <a:extLst xmlns:a="http://schemas.openxmlformats.org/drawingml/2006/main">
              <a:ext uri="{FF2B5EF4-FFF2-40B4-BE49-F238E27FC236}">
                <a16:creationId xmlns:a16="http://schemas.microsoft.com/office/drawing/2014/main" id="{3B0246B6-6ABC-4EC7-A554-753B86443FC0}"/>
              </a:ext>
            </a:extLst>
          </p:cNvPr>
          <p:cNvGraphicFramePr/>
          <p:nvPr/>
        </p:nvGraphicFramePr>
        <p:xfrm>
          <a:off xmlns:a="http://schemas.openxmlformats.org/drawingml/2006/main" x="609600" y="1476375"/>
          <a:ext xmlns:a="http://schemas.openxmlformats.org/drawingml/2006/main" cx="10972800" cy="4095750"/>
        </p:xfrm>
        <a:graphic xmlns:a="http://schemas.openxmlformats.org/drawingml/2006/main">
          <a:graphicData uri="http://schemas.openxmlformats.org/drawingml/2006/table">
            <a:tbl>
              <a:tblPr/>
              <a:tblGrid>
                <a:gridCol w="2857500"/>
                <a:gridCol w="8115300"/>
              </a:tblGrid>
              <a:tr h="682625">
                <a:tc>
                  <a:txBody>
                    <a:bodyPr/>
                    <a:lstStyle/>
                    <a:p>
                      <a:r>
                        <a:rPr sz="1725" b="1">
                          <a:solidFill>
                            <a:srgbClr val="FFFFFF"/>
                          </a:solidFill>
                          <a:latin typeface="Arial"/>
                          <a:ea typeface="Arial"/>
                          <a:cs typeface="Arial"/>
                        </a:rPr>
                        <a:t>Scope</a:t>
                      </a:r>
                    </a:p>
                  </a:txBody>
                  <a:tcPr marL="91440" marR="91440" marT="45720" marB="45720">
                    <a:solidFill>
                      <a:srgbClr val="162D44"/>
                    </a:solidFill>
                  </a:tcPr>
                </a:tc>
                <a:tc>
                  <a:txBody>
                    <a:bodyPr/>
                    <a:lstStyle/>
                    <a:p>
                      <a:r>
                        <a:rPr sz="1725" b="1">
                          <a:solidFill>
                            <a:srgbClr val="FFFFFF"/>
                          </a:solidFill>
                          <a:latin typeface="Arial"/>
                          <a:ea typeface="Arial"/>
                          <a:cs typeface="Arial"/>
                        </a:rPr>
                        <a:t>Evidence</a:t>
                      </a:r>
                    </a:p>
                  </a:txBody>
                  <a:tcPr marL="91440" marR="91440" marT="45720" marB="45720">
                    <a:solidFill>
                      <a:srgbClr val="162D44"/>
                    </a:solidFill>
                  </a:tcPr>
                </a:tc>
              </a:tr>
              <a:tr h="682625">
                <a:tc>
                  <a:txBody>
                    <a:bodyPr/>
                    <a:lstStyle/>
                    <a:p>
                      <a:r>
                        <a:rPr sz="1650" b="0">
                          <a:solidFill>
                            <a:srgbClr val="162D44"/>
                          </a:solidFill>
                          <a:latin typeface="Arial"/>
                          <a:ea typeface="Arial"/>
                          <a:cs typeface="Arial"/>
                        </a:rPr>
                        <a:t>Layer 1</a:t>
                      </a:r>
                    </a:p>
                  </a:txBody>
                  <a:tcPr marL="91440" marR="91440" marT="45720" marB="45720">
                    <a:solidFill>
                      <a:srgbClr val="FFFFFF"/>
                    </a:solidFill>
                  </a:tcPr>
                </a:tc>
                <a:tc>
                  <a:txBody>
                    <a:bodyPr/>
                    <a:lstStyle/>
                    <a:p>
                      <a:r>
                        <a:rPr sz="1650" b="0">
                          <a:solidFill>
                            <a:srgbClr val="162D44"/>
                          </a:solidFill>
                          <a:latin typeface="Arial"/>
                          <a:ea typeface="Arial"/>
                          <a:cs typeface="Arial"/>
                        </a:rPr>
                        <a:t>All Jinja templates parse</a:t>
                      </a:r>
                    </a:p>
                  </a:txBody>
                  <a:tcPr marL="91440" marR="91440" marT="45720" marB="45720">
                    <a:solidFill>
                      <a:srgbClr val="FFFFFF"/>
                    </a:solidFill>
                  </a:tcPr>
                </a:tc>
              </a:tr>
              <a:tr h="682625">
                <a:tc>
                  <a:txBody>
                    <a:bodyPr/>
                    <a:lstStyle/>
                    <a:p>
                      <a:r>
                        <a:rPr sz="1650" b="0">
                          <a:solidFill>
                            <a:srgbClr val="162D44"/>
                          </a:solidFill>
                          <a:latin typeface="Arial"/>
                          <a:ea typeface="Arial"/>
                          <a:cs typeface="Arial"/>
                        </a:rPr>
                        <a:t>Layer 2</a:t>
                      </a:r>
                    </a:p>
                  </a:txBody>
                  <a:tcPr marL="91440" marR="91440" marT="45720" marB="45720">
                    <a:solidFill>
                      <a:srgbClr val="EAF0F3"/>
                    </a:solidFill>
                  </a:tcPr>
                </a:tc>
                <a:tc>
                  <a:txBody>
                    <a:bodyPr/>
                    <a:lstStyle/>
                    <a:p>
                      <a:r>
                        <a:rPr sz="1650" b="0">
                          <a:solidFill>
                            <a:srgbClr val="162D44"/>
                          </a:solidFill>
                          <a:latin typeface="Arial"/>
                          <a:ea typeface="Arial"/>
                          <a:cs typeface="Arial"/>
                        </a:rPr>
                        <a:t>Login, permissions, HTTP errors and responses</a:t>
                      </a:r>
                    </a:p>
                  </a:txBody>
                  <a:tcPr marL="91440" marR="91440" marT="45720" marB="45720">
                    <a:solidFill>
                      <a:srgbClr val="EAF0F3"/>
                    </a:solidFill>
                  </a:tcPr>
                </a:tc>
              </a:tr>
              <a:tr h="682625">
                <a:tc>
                  <a:txBody>
                    <a:bodyPr/>
                    <a:lstStyle/>
                    <a:p>
                      <a:r>
                        <a:rPr sz="1650" b="0">
                          <a:solidFill>
                            <a:srgbClr val="162D44"/>
                          </a:solidFill>
                          <a:latin typeface="Arial"/>
                          <a:ea typeface="Arial"/>
                          <a:cs typeface="Arial"/>
                        </a:rPr>
                        <a:t>Layer 3</a:t>
                      </a:r>
                    </a:p>
                  </a:txBody>
                  <a:tcPr marL="91440" marR="91440" marT="45720" marB="45720">
                    <a:solidFill>
                      <a:srgbClr val="FFFFFF"/>
                    </a:solidFill>
                  </a:tcPr>
                </a:tc>
                <a:tc>
                  <a:txBody>
                    <a:bodyPr/>
                    <a:lstStyle/>
                    <a:p>
                      <a:r>
                        <a:rPr sz="1650" b="0">
                          <a:solidFill>
                            <a:srgbClr val="162D44"/>
                          </a:solidFill>
                          <a:latin typeface="Arial"/>
                          <a:ea typeface="Arial"/>
                          <a:cs typeface="Arial"/>
                        </a:rPr>
                        <a:t>Neural learning, serialization and QR pixel decoding</a:t>
                      </a:r>
                    </a:p>
                  </a:txBody>
                  <a:tcPr marL="91440" marR="91440" marT="45720" marB="45720">
                    <a:solidFill>
                      <a:srgbClr val="FFFFFF"/>
                    </a:solidFill>
                  </a:tcPr>
                </a:tc>
              </a:tr>
              <a:tr h="682625">
                <a:tc>
                  <a:txBody>
                    <a:bodyPr/>
                    <a:lstStyle/>
                    <a:p>
                      <a:r>
                        <a:rPr sz="1650" b="0">
                          <a:solidFill>
                            <a:srgbClr val="162D44"/>
                          </a:solidFill>
                          <a:latin typeface="Arial"/>
                          <a:ea typeface="Arial"/>
                          <a:cs typeface="Arial"/>
                        </a:rPr>
                        <a:t>Layer 4</a:t>
                      </a:r>
                    </a:p>
                  </a:txBody>
                  <a:tcPr marL="91440" marR="91440" marT="45720" marB="45720">
                    <a:solidFill>
                      <a:srgbClr val="EAF0F3"/>
                    </a:solidFill>
                  </a:tcPr>
                </a:tc>
                <a:tc>
                  <a:txBody>
                    <a:bodyPr/>
                    <a:lstStyle/>
                    <a:p>
                      <a:r>
                        <a:rPr sz="1650" b="0">
                          <a:solidFill>
                            <a:srgbClr val="162D44"/>
                          </a:solidFill>
                          <a:latin typeface="Arial"/>
                          <a:ea typeface="Arial"/>
                          <a:cs typeface="Arial"/>
                        </a:rPr>
                        <a:t>PostgreSQL persistence; successful full SQL restore</a:t>
                      </a:r>
                    </a:p>
                  </a:txBody>
                  <a:tcPr marL="91440" marR="91440" marT="45720" marB="45720">
                    <a:solidFill>
                      <a:srgbClr val="EAF0F3"/>
                    </a:solidFill>
                  </a:tcPr>
                </a:tc>
              </a:tr>
              <a:tr h="682625">
                <a:tc>
                  <a:txBody>
                    <a:bodyPr/>
                    <a:lstStyle/>
                    <a:p>
                      <a:r>
                        <a:rPr sz="1650" b="0">
                          <a:solidFill>
                            <a:srgbClr val="162D44"/>
                          </a:solidFill>
                          <a:latin typeface="Arial"/>
                          <a:ea typeface="Arial"/>
                          <a:cs typeface="Arial"/>
                        </a:rPr>
                        <a:t>Complete workflows</a:t>
                      </a:r>
                    </a:p>
                  </a:txBody>
                  <a:tcPr marL="91440" marR="91440" marT="45720" marB="45720">
                    <a:solidFill>
                      <a:srgbClr val="FFFFFF"/>
                    </a:solidFill>
                  </a:tcPr>
                </a:tc>
                <a:tc>
                  <a:txBody>
                    <a:bodyPr/>
                    <a:lstStyle/>
                    <a:p>
                      <a:r>
                        <a:rPr sz="1650" b="0">
                          <a:solidFill>
                            <a:srgbClr val="162D44"/>
                          </a:solidFill>
                          <a:latin typeface="Arial"/>
                          <a:ea typeface="Arial"/>
                          <a:cs typeface="Arial"/>
                        </a:rPr>
                        <a:t>Image upload to saved attendance; form to model result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31079339"/>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E0078-D725-42BD-87AF-B2BE72D3A09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What is already done and what is new</a:t>
            </a:r>
          </a:p>
        </p:txBody>
      </p:sp>
      <p:sp>
        <p:nvSpPr>
          <p:cNvPr id="2" name="">
            <a:extLst xmlns:a="http://schemas.openxmlformats.org/drawingml/2006/main">
              <a:ext uri="{FF2B5EF4-FFF2-40B4-BE49-F238E27FC236}">
                <a16:creationId xmlns:a16="http://schemas.microsoft.com/office/drawing/2014/main" id="{FC43A78D-4605-43F2-A350-FD6B681A92EB}"/>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15</a:t>
            </a:r>
          </a:p>
        </p:txBody>
      </p:sp>
      <p:sp>
        <p:nvSpPr>
          <p:cNvPr id="3" name="">
            <a:extLst xmlns:a="http://schemas.openxmlformats.org/drawingml/2006/main">
              <a:ext uri="{FF2B5EF4-FFF2-40B4-BE49-F238E27FC236}">
                <a16:creationId xmlns:a16="http://schemas.microsoft.com/office/drawing/2014/main" id="{E4F13070-3FF6-4615-AC30-6B6F3D1770D1}"/>
              </a:ext>
            </a:extLst>
          </p:cNvPr>
          <p:cNvSpPr>
            <a:spLocks xmlns:a="http://schemas.openxmlformats.org/drawingml/2006/main" noGrp="1"/>
          </p:cNvSpPr>
          <p:nvPr/>
        </p:nvSpPr>
        <p:spPr>
          <a:xfrm xmlns:a="http://schemas.openxmlformats.org/drawingml/2006/main">
            <a:off x="762000" y="1571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F83"/>
                </a:solidFill>
                <a:latin typeface="Arial"/>
                <a:ea typeface="Arial"/>
                <a:cs typeface="Arial"/>
              </a:defRPr>
            </a:defPPr>
            <a:lvl1pPr>
              <a:defRPr sz="1875" b="1">
                <a:solidFill>
                  <a:srgbClr val="087F83"/>
                </a:solidFill>
                <a:latin typeface="Arial"/>
                <a:ea typeface="Arial"/>
                <a:cs typeface="Arial"/>
              </a:defRPr>
            </a:lvl1pPr>
            <a:lvl2pPr>
              <a:defRPr sz="1875" b="1">
                <a:solidFill>
                  <a:srgbClr val="087F83"/>
                </a:solidFill>
                <a:latin typeface="Arial"/>
                <a:ea typeface="Arial"/>
                <a:cs typeface="Arial"/>
              </a:defRPr>
            </a:lvl2pPr>
            <a:lvl3pPr>
              <a:defRPr sz="1875" b="1">
                <a:solidFill>
                  <a:srgbClr val="087F83"/>
                </a:solidFill>
                <a:latin typeface="Arial"/>
                <a:ea typeface="Arial"/>
                <a:cs typeface="Arial"/>
              </a:defRPr>
            </a:lvl3pPr>
            <a:lvl4pPr>
              <a:defRPr sz="1875" b="1">
                <a:solidFill>
                  <a:srgbClr val="087F83"/>
                </a:solidFill>
                <a:latin typeface="Arial"/>
                <a:ea typeface="Arial"/>
                <a:cs typeface="Arial"/>
              </a:defRPr>
            </a:lvl4pPr>
            <a:lvl5pPr>
              <a:defRPr sz="1875" b="1">
                <a:solidFill>
                  <a:srgbClr val="087F83"/>
                </a:solidFill>
                <a:latin typeface="Arial"/>
                <a:ea typeface="Arial"/>
                <a:cs typeface="Arial"/>
              </a:defRPr>
            </a:lvl5pPr>
            <a:lvl6pPr>
              <a:defRPr sz="1875" b="1">
                <a:solidFill>
                  <a:srgbClr val="087F83"/>
                </a:solidFill>
                <a:latin typeface="Arial"/>
                <a:ea typeface="Arial"/>
                <a:cs typeface="Arial"/>
              </a:defRPr>
            </a:lvl6pPr>
            <a:lvl7pPr>
              <a:defRPr sz="1875" b="1">
                <a:solidFill>
                  <a:srgbClr val="087F83"/>
                </a:solidFill>
                <a:latin typeface="Arial"/>
                <a:ea typeface="Arial"/>
                <a:cs typeface="Arial"/>
              </a:defRPr>
            </a:lvl7pPr>
            <a:lvl8pPr>
              <a:defRPr sz="1875" b="1">
                <a:solidFill>
                  <a:srgbClr val="087F83"/>
                </a:solidFill>
                <a:latin typeface="Arial"/>
                <a:ea typeface="Arial"/>
                <a:cs typeface="Arial"/>
              </a:defRPr>
            </a:lvl8pPr>
            <a:lvl9pPr>
              <a:defRPr sz="1875" b="1">
                <a:solidFill>
                  <a:srgbClr val="087F83"/>
                </a:solidFill>
                <a:latin typeface="Arial"/>
                <a:ea typeface="Arial"/>
                <a:cs typeface="Arial"/>
              </a:defRPr>
            </a:lvl9pPr>
          </a:lstStyle>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EXISTING FOUNDATION</a:t>
            </a:r>
          </a:p>
        </p:txBody>
      </p:sp>
      <p:sp>
        <p:nvSpPr>
          <p:cNvPr id="4" name="">
            <a:extLst xmlns:a="http://schemas.openxmlformats.org/drawingml/2006/main">
              <a:ext uri="{FF2B5EF4-FFF2-40B4-BE49-F238E27FC236}">
                <a16:creationId xmlns:a16="http://schemas.microsoft.com/office/drawing/2014/main" id="{A127AAAA-C132-4B2B-B6EF-D2A5A2CE64B5}"/>
              </a:ext>
            </a:extLst>
          </p:cNvPr>
          <p:cNvSpPr>
            <a:spLocks xmlns:a="http://schemas.openxmlformats.org/drawingml/2006/main" noGrp="1"/>
          </p:cNvSpPr>
          <p:nvPr/>
        </p:nvSpPr>
        <p:spPr>
          <a:xfrm xmlns:a="http://schemas.openxmlformats.org/drawingml/2006/main">
            <a:off x="762000" y="21431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2D44"/>
                </a:solidFill>
                <a:latin typeface="Arial"/>
                <a:ea typeface="Arial"/>
                <a:cs typeface="Arial"/>
              </a:defRPr>
            </a:defPPr>
            <a:lvl1pPr>
              <a:defRPr sz="2325" b="0">
                <a:solidFill>
                  <a:srgbClr val="162D44"/>
                </a:solidFill>
                <a:latin typeface="Arial"/>
                <a:ea typeface="Arial"/>
                <a:cs typeface="Arial"/>
              </a:defRPr>
            </a:lvl1pPr>
            <a:lvl2pPr>
              <a:defRPr sz="2325" b="0">
                <a:solidFill>
                  <a:srgbClr val="162D44"/>
                </a:solidFill>
                <a:latin typeface="Arial"/>
                <a:ea typeface="Arial"/>
                <a:cs typeface="Arial"/>
              </a:defRPr>
            </a:lvl2pPr>
            <a:lvl3pPr>
              <a:defRPr sz="2325" b="0">
                <a:solidFill>
                  <a:srgbClr val="162D44"/>
                </a:solidFill>
                <a:latin typeface="Arial"/>
                <a:ea typeface="Arial"/>
                <a:cs typeface="Arial"/>
              </a:defRPr>
            </a:lvl3pPr>
            <a:lvl4pPr>
              <a:defRPr sz="2325" b="0">
                <a:solidFill>
                  <a:srgbClr val="162D44"/>
                </a:solidFill>
                <a:latin typeface="Arial"/>
                <a:ea typeface="Arial"/>
                <a:cs typeface="Arial"/>
              </a:defRPr>
            </a:lvl4pPr>
            <a:lvl5pPr>
              <a:defRPr sz="2325" b="0">
                <a:solidFill>
                  <a:srgbClr val="162D44"/>
                </a:solidFill>
                <a:latin typeface="Arial"/>
                <a:ea typeface="Arial"/>
                <a:cs typeface="Arial"/>
              </a:defRPr>
            </a:lvl5pPr>
            <a:lvl6pPr>
              <a:defRPr sz="2325" b="0">
                <a:solidFill>
                  <a:srgbClr val="162D44"/>
                </a:solidFill>
                <a:latin typeface="Arial"/>
                <a:ea typeface="Arial"/>
                <a:cs typeface="Arial"/>
              </a:defRPr>
            </a:lvl6pPr>
            <a:lvl7pPr>
              <a:defRPr sz="2325" b="0">
                <a:solidFill>
                  <a:srgbClr val="162D44"/>
                </a:solidFill>
                <a:latin typeface="Arial"/>
                <a:ea typeface="Arial"/>
                <a:cs typeface="Arial"/>
              </a:defRPr>
            </a:lvl7pPr>
            <a:lvl8pPr>
              <a:defRPr sz="2325" b="0">
                <a:solidFill>
                  <a:srgbClr val="162D44"/>
                </a:solidFill>
                <a:latin typeface="Arial"/>
                <a:ea typeface="Arial"/>
                <a:cs typeface="Arial"/>
              </a:defRPr>
            </a:lvl8pPr>
            <a:lvl9pPr>
              <a:defRPr sz="2325" b="0">
                <a:solidFill>
                  <a:srgbClr val="162D44"/>
                </a:solidFill>
                <a:latin typeface="Arial"/>
                <a:ea typeface="Arial"/>
                <a:cs typeface="Arial"/>
              </a:defRPr>
            </a:lvl9pPr>
          </a:lstStyle>
          <a:p xmlns:a="http://schemas.openxmlformats.org/drawingml/2006/main">
            <a:pPr>
              <a:defRPr sz="2325" b="0">
                <a:solidFill>
                  <a:srgbClr val="162D44"/>
                </a:solidFill>
                <a:latin typeface="Arial"/>
                <a:ea typeface="Arial"/>
                <a:cs typeface="Arial"/>
              </a:defRPr>
            </a:pPr>
            <a:r>
              <a:rPr sz="2325" b="0">
                <a:solidFill>
                  <a:srgbClr val="162D44"/>
                </a:solidFill>
                <a:latin typeface="Arial"/>
                <a:ea typeface="Arial"/>
                <a:cs typeface="Arial"/>
              </a:rPr>
              <a:t>Academic records, enrollment, grades, attendance, fees, roles, audit logs, parent portal and QR session links.</a:t>
            </a:r>
          </a:p>
        </p:txBody>
      </p:sp>
      <p:sp>
        <p:nvSpPr>
          <p:cNvPr id="5" name="">
            <a:extLst xmlns:a="http://schemas.openxmlformats.org/drawingml/2006/main">
              <a:ext uri="{FF2B5EF4-FFF2-40B4-BE49-F238E27FC236}">
                <a16:creationId xmlns:a16="http://schemas.microsoft.com/office/drawing/2014/main" id="{5F4BEEC9-B81D-4421-87DB-20019C4B64F3}"/>
              </a:ext>
            </a:extLst>
          </p:cNvPr>
          <p:cNvSpPr>
            <a:spLocks xmlns:a="http://schemas.openxmlformats.org/drawingml/2006/main" noGrp="1"/>
          </p:cNvSpPr>
          <p:nvPr/>
        </p:nvSpPr>
        <p:spPr>
          <a:xfrm xmlns:a="http://schemas.openxmlformats.org/drawingml/2006/main">
            <a:off x="762000" y="361950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F83"/>
                </a:solidFill>
                <a:latin typeface="Arial"/>
                <a:ea typeface="Arial"/>
                <a:cs typeface="Arial"/>
              </a:defRPr>
            </a:defPPr>
            <a:lvl1pPr>
              <a:defRPr sz="1875" b="1">
                <a:solidFill>
                  <a:srgbClr val="087F83"/>
                </a:solidFill>
                <a:latin typeface="Arial"/>
                <a:ea typeface="Arial"/>
                <a:cs typeface="Arial"/>
              </a:defRPr>
            </a:lvl1pPr>
            <a:lvl2pPr>
              <a:defRPr sz="1875" b="1">
                <a:solidFill>
                  <a:srgbClr val="087F83"/>
                </a:solidFill>
                <a:latin typeface="Arial"/>
                <a:ea typeface="Arial"/>
                <a:cs typeface="Arial"/>
              </a:defRPr>
            </a:lvl2pPr>
            <a:lvl3pPr>
              <a:defRPr sz="1875" b="1">
                <a:solidFill>
                  <a:srgbClr val="087F83"/>
                </a:solidFill>
                <a:latin typeface="Arial"/>
                <a:ea typeface="Arial"/>
                <a:cs typeface="Arial"/>
              </a:defRPr>
            </a:lvl3pPr>
            <a:lvl4pPr>
              <a:defRPr sz="1875" b="1">
                <a:solidFill>
                  <a:srgbClr val="087F83"/>
                </a:solidFill>
                <a:latin typeface="Arial"/>
                <a:ea typeface="Arial"/>
                <a:cs typeface="Arial"/>
              </a:defRPr>
            </a:lvl4pPr>
            <a:lvl5pPr>
              <a:defRPr sz="1875" b="1">
                <a:solidFill>
                  <a:srgbClr val="087F83"/>
                </a:solidFill>
                <a:latin typeface="Arial"/>
                <a:ea typeface="Arial"/>
                <a:cs typeface="Arial"/>
              </a:defRPr>
            </a:lvl5pPr>
            <a:lvl6pPr>
              <a:defRPr sz="1875" b="1">
                <a:solidFill>
                  <a:srgbClr val="087F83"/>
                </a:solidFill>
                <a:latin typeface="Arial"/>
                <a:ea typeface="Arial"/>
                <a:cs typeface="Arial"/>
              </a:defRPr>
            </a:lvl6pPr>
            <a:lvl7pPr>
              <a:defRPr sz="1875" b="1">
                <a:solidFill>
                  <a:srgbClr val="087F83"/>
                </a:solidFill>
                <a:latin typeface="Arial"/>
                <a:ea typeface="Arial"/>
                <a:cs typeface="Arial"/>
              </a:defRPr>
            </a:lvl7pPr>
            <a:lvl8pPr>
              <a:defRPr sz="1875" b="1">
                <a:solidFill>
                  <a:srgbClr val="087F83"/>
                </a:solidFill>
                <a:latin typeface="Arial"/>
                <a:ea typeface="Arial"/>
                <a:cs typeface="Arial"/>
              </a:defRPr>
            </a:lvl8pPr>
            <a:lvl9pPr>
              <a:defRPr sz="1875" b="1">
                <a:solidFill>
                  <a:srgbClr val="087F83"/>
                </a:solidFill>
                <a:latin typeface="Arial"/>
                <a:ea typeface="Arial"/>
                <a:cs typeface="Arial"/>
              </a:defRPr>
            </a:lvl9pPr>
          </a:lstStyle>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THIS UPGRADE</a:t>
            </a:r>
          </a:p>
        </p:txBody>
      </p:sp>
      <p:sp>
        <p:nvSpPr>
          <p:cNvPr id="6" name="">
            <a:extLst xmlns:a="http://schemas.openxmlformats.org/drawingml/2006/main">
              <a:ext uri="{FF2B5EF4-FFF2-40B4-BE49-F238E27FC236}">
                <a16:creationId xmlns:a16="http://schemas.microsoft.com/office/drawing/2014/main" id="{46C46991-5494-4904-8D94-26FE13DA6FBB}"/>
              </a:ext>
            </a:extLst>
          </p:cNvPr>
          <p:cNvSpPr>
            <a:spLocks xmlns:a="http://schemas.openxmlformats.org/drawingml/2006/main" noGrp="1"/>
          </p:cNvSpPr>
          <p:nvPr/>
        </p:nvSpPr>
        <p:spPr>
          <a:xfrm xmlns:a="http://schemas.openxmlformats.org/drawingml/2006/main">
            <a:off x="762000" y="4191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62D44"/>
                </a:solidFill>
                <a:latin typeface="Arial"/>
                <a:ea typeface="Arial"/>
                <a:cs typeface="Arial"/>
              </a:defRPr>
            </a:defPPr>
            <a:lvl1pPr>
              <a:defRPr sz="2325" b="0">
                <a:solidFill>
                  <a:srgbClr val="162D44"/>
                </a:solidFill>
                <a:latin typeface="Arial"/>
                <a:ea typeface="Arial"/>
                <a:cs typeface="Arial"/>
              </a:defRPr>
            </a:lvl1pPr>
            <a:lvl2pPr>
              <a:defRPr sz="2325" b="0">
                <a:solidFill>
                  <a:srgbClr val="162D44"/>
                </a:solidFill>
                <a:latin typeface="Arial"/>
                <a:ea typeface="Arial"/>
                <a:cs typeface="Arial"/>
              </a:defRPr>
            </a:lvl2pPr>
            <a:lvl3pPr>
              <a:defRPr sz="2325" b="0">
                <a:solidFill>
                  <a:srgbClr val="162D44"/>
                </a:solidFill>
                <a:latin typeface="Arial"/>
                <a:ea typeface="Arial"/>
                <a:cs typeface="Arial"/>
              </a:defRPr>
            </a:lvl3pPr>
            <a:lvl4pPr>
              <a:defRPr sz="2325" b="0">
                <a:solidFill>
                  <a:srgbClr val="162D44"/>
                </a:solidFill>
                <a:latin typeface="Arial"/>
                <a:ea typeface="Arial"/>
                <a:cs typeface="Arial"/>
              </a:defRPr>
            </a:lvl4pPr>
            <a:lvl5pPr>
              <a:defRPr sz="2325" b="0">
                <a:solidFill>
                  <a:srgbClr val="162D44"/>
                </a:solidFill>
                <a:latin typeface="Arial"/>
                <a:ea typeface="Arial"/>
                <a:cs typeface="Arial"/>
              </a:defRPr>
            </a:lvl5pPr>
            <a:lvl6pPr>
              <a:defRPr sz="2325" b="0">
                <a:solidFill>
                  <a:srgbClr val="162D44"/>
                </a:solidFill>
                <a:latin typeface="Arial"/>
                <a:ea typeface="Arial"/>
                <a:cs typeface="Arial"/>
              </a:defRPr>
            </a:lvl6pPr>
            <a:lvl7pPr>
              <a:defRPr sz="2325" b="0">
                <a:solidFill>
                  <a:srgbClr val="162D44"/>
                </a:solidFill>
                <a:latin typeface="Arial"/>
                <a:ea typeface="Arial"/>
                <a:cs typeface="Arial"/>
              </a:defRPr>
            </a:lvl7pPr>
            <a:lvl8pPr>
              <a:defRPr sz="2325" b="0">
                <a:solidFill>
                  <a:srgbClr val="162D44"/>
                </a:solidFill>
                <a:latin typeface="Arial"/>
                <a:ea typeface="Arial"/>
                <a:cs typeface="Arial"/>
              </a:defRPr>
            </a:lvl8pPr>
            <a:lvl9pPr>
              <a:defRPr sz="2325" b="0">
                <a:solidFill>
                  <a:srgbClr val="162D44"/>
                </a:solidFill>
                <a:latin typeface="Arial"/>
                <a:ea typeface="Arial"/>
                <a:cs typeface="Arial"/>
              </a:defRPr>
            </a:lvl9pPr>
          </a:lstStyle>
          <a:p xmlns:a="http://schemas.openxmlformats.org/drawingml/2006/main">
            <a:pPr>
              <a:defRPr sz="2325" b="0">
                <a:solidFill>
                  <a:srgbClr val="162D44"/>
                </a:solidFill>
                <a:latin typeface="Arial"/>
                <a:ea typeface="Arial"/>
                <a:cs typeface="Arial"/>
              </a:defRPr>
            </a:pPr>
            <a:r>
              <a:rPr sz="2325" b="0">
                <a:solidFill>
                  <a:srgbClr val="162D44"/>
                </a:solidFill>
                <a:latin typeface="Arial"/>
                <a:ea typeface="Arial"/>
                <a:cs typeface="Arial"/>
              </a:rPr>
              <a:t>OpenCV image scanner, neural experiment, held-out comparison, schema corrections and a four-layer explanation.</a:t>
            </a:r>
          </a:p>
        </p:txBody>
      </p:sp>
    </p:spTree>
    <p:extLst>
      <p:ext uri="{BB962C8B-B14F-4D97-AF65-F5344CB8AC3E}">
        <p14:creationId xmlns:p14="http://schemas.microsoft.com/office/powerpoint/2010/main" val="1988578639"/>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A4C529D-EB44-4152-A2DE-27B74D61702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Best-fit additions and later options</a:t>
            </a:r>
          </a:p>
        </p:txBody>
      </p:sp>
      <p:sp>
        <p:nvSpPr>
          <p:cNvPr id="2" name="">
            <a:extLst xmlns:a="http://schemas.openxmlformats.org/drawingml/2006/main">
              <a:ext uri="{FF2B5EF4-FFF2-40B4-BE49-F238E27FC236}">
                <a16:creationId xmlns:a16="http://schemas.microsoft.com/office/drawing/2014/main" id="{B3D4F9B3-7A8F-4CE3-9E5B-31CABCDF6584}"/>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16</a:t>
            </a:r>
          </a:p>
        </p:txBody>
      </p:sp>
      <p:graphicFrame>
        <p:nvGraphicFramePr>
          <p:cNvPr id="3" name="">
            <a:extLst xmlns:a="http://schemas.openxmlformats.org/drawingml/2006/main">
              <a:ext uri="{FF2B5EF4-FFF2-40B4-BE49-F238E27FC236}">
                <a16:creationId xmlns:a16="http://schemas.microsoft.com/office/drawing/2014/main" id="{F514E1E8-0586-4C03-86E5-639F3E45F6B1}"/>
              </a:ext>
            </a:extLst>
          </p:cNvPr>
          <p:cNvGraphicFramePr/>
          <p:nvPr/>
        </p:nvGraphicFramePr>
        <p:xfrm>
          <a:off xmlns:a="http://schemas.openxmlformats.org/drawingml/2006/main" x="609600" y="1524000"/>
          <a:ext xmlns:a="http://schemas.openxmlformats.org/drawingml/2006/main" cx="10972800" cy="3905250"/>
        </p:xfrm>
        <a:graphic xmlns:a="http://schemas.openxmlformats.org/drawingml/2006/main">
          <a:graphicData uri="http://schemas.openxmlformats.org/drawingml/2006/table">
            <a:tbl>
              <a:tblPr/>
              <a:tblGrid>
                <a:gridCol w="3619500"/>
                <a:gridCol w="2857500"/>
                <a:gridCol w="4495800"/>
              </a:tblGrid>
              <a:tr h="781050">
                <a:tc>
                  <a:txBody>
                    <a:bodyPr/>
                    <a:lstStyle/>
                    <a:p>
                      <a:r>
                        <a:rPr sz="1725" b="1">
                          <a:solidFill>
                            <a:srgbClr val="FFFFFF"/>
                          </a:solidFill>
                          <a:latin typeface="Arial"/>
                          <a:ea typeface="Arial"/>
                          <a:cs typeface="Arial"/>
                        </a:rPr>
                        <a:t>Option</a:t>
                      </a:r>
                    </a:p>
                  </a:txBody>
                  <a:tcPr marL="91440" marR="91440" marT="45720" marB="45720">
                    <a:solidFill>
                      <a:srgbClr val="162D44"/>
                    </a:solidFill>
                  </a:tcPr>
                </a:tc>
                <a:tc>
                  <a:txBody>
                    <a:bodyPr/>
                    <a:lstStyle/>
                    <a:p>
                      <a:r>
                        <a:rPr sz="1725" b="1">
                          <a:solidFill>
                            <a:srgbClr val="FFFFFF"/>
                          </a:solidFill>
                          <a:latin typeface="Arial"/>
                          <a:ea typeface="Arial"/>
                          <a:cs typeface="Arial"/>
                        </a:rPr>
                        <a:t>Recommendation</a:t>
                      </a:r>
                    </a:p>
                  </a:txBody>
                  <a:tcPr marL="91440" marR="91440" marT="45720" marB="45720">
                    <a:solidFill>
                      <a:srgbClr val="162D44"/>
                    </a:solidFill>
                  </a:tcPr>
                </a:tc>
                <a:tc>
                  <a:txBody>
                    <a:bodyPr/>
                    <a:lstStyle/>
                    <a:p>
                      <a:r>
                        <a:rPr sz="1725" b="1">
                          <a:solidFill>
                            <a:srgbClr val="FFFFFF"/>
                          </a:solidFill>
                          <a:latin typeface="Arial"/>
                          <a:ea typeface="Arial"/>
                          <a:cs typeface="Arial"/>
                        </a:rPr>
                        <a:t>Reason</a:t>
                      </a:r>
                    </a:p>
                  </a:txBody>
                  <a:tcPr marL="91440" marR="91440" marT="45720" marB="45720">
                    <a:solidFill>
                      <a:srgbClr val="162D44"/>
                    </a:solidFill>
                  </a:tcPr>
                </a:tc>
              </a:tr>
              <a:tr h="781050">
                <a:tc>
                  <a:txBody>
                    <a:bodyPr/>
                    <a:lstStyle/>
                    <a:p>
                      <a:r>
                        <a:rPr sz="1650" b="0">
                          <a:solidFill>
                            <a:srgbClr val="162D44"/>
                          </a:solidFill>
                          <a:latin typeface="Arial"/>
                          <a:ea typeface="Arial"/>
                          <a:cs typeface="Arial"/>
                        </a:rPr>
                        <a:t>OpenCV QR + neural experiment</a:t>
                      </a:r>
                    </a:p>
                  </a:txBody>
                  <a:tcPr marL="91440" marR="91440" marT="45720" marB="45720">
                    <a:solidFill>
                      <a:srgbClr val="FFFFFF"/>
                    </a:solidFill>
                  </a:tcPr>
                </a:tc>
                <a:tc>
                  <a:txBody>
                    <a:bodyPr/>
                    <a:lstStyle/>
                    <a:p>
                      <a:r>
                        <a:rPr sz="1650" b="0">
                          <a:solidFill>
                            <a:srgbClr val="162D44"/>
                          </a:solidFill>
                          <a:latin typeface="Arial"/>
                          <a:ea typeface="Arial"/>
                          <a:cs typeface="Arial"/>
                        </a:rPr>
                        <a:t>Implement now</a:t>
                      </a:r>
                    </a:p>
                  </a:txBody>
                  <a:tcPr marL="91440" marR="91440" marT="45720" marB="45720">
                    <a:solidFill>
                      <a:srgbClr val="FFFFFF"/>
                    </a:solidFill>
                  </a:tcPr>
                </a:tc>
                <a:tc>
                  <a:txBody>
                    <a:bodyPr/>
                    <a:lstStyle/>
                    <a:p>
                      <a:r>
                        <a:rPr sz="1650" b="0">
                          <a:solidFill>
                            <a:srgbClr val="162D44"/>
                          </a:solidFill>
                          <a:latin typeface="Arial"/>
                          <a:ea typeface="Arial"/>
                          <a:cs typeface="Arial"/>
                        </a:rPr>
                        <a:t>Visible academic workflow and measured complexity</a:t>
                      </a:r>
                    </a:p>
                  </a:txBody>
                  <a:tcPr marL="91440" marR="91440" marT="45720" marB="45720">
                    <a:solidFill>
                      <a:srgbClr val="FFFFFF"/>
                    </a:solidFill>
                  </a:tcPr>
                </a:tc>
              </a:tr>
              <a:tr h="781050">
                <a:tc>
                  <a:txBody>
                    <a:bodyPr/>
                    <a:lstStyle/>
                    <a:p>
                      <a:r>
                        <a:rPr sz="1650" b="0">
                          <a:solidFill>
                            <a:srgbClr val="162D44"/>
                          </a:solidFill>
                          <a:latin typeface="Arial"/>
                          <a:ea typeface="Arial"/>
                          <a:cs typeface="Arial"/>
                        </a:rPr>
                        <a:t>Prerequisite graph planner</a:t>
                      </a:r>
                    </a:p>
                  </a:txBody>
                  <a:tcPr marL="91440" marR="91440" marT="45720" marB="45720">
                    <a:solidFill>
                      <a:srgbClr val="EAF0F3"/>
                    </a:solidFill>
                  </a:tcPr>
                </a:tc>
                <a:tc>
                  <a:txBody>
                    <a:bodyPr/>
                    <a:lstStyle/>
                    <a:p>
                      <a:r>
                        <a:rPr sz="1650" b="0">
                          <a:solidFill>
                            <a:srgbClr val="162D44"/>
                          </a:solidFill>
                          <a:latin typeface="Arial"/>
                          <a:ea typeface="Arial"/>
                          <a:cs typeface="Arial"/>
                        </a:rPr>
                        <a:t>Next, if time permits</a:t>
                      </a:r>
                    </a:p>
                  </a:txBody>
                  <a:tcPr marL="91440" marR="91440" marT="45720" marB="45720">
                    <a:solidFill>
                      <a:srgbClr val="EAF0F3"/>
                    </a:solidFill>
                  </a:tcPr>
                </a:tc>
                <a:tc>
                  <a:txBody>
                    <a:bodyPr/>
                    <a:lstStyle/>
                    <a:p>
                      <a:r>
                        <a:rPr sz="1650" b="0">
                          <a:solidFill>
                            <a:srgbClr val="162D44"/>
                          </a:solidFill>
                          <a:latin typeface="Arial"/>
                          <a:ea typeface="Arial"/>
                          <a:cs typeface="Arial"/>
                        </a:rPr>
                        <a:t>Useful course ordering without a training dataset</a:t>
                      </a:r>
                    </a:p>
                  </a:txBody>
                  <a:tcPr marL="91440" marR="91440" marT="45720" marB="45720">
                    <a:solidFill>
                      <a:srgbClr val="EAF0F3"/>
                    </a:solidFill>
                  </a:tcPr>
                </a:tc>
              </a:tr>
              <a:tr h="781050">
                <a:tc>
                  <a:txBody>
                    <a:bodyPr/>
                    <a:lstStyle/>
                    <a:p>
                      <a:r>
                        <a:rPr sz="1650" b="0">
                          <a:solidFill>
                            <a:srgbClr val="162D44"/>
                          </a:solidFill>
                          <a:latin typeface="Arial"/>
                          <a:ea typeface="Arial"/>
                          <a:cs typeface="Arial"/>
                        </a:rPr>
                        <a:t>LSTM attendance sequence model</a:t>
                      </a:r>
                    </a:p>
                  </a:txBody>
                  <a:tcPr marL="91440" marR="91440" marT="45720" marB="45720">
                    <a:solidFill>
                      <a:srgbClr val="FFFFFF"/>
                    </a:solidFill>
                  </a:tcPr>
                </a:tc>
                <a:tc>
                  <a:txBody>
                    <a:bodyPr/>
                    <a:lstStyle/>
                    <a:p>
                      <a:r>
                        <a:rPr sz="1650" b="0">
                          <a:solidFill>
                            <a:srgbClr val="162D44"/>
                          </a:solidFill>
                          <a:latin typeface="Arial"/>
                          <a:ea typeface="Arial"/>
                          <a:cs typeface="Arial"/>
                        </a:rPr>
                        <a:t>Defer</a:t>
                      </a:r>
                    </a:p>
                  </a:txBody>
                  <a:tcPr marL="91440" marR="91440" marT="45720" marB="45720">
                    <a:solidFill>
                      <a:srgbClr val="FFFFFF"/>
                    </a:solidFill>
                  </a:tcPr>
                </a:tc>
                <a:tc>
                  <a:txBody>
                    <a:bodyPr/>
                    <a:lstStyle/>
                    <a:p>
                      <a:r>
                        <a:rPr sz="1650" b="0">
                          <a:solidFill>
                            <a:srgbClr val="162D44"/>
                          </a:solidFill>
                          <a:latin typeface="Arial"/>
                          <a:ea typeface="Arial"/>
                          <a:cs typeface="Arial"/>
                        </a:rPr>
                        <a:t>Needs genuine weekly histories and later outcomes</a:t>
                      </a:r>
                    </a:p>
                  </a:txBody>
                  <a:tcPr marL="91440" marR="91440" marT="45720" marB="45720">
                    <a:solidFill>
                      <a:srgbClr val="FFFFFF"/>
                    </a:solidFill>
                  </a:tcPr>
                </a:tc>
              </a:tr>
              <a:tr h="781050">
                <a:tc>
                  <a:txBody>
                    <a:bodyPr/>
                    <a:lstStyle/>
                    <a:p>
                      <a:r>
                        <a:rPr sz="1650" b="0">
                          <a:solidFill>
                            <a:srgbClr val="162D44"/>
                          </a:solidFill>
                          <a:latin typeface="Arial"/>
                          <a:ea typeface="Arial"/>
                          <a:cs typeface="Arial"/>
                        </a:rPr>
                        <a:t>Face recognition / Transformer</a:t>
                      </a:r>
                    </a:p>
                  </a:txBody>
                  <a:tcPr marL="91440" marR="91440" marT="45720" marB="45720">
                    <a:solidFill>
                      <a:srgbClr val="EAF0F3"/>
                    </a:solidFill>
                  </a:tcPr>
                </a:tc>
                <a:tc>
                  <a:txBody>
                    <a:bodyPr/>
                    <a:lstStyle/>
                    <a:p>
                      <a:r>
                        <a:rPr sz="1650" b="0">
                          <a:solidFill>
                            <a:srgbClr val="162D44"/>
                          </a:solidFill>
                          <a:latin typeface="Arial"/>
                          <a:ea typeface="Arial"/>
                          <a:cs typeface="Arial"/>
                        </a:rPr>
                        <a:t>Defer</a:t>
                      </a:r>
                    </a:p>
                  </a:txBody>
                  <a:tcPr marL="91440" marR="91440" marT="45720" marB="45720">
                    <a:solidFill>
                      <a:srgbClr val="EAF0F3"/>
                    </a:solidFill>
                  </a:tcPr>
                </a:tc>
                <a:tc>
                  <a:txBody>
                    <a:bodyPr/>
                    <a:lstStyle/>
                    <a:p>
                      <a:r>
                        <a:rPr sz="1650" b="0">
                          <a:solidFill>
                            <a:srgbClr val="162D44"/>
                          </a:solidFill>
                          <a:latin typeface="Arial"/>
                          <a:ea typeface="Arial"/>
                          <a:cs typeface="Arial"/>
                        </a:rPr>
                        <a:t>Additional data and validation are not established</a:t>
                      </a:r>
                    </a:p>
                  </a:txBody>
                  <a:tcPr marL="91440" marR="91440" marT="45720" marB="45720">
                    <a:solidFill>
                      <a:srgbClr val="EAF0F3"/>
                    </a:solidFill>
                  </a:tcPr>
                </a:tc>
              </a:tr>
            </a:tbl>
          </a:graphicData>
        </a:graphic>
      </p:graphicFrame>
    </p:spTree>
    <p:extLst>
      <p:ext uri="{BB962C8B-B14F-4D97-AF65-F5344CB8AC3E}">
        <p14:creationId xmlns:p14="http://schemas.microsoft.com/office/powerpoint/2010/main" val="1016665890"/>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18322C-C09E-4730-B5C8-78992FB7971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Remaining work before final submission</a:t>
            </a:r>
          </a:p>
        </p:txBody>
      </p:sp>
      <p:sp>
        <p:nvSpPr>
          <p:cNvPr id="2" name="">
            <a:extLst xmlns:a="http://schemas.openxmlformats.org/drawingml/2006/main">
              <a:ext uri="{FF2B5EF4-FFF2-40B4-BE49-F238E27FC236}">
                <a16:creationId xmlns:a16="http://schemas.microsoft.com/office/drawing/2014/main" id="{B32838E8-A2F2-4B68-9D9B-57856D8C400F}"/>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17</a:t>
            </a:r>
          </a:p>
        </p:txBody>
      </p:sp>
      <p:sp>
        <p:nvSpPr>
          <p:cNvPr id="3" name="">
            <a:extLst xmlns:a="http://schemas.openxmlformats.org/drawingml/2006/main">
              <a:ext uri="{FF2B5EF4-FFF2-40B4-BE49-F238E27FC236}">
                <a16:creationId xmlns:a16="http://schemas.microsoft.com/office/drawing/2014/main" id="{78DC003E-DB62-4406-90F5-A3E8185F1F3C}"/>
              </a:ext>
            </a:extLst>
          </p:cNvPr>
          <p:cNvSpPr>
            <a:spLocks xmlns:a="http://schemas.openxmlformats.org/drawingml/2006/main" noGrp="1"/>
          </p:cNvSpPr>
          <p:nvPr/>
        </p:nvSpPr>
        <p:spPr>
          <a:xfrm xmlns:a="http://schemas.openxmlformats.org/drawingml/2006/main">
            <a:off x="762000" y="1476375"/>
            <a:ext cx="10620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Replace the original report’s stale architecture, SQL and placeholders.</a:t>
            </a:r>
          </a:p>
        </p:txBody>
      </p:sp>
      <p:sp>
        <p:nvSpPr>
          <p:cNvPr id="4" name="">
            <a:extLst xmlns:a="http://schemas.openxmlformats.org/drawingml/2006/main">
              <a:ext uri="{FF2B5EF4-FFF2-40B4-BE49-F238E27FC236}">
                <a16:creationId xmlns:a16="http://schemas.microsoft.com/office/drawing/2014/main" id="{143BDF00-B99E-404C-A03E-A3F8137ED349}"/>
              </a:ext>
            </a:extLst>
          </p:cNvPr>
          <p:cNvSpPr>
            <a:spLocks xmlns:a="http://schemas.openxmlformats.org/drawingml/2006/main" noGrp="1"/>
          </p:cNvSpPr>
          <p:nvPr/>
        </p:nvSpPr>
        <p:spPr>
          <a:xfrm xmlns:a="http://schemas.openxmlformats.org/drawingml/2006/main">
            <a:off x="762000" y="2571750"/>
            <a:ext cx="10620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Use the report supplement and captured screens with 194 passing tests.</a:t>
            </a:r>
          </a:p>
        </p:txBody>
      </p:sp>
      <p:sp>
        <p:nvSpPr>
          <p:cNvPr id="5" name="">
            <a:extLst xmlns:a="http://schemas.openxmlformats.org/drawingml/2006/main">
              <a:ext uri="{FF2B5EF4-FFF2-40B4-BE49-F238E27FC236}">
                <a16:creationId xmlns:a16="http://schemas.microsoft.com/office/drawing/2014/main" id="{19068CAC-46BF-4C80-964E-0572ABA94D46}"/>
              </a:ext>
            </a:extLst>
          </p:cNvPr>
          <p:cNvSpPr>
            <a:spLocks xmlns:a="http://schemas.openxmlformats.org/drawingml/2006/main" noGrp="1"/>
          </p:cNvSpPr>
          <p:nvPr/>
        </p:nvSpPr>
        <p:spPr>
          <a:xfrm xmlns:a="http://schemas.openxmlformats.org/drawingml/2006/main">
            <a:off x="762000" y="3667125"/>
            <a:ext cx="10620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Rehearse the QR scan with the actual phone and classroom network.</a:t>
            </a:r>
          </a:p>
        </p:txBody>
      </p:sp>
      <p:sp>
        <p:nvSpPr>
          <p:cNvPr id="6" name="">
            <a:extLst xmlns:a="http://schemas.openxmlformats.org/drawingml/2006/main">
              <a:ext uri="{FF2B5EF4-FFF2-40B4-BE49-F238E27FC236}">
                <a16:creationId xmlns:a16="http://schemas.microsoft.com/office/drawing/2014/main" id="{50A3FB90-C988-45D7-B30C-7537523C5DAA}"/>
              </a:ext>
            </a:extLst>
          </p:cNvPr>
          <p:cNvSpPr>
            <a:spLocks xmlns:a="http://schemas.openxmlformats.org/drawingml/2006/main" noGrp="1"/>
          </p:cNvSpPr>
          <p:nvPr/>
        </p:nvSpPr>
        <p:spPr>
          <a:xfrm xmlns:a="http://schemas.openxmlformats.org/drawingml/2006/main">
            <a:off x="762000" y="4762500"/>
            <a:ext cx="10620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2D44"/>
                </a:solidFill>
                <a:latin typeface="Arial"/>
                <a:ea typeface="Arial"/>
                <a:cs typeface="Arial"/>
              </a:defRPr>
            </a:defPPr>
            <a:lvl1pPr>
              <a:defRPr sz="2250" b="0">
                <a:solidFill>
                  <a:srgbClr val="162D44"/>
                </a:solidFill>
                <a:latin typeface="Arial"/>
                <a:ea typeface="Arial"/>
                <a:cs typeface="Arial"/>
              </a:defRPr>
            </a:lvl1pPr>
            <a:lvl2pPr>
              <a:defRPr sz="2250" b="0">
                <a:solidFill>
                  <a:srgbClr val="162D44"/>
                </a:solidFill>
                <a:latin typeface="Arial"/>
                <a:ea typeface="Arial"/>
                <a:cs typeface="Arial"/>
              </a:defRPr>
            </a:lvl2pPr>
            <a:lvl3pPr>
              <a:defRPr sz="2250" b="0">
                <a:solidFill>
                  <a:srgbClr val="162D44"/>
                </a:solidFill>
                <a:latin typeface="Arial"/>
                <a:ea typeface="Arial"/>
                <a:cs typeface="Arial"/>
              </a:defRPr>
            </a:lvl3pPr>
            <a:lvl4pPr>
              <a:defRPr sz="2250" b="0">
                <a:solidFill>
                  <a:srgbClr val="162D44"/>
                </a:solidFill>
                <a:latin typeface="Arial"/>
                <a:ea typeface="Arial"/>
                <a:cs typeface="Arial"/>
              </a:defRPr>
            </a:lvl4pPr>
            <a:lvl5pPr>
              <a:defRPr sz="2250" b="0">
                <a:solidFill>
                  <a:srgbClr val="162D44"/>
                </a:solidFill>
                <a:latin typeface="Arial"/>
                <a:ea typeface="Arial"/>
                <a:cs typeface="Arial"/>
              </a:defRPr>
            </a:lvl5pPr>
            <a:lvl6pPr>
              <a:defRPr sz="2250" b="0">
                <a:solidFill>
                  <a:srgbClr val="162D44"/>
                </a:solidFill>
                <a:latin typeface="Arial"/>
                <a:ea typeface="Arial"/>
                <a:cs typeface="Arial"/>
              </a:defRPr>
            </a:lvl6pPr>
            <a:lvl7pPr>
              <a:defRPr sz="2250" b="0">
                <a:solidFill>
                  <a:srgbClr val="162D44"/>
                </a:solidFill>
                <a:latin typeface="Arial"/>
                <a:ea typeface="Arial"/>
                <a:cs typeface="Arial"/>
              </a:defRPr>
            </a:lvl7pPr>
            <a:lvl8pPr>
              <a:defRPr sz="2250" b="0">
                <a:solidFill>
                  <a:srgbClr val="162D44"/>
                </a:solidFill>
                <a:latin typeface="Arial"/>
                <a:ea typeface="Arial"/>
                <a:cs typeface="Arial"/>
              </a:defRPr>
            </a:lvl8pPr>
            <a:lvl9pPr>
              <a:defRPr sz="2250" b="0">
                <a:solidFill>
                  <a:srgbClr val="162D44"/>
                </a:solidFill>
                <a:latin typeface="Arial"/>
                <a:ea typeface="Arial"/>
                <a:cs typeface="Arial"/>
              </a:defRPr>
            </a:lvl9pPr>
          </a:lstStyle>
          <a:p xmlns:a="http://schemas.openxmlformats.org/drawingml/2006/main">
            <a:pPr>
              <a:defRPr sz="2250" b="0">
                <a:solidFill>
                  <a:srgbClr val="162D44"/>
                </a:solidFill>
                <a:latin typeface="Arial"/>
                <a:ea typeface="Arial"/>
                <a:cs typeface="Arial"/>
              </a:defRPr>
            </a:pPr>
            <a:r>
              <a:rPr sz="2250" b="0">
                <a:solidFill>
                  <a:srgbClr val="162D44"/>
                </a:solidFill>
                <a:latin typeface="Arial"/>
                <a:ea typeface="Arial"/>
                <a:cs typeface="Arial"/>
              </a:rPr>
              <a:t>Explain synthetic data honestly and collect historical data for future work.</a:t>
            </a:r>
          </a:p>
        </p:txBody>
      </p:sp>
    </p:spTree>
    <p:extLst>
      <p:ext uri="{BB962C8B-B14F-4D97-AF65-F5344CB8AC3E}">
        <p14:creationId xmlns:p14="http://schemas.microsoft.com/office/powerpoint/2010/main" val="972658151"/>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C9BEBB-BBF6-455F-BD27-2AAC1CC3F20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Demonstration and viva sequence</a:t>
            </a:r>
          </a:p>
        </p:txBody>
      </p:sp>
      <p:sp>
        <p:nvSpPr>
          <p:cNvPr id="2" name="">
            <a:extLst xmlns:a="http://schemas.openxmlformats.org/drawingml/2006/main">
              <a:ext uri="{FF2B5EF4-FFF2-40B4-BE49-F238E27FC236}">
                <a16:creationId xmlns:a16="http://schemas.microsoft.com/office/drawing/2014/main" id="{AE1AC56C-34D5-49F2-AE31-4F1467B660C9}"/>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18</a:t>
            </a:r>
          </a:p>
        </p:txBody>
      </p:sp>
      <p:sp>
        <p:nvSpPr>
          <p:cNvPr id="3" name="">
            <a:extLst xmlns:a="http://schemas.openxmlformats.org/drawingml/2006/main">
              <a:ext uri="{FF2B5EF4-FFF2-40B4-BE49-F238E27FC236}">
                <a16:creationId xmlns:a16="http://schemas.microsoft.com/office/drawing/2014/main" id="{73E90D63-E261-49A9-8F04-AD2D032D25B6}"/>
              </a:ext>
            </a:extLst>
          </p:cNvPr>
          <p:cNvSpPr>
            <a:spLocks xmlns:a="http://schemas.openxmlformats.org/drawingml/2006/main" noGrp="1"/>
          </p:cNvSpPr>
          <p:nvPr/>
        </p:nvSpPr>
        <p:spPr>
          <a:xfrm xmlns:a="http://schemas.openxmlformats.org/drawingml/2006/main">
            <a:off x="762000" y="1428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1. Explain each layer and point to its code folder.</a:t>
            </a:r>
          </a:p>
        </p:txBody>
      </p:sp>
      <p:sp>
        <p:nvSpPr>
          <p:cNvPr id="4" name="">
            <a:extLst xmlns:a="http://schemas.openxmlformats.org/drawingml/2006/main">
              <a:ext uri="{FF2B5EF4-FFF2-40B4-BE49-F238E27FC236}">
                <a16:creationId xmlns:a16="http://schemas.microsoft.com/office/drawing/2014/main" id="{9DAD585C-FC82-4F23-A41E-3FD7CDA3A1E6}"/>
              </a:ext>
            </a:extLst>
          </p:cNvPr>
          <p:cNvSpPr>
            <a:spLocks xmlns:a="http://schemas.openxmlformats.org/drawingml/2006/main" noGrp="1"/>
          </p:cNvSpPr>
          <p:nvPr/>
        </p:nvSpPr>
        <p:spPr>
          <a:xfrm xmlns:a="http://schemas.openxmlformats.org/drawingml/2006/main">
            <a:off x="762000" y="22860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2. Scan a QR image, then show the saved attendance record.</a:t>
            </a:r>
          </a:p>
        </p:txBody>
      </p:sp>
      <p:sp>
        <p:nvSpPr>
          <p:cNvPr id="5" name="">
            <a:extLst xmlns:a="http://schemas.openxmlformats.org/drawingml/2006/main">
              <a:ext uri="{FF2B5EF4-FFF2-40B4-BE49-F238E27FC236}">
                <a16:creationId xmlns:a16="http://schemas.microsoft.com/office/drawing/2014/main" id="{1A47A571-5AC2-4547-9F6F-4AE0AAF7850E}"/>
              </a:ext>
            </a:extLst>
          </p:cNvPr>
          <p:cNvSpPr>
            <a:spLocks xmlns:a="http://schemas.openxmlformats.org/drawingml/2006/main" noGrp="1"/>
          </p:cNvSpPr>
          <p:nvPr/>
        </p:nvSpPr>
        <p:spPr>
          <a:xfrm xmlns:a="http://schemas.openxmlformats.org/drawingml/2006/main">
            <a:off x="762000" y="31432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3. Demonstrate a rejected code and a duplicate scan.</a:t>
            </a:r>
          </a:p>
        </p:txBody>
      </p:sp>
      <p:sp>
        <p:nvSpPr>
          <p:cNvPr id="6" name="">
            <a:extLst xmlns:a="http://schemas.openxmlformats.org/drawingml/2006/main">
              <a:ext uri="{FF2B5EF4-FFF2-40B4-BE49-F238E27FC236}">
                <a16:creationId xmlns:a16="http://schemas.microsoft.com/office/drawing/2014/main" id="{D89C3D01-0443-4294-8A25-A7CE687A923A}"/>
              </a:ext>
            </a:extLst>
          </p:cNvPr>
          <p:cNvSpPr>
            <a:spLocks xmlns:a="http://schemas.openxmlformats.org/drawingml/2006/main" noGrp="1"/>
          </p:cNvSpPr>
          <p:nvPr/>
        </p:nvSpPr>
        <p:spPr>
          <a:xfrm xmlns:a="http://schemas.openxmlformats.org/drawingml/2006/main">
            <a:off x="762000" y="400050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4. Compare neural and logistic results, then try an academic snapshot.</a:t>
            </a:r>
          </a:p>
        </p:txBody>
      </p:sp>
      <p:sp>
        <p:nvSpPr>
          <p:cNvPr id="7" name="">
            <a:extLst xmlns:a="http://schemas.openxmlformats.org/drawingml/2006/main">
              <a:ext uri="{FF2B5EF4-FFF2-40B4-BE49-F238E27FC236}">
                <a16:creationId xmlns:a16="http://schemas.microsoft.com/office/drawing/2014/main" id="{1FAC328C-3744-4084-B59E-A30C1A8A12ED}"/>
              </a:ext>
            </a:extLst>
          </p:cNvPr>
          <p:cNvSpPr>
            <a:spLocks xmlns:a="http://schemas.openxmlformats.org/drawingml/2006/main" noGrp="1"/>
          </p:cNvSpPr>
          <p:nvPr/>
        </p:nvSpPr>
        <p:spPr>
          <a:xfrm xmlns:a="http://schemas.openxmlformats.org/drawingml/2006/main">
            <a:off x="762000" y="4857750"/>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2D44"/>
                </a:solidFill>
                <a:latin typeface="Arial"/>
                <a:ea typeface="Arial"/>
                <a:cs typeface="Arial"/>
              </a:defRPr>
            </a:defPPr>
            <a:lvl1pPr>
              <a:defRPr sz="2100" b="0">
                <a:solidFill>
                  <a:srgbClr val="162D44"/>
                </a:solidFill>
                <a:latin typeface="Arial"/>
                <a:ea typeface="Arial"/>
                <a:cs typeface="Arial"/>
              </a:defRPr>
            </a:lvl1pPr>
            <a:lvl2pPr>
              <a:defRPr sz="2100" b="0">
                <a:solidFill>
                  <a:srgbClr val="162D44"/>
                </a:solidFill>
                <a:latin typeface="Arial"/>
                <a:ea typeface="Arial"/>
                <a:cs typeface="Arial"/>
              </a:defRPr>
            </a:lvl2pPr>
            <a:lvl3pPr>
              <a:defRPr sz="2100" b="0">
                <a:solidFill>
                  <a:srgbClr val="162D44"/>
                </a:solidFill>
                <a:latin typeface="Arial"/>
                <a:ea typeface="Arial"/>
                <a:cs typeface="Arial"/>
              </a:defRPr>
            </a:lvl3pPr>
            <a:lvl4pPr>
              <a:defRPr sz="2100" b="0">
                <a:solidFill>
                  <a:srgbClr val="162D44"/>
                </a:solidFill>
                <a:latin typeface="Arial"/>
                <a:ea typeface="Arial"/>
                <a:cs typeface="Arial"/>
              </a:defRPr>
            </a:lvl4pPr>
            <a:lvl5pPr>
              <a:defRPr sz="2100" b="0">
                <a:solidFill>
                  <a:srgbClr val="162D44"/>
                </a:solidFill>
                <a:latin typeface="Arial"/>
                <a:ea typeface="Arial"/>
                <a:cs typeface="Arial"/>
              </a:defRPr>
            </a:lvl5pPr>
            <a:lvl6pPr>
              <a:defRPr sz="2100" b="0">
                <a:solidFill>
                  <a:srgbClr val="162D44"/>
                </a:solidFill>
                <a:latin typeface="Arial"/>
                <a:ea typeface="Arial"/>
                <a:cs typeface="Arial"/>
              </a:defRPr>
            </a:lvl6pPr>
            <a:lvl7pPr>
              <a:defRPr sz="2100" b="0">
                <a:solidFill>
                  <a:srgbClr val="162D44"/>
                </a:solidFill>
                <a:latin typeface="Arial"/>
                <a:ea typeface="Arial"/>
                <a:cs typeface="Arial"/>
              </a:defRPr>
            </a:lvl7pPr>
            <a:lvl8pPr>
              <a:defRPr sz="2100" b="0">
                <a:solidFill>
                  <a:srgbClr val="162D44"/>
                </a:solidFill>
                <a:latin typeface="Arial"/>
                <a:ea typeface="Arial"/>
                <a:cs typeface="Arial"/>
              </a:defRPr>
            </a:lvl8pPr>
            <a:lvl9pPr>
              <a:defRPr sz="2100" b="0">
                <a:solidFill>
                  <a:srgbClr val="162D44"/>
                </a:solidFill>
                <a:latin typeface="Arial"/>
                <a:ea typeface="Arial"/>
                <a:cs typeface="Arial"/>
              </a:defRPr>
            </a:lvl9pPr>
          </a:lstStyle>
          <a:p xmlns:a="http://schemas.openxmlformats.org/drawingml/2006/main">
            <a:pPr>
              <a:defRPr sz="2100" b="0">
                <a:solidFill>
                  <a:srgbClr val="162D44"/>
                </a:solidFill>
                <a:latin typeface="Arial"/>
                <a:ea typeface="Arial"/>
                <a:cs typeface="Arial"/>
              </a:defRPr>
            </a:pPr>
            <a:r>
              <a:rPr sz="2100" b="0">
                <a:solidFill>
                  <a:srgbClr val="162D44"/>
                </a:solidFill>
                <a:latin typeface="Arial"/>
                <a:ea typeface="Arial"/>
                <a:cs typeface="Arial"/>
              </a:rPr>
              <a:t>5. Explain the data limitations and the next validation step.</a:t>
            </a:r>
          </a:p>
        </p:txBody>
      </p:sp>
    </p:spTree>
    <p:extLst>
      <p:ext uri="{BB962C8B-B14F-4D97-AF65-F5344CB8AC3E}">
        <p14:creationId xmlns:p14="http://schemas.microsoft.com/office/powerpoint/2010/main" val="1439072416"/>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161081-F7BF-448A-862C-1E6F70904D7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Verified demonstration records</a:t>
            </a:r>
          </a:p>
        </p:txBody>
      </p:sp>
      <p:sp>
        <p:nvSpPr>
          <p:cNvPr id="2" name="">
            <a:extLst xmlns:a="http://schemas.openxmlformats.org/drawingml/2006/main">
              <a:ext uri="{FF2B5EF4-FFF2-40B4-BE49-F238E27FC236}">
                <a16:creationId xmlns:a16="http://schemas.microsoft.com/office/drawing/2014/main" id="{B73B20D3-B2EE-4E0E-A417-F8B720864781}"/>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19</a:t>
            </a:r>
          </a:p>
        </p:txBody>
      </p:sp>
      <p:graphicFrame>
        <p:nvGraphicFramePr>
          <p:cNvPr id="3" name="">
            <a:extLst xmlns:a="http://schemas.openxmlformats.org/drawingml/2006/main">
              <a:ext uri="{FF2B5EF4-FFF2-40B4-BE49-F238E27FC236}">
                <a16:creationId xmlns:a16="http://schemas.microsoft.com/office/drawing/2014/main" id="{45F146D8-AD87-4191-8505-071DCD485E52}"/>
              </a:ext>
            </a:extLst>
          </p:cNvPr>
          <p:cNvGraphicFramePr/>
          <p:nvPr/>
        </p:nvGraphicFramePr>
        <p:xfrm>
          <a:off xmlns:a="http://schemas.openxmlformats.org/drawingml/2006/main" x="609600" y="1524000"/>
          <a:ext xmlns:a="http://schemas.openxmlformats.org/drawingml/2006/main" cx="10972800" cy="4095750"/>
        </p:xfrm>
        <a:graphic xmlns:a="http://schemas.openxmlformats.org/drawingml/2006/main">
          <a:graphicData uri="http://schemas.openxmlformats.org/drawingml/2006/table">
            <a:tbl>
              <a:tblPr/>
              <a:tblGrid>
                <a:gridCol w="7143750"/>
                <a:gridCol w="3829050"/>
              </a:tblGrid>
              <a:tr h="682625">
                <a:tc>
                  <a:txBody>
                    <a:bodyPr/>
                    <a:lstStyle/>
                    <a:p>
                      <a:r>
                        <a:rPr sz="1725" b="1">
                          <a:solidFill>
                            <a:srgbClr val="FFFFFF"/>
                          </a:solidFill>
                          <a:latin typeface="Arial"/>
                          <a:ea typeface="Arial"/>
                          <a:cs typeface="Arial"/>
                        </a:rPr>
                        <a:t>Academic data</a:t>
                      </a:r>
                    </a:p>
                  </a:txBody>
                  <a:tcPr marL="91440" marR="91440" marT="45720" marB="45720">
                    <a:solidFill>
                      <a:srgbClr val="162D44"/>
                    </a:solidFill>
                  </a:tcPr>
                </a:tc>
                <a:tc>
                  <a:txBody>
                    <a:bodyPr/>
                    <a:lstStyle/>
                    <a:p>
                      <a:r>
                        <a:rPr sz="1725" b="1">
                          <a:solidFill>
                            <a:srgbClr val="FFFFFF"/>
                          </a:solidFill>
                          <a:latin typeface="Arial"/>
                          <a:ea typeface="Arial"/>
                          <a:cs typeface="Arial"/>
                        </a:rPr>
                        <a:t>Verified count</a:t>
                      </a:r>
                    </a:p>
                  </a:txBody>
                  <a:tcPr marL="91440" marR="91440" marT="45720" marB="45720">
                    <a:solidFill>
                      <a:srgbClr val="162D44"/>
                    </a:solidFill>
                  </a:tcPr>
                </a:tc>
              </a:tr>
              <a:tr h="682625">
                <a:tc>
                  <a:txBody>
                    <a:bodyPr/>
                    <a:lstStyle/>
                    <a:p>
                      <a:r>
                        <a:rPr sz="1650" b="0">
                          <a:solidFill>
                            <a:srgbClr val="162D44"/>
                          </a:solidFill>
                          <a:latin typeface="Arial"/>
                          <a:ea typeface="Arial"/>
                          <a:cs typeface="Arial"/>
                        </a:rPr>
                        <a:t>Students / teachers / illustrated profiles</a:t>
                      </a:r>
                    </a:p>
                  </a:txBody>
                  <a:tcPr marL="91440" marR="91440" marT="45720" marB="45720">
                    <a:solidFill>
                      <a:srgbClr val="FFFFFF"/>
                    </a:solidFill>
                  </a:tcPr>
                </a:tc>
                <a:tc>
                  <a:txBody>
                    <a:bodyPr/>
                    <a:lstStyle/>
                    <a:p>
                      <a:r>
                        <a:rPr sz="1650" b="0">
                          <a:solidFill>
                            <a:srgbClr val="162D44"/>
                          </a:solidFill>
                          <a:latin typeface="Arial"/>
                          <a:ea typeface="Arial"/>
                          <a:cs typeface="Arial"/>
                        </a:rPr>
                        <a:t>8 / 2 / 10</a:t>
                      </a:r>
                    </a:p>
                  </a:txBody>
                  <a:tcPr marL="91440" marR="91440" marT="45720" marB="45720">
                    <a:solidFill>
                      <a:srgbClr val="FFFFFF"/>
                    </a:solidFill>
                  </a:tcPr>
                </a:tc>
              </a:tr>
              <a:tr h="682625">
                <a:tc>
                  <a:txBody>
                    <a:bodyPr/>
                    <a:lstStyle/>
                    <a:p>
                      <a:r>
                        <a:rPr sz="1650" b="0">
                          <a:solidFill>
                            <a:srgbClr val="162D44"/>
                          </a:solidFill>
                          <a:latin typeface="Arial"/>
                          <a:ea typeface="Arial"/>
                          <a:cs typeface="Arial"/>
                        </a:rPr>
                        <a:t>Courses / offerings / enrollments</a:t>
                      </a:r>
                    </a:p>
                  </a:txBody>
                  <a:tcPr marL="91440" marR="91440" marT="45720" marB="45720">
                    <a:solidFill>
                      <a:srgbClr val="EAF0F3"/>
                    </a:solidFill>
                  </a:tcPr>
                </a:tc>
                <a:tc>
                  <a:txBody>
                    <a:bodyPr/>
                    <a:lstStyle/>
                    <a:p>
                      <a:r>
                        <a:rPr sz="1650" b="0">
                          <a:solidFill>
                            <a:srgbClr val="162D44"/>
                          </a:solidFill>
                          <a:latin typeface="Arial"/>
                          <a:ea typeface="Arial"/>
                          <a:cs typeface="Arial"/>
                        </a:rPr>
                        <a:t>44 / 44 / 231</a:t>
                      </a:r>
                    </a:p>
                  </a:txBody>
                  <a:tcPr marL="91440" marR="91440" marT="45720" marB="45720">
                    <a:solidFill>
                      <a:srgbClr val="EAF0F3"/>
                    </a:solidFill>
                  </a:tcPr>
                </a:tc>
              </a:tr>
              <a:tr h="682625">
                <a:tc>
                  <a:txBody>
                    <a:bodyPr/>
                    <a:lstStyle/>
                    <a:p>
                      <a:r>
                        <a:rPr sz="1650" b="0">
                          <a:solidFill>
                            <a:srgbClr val="162D44"/>
                          </a:solidFill>
                          <a:latin typeface="Arial"/>
                          <a:ea typeface="Arial"/>
                          <a:cs typeface="Arial"/>
                        </a:rPr>
                        <a:t>Grades / attendance records</a:t>
                      </a:r>
                    </a:p>
                  </a:txBody>
                  <a:tcPr marL="91440" marR="91440" marT="45720" marB="45720">
                    <a:solidFill>
                      <a:srgbClr val="FFFFFF"/>
                    </a:solidFill>
                  </a:tcPr>
                </a:tc>
                <a:tc>
                  <a:txBody>
                    <a:bodyPr/>
                    <a:lstStyle/>
                    <a:p>
                      <a:r>
                        <a:rPr sz="1650" b="0">
                          <a:solidFill>
                            <a:srgbClr val="162D44"/>
                          </a:solidFill>
                          <a:latin typeface="Arial"/>
                          <a:ea typeface="Arial"/>
                          <a:cs typeface="Arial"/>
                        </a:rPr>
                        <a:t>217 / 868</a:t>
                      </a:r>
                    </a:p>
                  </a:txBody>
                  <a:tcPr marL="91440" marR="91440" marT="45720" marB="45720">
                    <a:solidFill>
                      <a:srgbClr val="FFFFFF"/>
                    </a:solidFill>
                  </a:tcPr>
                </a:tc>
              </a:tr>
              <a:tr h="682625">
                <a:tc>
                  <a:txBody>
                    <a:bodyPr/>
                    <a:lstStyle/>
                    <a:p>
                      <a:r>
                        <a:rPr sz="1650" b="0">
                          <a:solidFill>
                            <a:srgbClr val="162D44"/>
                          </a:solidFill>
                          <a:latin typeface="Arial"/>
                          <a:ea typeface="Arial"/>
                          <a:cs typeface="Arial"/>
                        </a:rPr>
                        <a:t>Synthetic snapshots / trained experiments</a:t>
                      </a:r>
                    </a:p>
                  </a:txBody>
                  <a:tcPr marL="91440" marR="91440" marT="45720" marB="45720">
                    <a:solidFill>
                      <a:srgbClr val="EAF0F3"/>
                    </a:solidFill>
                  </a:tcPr>
                </a:tc>
                <a:tc>
                  <a:txBody>
                    <a:bodyPr/>
                    <a:lstStyle/>
                    <a:p>
                      <a:r>
                        <a:rPr sz="1650" b="0">
                          <a:solidFill>
                            <a:srgbClr val="162D44"/>
                          </a:solidFill>
                          <a:latin typeface="Arial"/>
                          <a:ea typeface="Arial"/>
                          <a:cs typeface="Arial"/>
                        </a:rPr>
                        <a:t>600 / 1</a:t>
                      </a:r>
                    </a:p>
                  </a:txBody>
                  <a:tcPr marL="91440" marR="91440" marT="45720" marB="45720">
                    <a:solidFill>
                      <a:srgbClr val="EAF0F3"/>
                    </a:solidFill>
                  </a:tcPr>
                </a:tc>
              </a:tr>
              <a:tr h="682625">
                <a:tc>
                  <a:txBody>
                    <a:bodyPr/>
                    <a:lstStyle/>
                    <a:p>
                      <a:r>
                        <a:rPr sz="1650" b="0">
                          <a:solidFill>
                            <a:srgbClr val="162D44"/>
                          </a:solidFill>
                          <a:latin typeface="Arial"/>
                          <a:ea typeface="Arial"/>
                          <a:cs typeface="Arial"/>
                        </a:rPr>
                        <a:t>Full tests / browser checks</a:t>
                      </a:r>
                    </a:p>
                  </a:txBody>
                  <a:tcPr marL="91440" marR="91440" marT="45720" marB="45720">
                    <a:solidFill>
                      <a:srgbClr val="FFFFFF"/>
                    </a:solidFill>
                  </a:tcPr>
                </a:tc>
                <a:tc>
                  <a:txBody>
                    <a:bodyPr/>
                    <a:lstStyle/>
                    <a:p>
                      <a:r>
                        <a:rPr sz="1650" b="0">
                          <a:solidFill>
                            <a:srgbClr val="162D44"/>
                          </a:solidFill>
                          <a:latin typeface="Arial"/>
                          <a:ea typeface="Arial"/>
                          <a:cs typeface="Arial"/>
                        </a:rPr>
                        <a:t>194 passed / 25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07501838"/>
      </p:ext>
    </p:extLst>
  </p:cSld>
</p:sld>
</file>

<file path=ppt/slides/slide2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918D1A-F4B7-4ADC-9D41-8E7B75E7CF0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Fictional student and teacher profiles</a:t>
            </a:r>
          </a:p>
        </p:txBody>
      </p:sp>
      <p:sp>
        <p:nvSpPr>
          <p:cNvPr id="2" name="">
            <a:extLst xmlns:a="http://schemas.openxmlformats.org/drawingml/2006/main">
              <a:ext uri="{FF2B5EF4-FFF2-40B4-BE49-F238E27FC236}">
                <a16:creationId xmlns:a16="http://schemas.microsoft.com/office/drawing/2014/main" id="{2B1E883A-18DA-4575-9611-49A15E7CADA1}"/>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20</a:t>
            </a:r>
          </a:p>
        </p:txBody>
      </p:sp>
      <p:pic>
        <p:nvPicPr>
          <p:cNvPr id="3" name="">
            <a:extLst xmlns:a="http://schemas.openxmlformats.org/drawingml/2006/main">
              <a:ext uri="{FF2B5EF4-FFF2-40B4-BE49-F238E27FC236}">
                <a16:creationId xmlns:a16="http://schemas.microsoft.com/office/drawing/2014/main" id="{2381B0D4-7030-4D3B-BAB8-42FF59827953}"/>
              </a:ext>
            </a:extLst>
          </p:cNvPr>
          <p:cNvPicPr>
            <a:picLocks xmlns:a="http://schemas.openxmlformats.org/drawingml/2006/main" noChangeAspect="1"/>
          </p:cNvPicPr>
          <p:nvPr/>
        </p:nvPicPr>
        <p:blipFill>
          <a:blip xmlns:r="http://schemas.openxmlformats.org/officeDocument/2006/relationships" xmlns:a="http://schemas.openxmlformats.org/drawingml/2006/main" r:embed="Rabfe2545fcfd43a4"/>
          <a:stretch xmlns:a="http://schemas.openxmlformats.org/drawingml/2006/main"/>
        </p:blipFill>
        <p:spPr>
          <a:xfrm xmlns:a="http://schemas.openxmlformats.org/drawingml/2006/main">
            <a:off x="4524944" y="1314450"/>
            <a:ext cx="3142112"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C75CD3A-50A2-45B8-A9CF-BFF1F8B55EA3}"/>
              </a:ext>
            </a:extLst>
          </p:cNvPr>
          <p:cNvSpPr>
            <a:spLocks xmlns:a="http://schemas.openxmlformats.org/drawingml/2006/main" noGrp="1"/>
          </p:cNvSpPr>
          <p:nvPr/>
        </p:nvSpPr>
        <p:spPr>
          <a:xfrm xmlns:a="http://schemas.openxmlformats.org/drawingml/2006/main">
            <a:off x="7620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All ten people have illustrated profile images.</a:t>
            </a:r>
          </a:p>
        </p:txBody>
      </p:sp>
    </p:spTree>
    <p:extLst>
      <p:ext uri="{BB962C8B-B14F-4D97-AF65-F5344CB8AC3E}">
        <p14:creationId xmlns:p14="http://schemas.microsoft.com/office/powerpoint/2010/main" val="792590114"/>
      </p:ext>
    </p:extLst>
  </p:cSld>
</p:sld>
</file>

<file path=ppt/slides/slide2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2CA7FA-6CC4-489E-B454-53C168FE867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Trained neural experiment in the application</a:t>
            </a:r>
          </a:p>
        </p:txBody>
      </p:sp>
      <p:sp>
        <p:nvSpPr>
          <p:cNvPr id="2" name="">
            <a:extLst xmlns:a="http://schemas.openxmlformats.org/drawingml/2006/main">
              <a:ext uri="{FF2B5EF4-FFF2-40B4-BE49-F238E27FC236}">
                <a16:creationId xmlns:a16="http://schemas.microsoft.com/office/drawing/2014/main" id="{8B24012C-C79D-4855-BC3D-DB15A4BF934C}"/>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21</a:t>
            </a:r>
          </a:p>
        </p:txBody>
      </p:sp>
      <p:pic>
        <p:nvPicPr>
          <p:cNvPr id="3" name="">
            <a:extLst xmlns:a="http://schemas.openxmlformats.org/drawingml/2006/main">
              <a:ext uri="{FF2B5EF4-FFF2-40B4-BE49-F238E27FC236}">
                <a16:creationId xmlns:a16="http://schemas.microsoft.com/office/drawing/2014/main" id="{3E85004B-85EC-4B78-B20D-7F3AC2BCFFA0}"/>
              </a:ext>
            </a:extLst>
          </p:cNvPr>
          <p:cNvPicPr>
            <a:picLocks xmlns:a="http://schemas.openxmlformats.org/drawingml/2006/main" noChangeAspect="1"/>
          </p:cNvPicPr>
          <p:nvPr/>
        </p:nvPicPr>
        <p:blipFill>
          <a:blip xmlns:r="http://schemas.openxmlformats.org/officeDocument/2006/relationships" xmlns:a="http://schemas.openxmlformats.org/drawingml/2006/main" r:embed="R277e2177eced4326"/>
          <a:stretch xmlns:a="http://schemas.openxmlformats.org/drawingml/2006/main"/>
        </p:blipFill>
        <p:spPr>
          <a:xfrm xmlns:a="http://schemas.openxmlformats.org/drawingml/2006/main">
            <a:off x="3453889" y="1314450"/>
            <a:ext cx="5284221"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7CCA86-D1A7-43F7-85BB-34A89B2D8EEC}"/>
              </a:ext>
            </a:extLst>
          </p:cNvPr>
          <p:cNvSpPr>
            <a:spLocks xmlns:a="http://schemas.openxmlformats.org/drawingml/2006/main" noGrp="1"/>
          </p:cNvSpPr>
          <p:nvPr/>
        </p:nvSpPr>
        <p:spPr>
          <a:xfrm xmlns:a="http://schemas.openxmlformats.org/drawingml/2006/main">
            <a:off x="7620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Measured comparison and an interactive academic snapshot.</a:t>
            </a:r>
          </a:p>
        </p:txBody>
      </p:sp>
    </p:spTree>
    <p:extLst>
      <p:ext uri="{BB962C8B-B14F-4D97-AF65-F5344CB8AC3E}">
        <p14:creationId xmlns:p14="http://schemas.microsoft.com/office/powerpoint/2010/main" val="552883144"/>
      </p:ext>
    </p:extLst>
  </p:cSld>
</p:sld>
</file>

<file path=ppt/slides/slide2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7847C3-DFD0-4644-8E30-94376FC9B03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2D44"/>
                </a:solidFill>
                <a:latin typeface="Arial"/>
                <a:ea typeface="Arial"/>
                <a:cs typeface="Arial"/>
              </a:defRPr>
            </a:defPPr>
            <a:lvl1pPr>
              <a:defRPr sz="3150" b="1">
                <a:solidFill>
                  <a:srgbClr val="162D44"/>
                </a:solidFill>
                <a:latin typeface="Arial"/>
                <a:ea typeface="Arial"/>
                <a:cs typeface="Arial"/>
              </a:defRPr>
            </a:lvl1pPr>
            <a:lvl2pPr>
              <a:defRPr sz="3150" b="1">
                <a:solidFill>
                  <a:srgbClr val="162D44"/>
                </a:solidFill>
                <a:latin typeface="Arial"/>
                <a:ea typeface="Arial"/>
                <a:cs typeface="Arial"/>
              </a:defRPr>
            </a:lvl2pPr>
            <a:lvl3pPr>
              <a:defRPr sz="3150" b="1">
                <a:solidFill>
                  <a:srgbClr val="162D44"/>
                </a:solidFill>
                <a:latin typeface="Arial"/>
                <a:ea typeface="Arial"/>
                <a:cs typeface="Arial"/>
              </a:defRPr>
            </a:lvl3pPr>
            <a:lvl4pPr>
              <a:defRPr sz="3150" b="1">
                <a:solidFill>
                  <a:srgbClr val="162D44"/>
                </a:solidFill>
                <a:latin typeface="Arial"/>
                <a:ea typeface="Arial"/>
                <a:cs typeface="Arial"/>
              </a:defRPr>
            </a:lvl4pPr>
            <a:lvl5pPr>
              <a:defRPr sz="3150" b="1">
                <a:solidFill>
                  <a:srgbClr val="162D44"/>
                </a:solidFill>
                <a:latin typeface="Arial"/>
                <a:ea typeface="Arial"/>
                <a:cs typeface="Arial"/>
              </a:defRPr>
            </a:lvl5pPr>
            <a:lvl6pPr>
              <a:defRPr sz="3150" b="1">
                <a:solidFill>
                  <a:srgbClr val="162D44"/>
                </a:solidFill>
                <a:latin typeface="Arial"/>
                <a:ea typeface="Arial"/>
                <a:cs typeface="Arial"/>
              </a:defRPr>
            </a:lvl6pPr>
            <a:lvl7pPr>
              <a:defRPr sz="3150" b="1">
                <a:solidFill>
                  <a:srgbClr val="162D44"/>
                </a:solidFill>
                <a:latin typeface="Arial"/>
                <a:ea typeface="Arial"/>
                <a:cs typeface="Arial"/>
              </a:defRPr>
            </a:lvl7pPr>
            <a:lvl8pPr>
              <a:defRPr sz="3150" b="1">
                <a:solidFill>
                  <a:srgbClr val="162D44"/>
                </a:solidFill>
                <a:latin typeface="Arial"/>
                <a:ea typeface="Arial"/>
                <a:cs typeface="Arial"/>
              </a:defRPr>
            </a:lvl8pPr>
            <a:lvl9pPr>
              <a:defRPr sz="3150" b="1">
                <a:solidFill>
                  <a:srgbClr val="162D44"/>
                </a:solidFill>
                <a:latin typeface="Arial"/>
                <a:ea typeface="Arial"/>
                <a:cs typeface="Arial"/>
              </a:defRPr>
            </a:lvl9pPr>
          </a:lstStyle>
          <a:p xmlns:a="http://schemas.openxmlformats.org/drawingml/2006/main">
            <a:pPr>
              <a:defRPr sz="3150" b="1">
                <a:solidFill>
                  <a:srgbClr val="162D44"/>
                </a:solidFill>
                <a:latin typeface="Arial"/>
                <a:ea typeface="Arial"/>
                <a:cs typeface="Arial"/>
              </a:defRPr>
            </a:pPr>
            <a:r>
              <a:rPr sz="3150" b="1">
                <a:solidFill>
                  <a:srgbClr val="162D44"/>
                </a:solidFill>
                <a:latin typeface="Arial"/>
                <a:ea typeface="Arial"/>
                <a:cs typeface="Arial"/>
              </a:rPr>
              <a:t>OpenCV attendance image upload</a:t>
            </a:r>
          </a:p>
        </p:txBody>
      </p:sp>
      <p:sp>
        <p:nvSpPr>
          <p:cNvPr id="2" name="">
            <a:extLst xmlns:a="http://schemas.openxmlformats.org/drawingml/2006/main">
              <a:ext uri="{FF2B5EF4-FFF2-40B4-BE49-F238E27FC236}">
                <a16:creationId xmlns:a16="http://schemas.microsoft.com/office/drawing/2014/main" id="{F640F914-37C4-4FAA-9177-12569378598A}"/>
              </a:ext>
            </a:extLst>
          </p:cNvPr>
          <p:cNvSpPr>
            <a:spLocks xmlns:a="http://schemas.openxmlformats.org/drawingml/2006/main" noGrp="1"/>
          </p:cNvSpPr>
          <p:nvPr/>
        </p:nvSpPr>
        <p:spPr>
          <a:xfrm xmlns:a="http://schemas.openxmlformats.org/drawingml/2006/main">
            <a:off x="609600" y="63817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USAMIS   /   22</a:t>
            </a:r>
          </a:p>
        </p:txBody>
      </p:sp>
      <p:pic>
        <p:nvPicPr>
          <p:cNvPr id="3" name="">
            <a:extLst xmlns:a="http://schemas.openxmlformats.org/drawingml/2006/main">
              <a:ext uri="{FF2B5EF4-FFF2-40B4-BE49-F238E27FC236}">
                <a16:creationId xmlns:a16="http://schemas.microsoft.com/office/drawing/2014/main" id="{B63C537D-699C-4D0E-A6AE-2154A9F98F84}"/>
              </a:ext>
            </a:extLst>
          </p:cNvPr>
          <p:cNvPicPr>
            <a:picLocks xmlns:a="http://schemas.openxmlformats.org/drawingml/2006/main" noChangeAspect="1"/>
          </p:cNvPicPr>
          <p:nvPr/>
        </p:nvPicPr>
        <p:blipFill>
          <a:blip xmlns:r="http://schemas.openxmlformats.org/officeDocument/2006/relationships" xmlns:a="http://schemas.openxmlformats.org/drawingml/2006/main" r:embed="R0a6af42e321042f3"/>
          <a:stretch xmlns:a="http://schemas.openxmlformats.org/drawingml/2006/main"/>
        </p:blipFill>
        <p:spPr>
          <a:xfrm xmlns:a="http://schemas.openxmlformats.org/drawingml/2006/main">
            <a:off x="3091543" y="1314450"/>
            <a:ext cx="6008914"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C4E178-12C1-4686-BF5F-03160146DAF8}"/>
              </a:ext>
            </a:extLst>
          </p:cNvPr>
          <p:cNvSpPr>
            <a:spLocks xmlns:a="http://schemas.openxmlformats.org/drawingml/2006/main" noGrp="1"/>
          </p:cNvSpPr>
          <p:nvPr/>
        </p:nvSpPr>
        <p:spPr>
          <a:xfrm xmlns:a="http://schemas.openxmlformats.org/drawingml/2006/main">
            <a:off x="7620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575"/>
                </a:solidFill>
                <a:latin typeface="Arial"/>
                <a:ea typeface="Arial"/>
                <a:cs typeface="Arial"/>
              </a:defRPr>
            </a:defPPr>
            <a:lvl1pPr>
              <a:defRPr sz="1725" b="0">
                <a:solidFill>
                  <a:srgbClr val="526575"/>
                </a:solidFill>
                <a:latin typeface="Arial"/>
                <a:ea typeface="Arial"/>
                <a:cs typeface="Arial"/>
              </a:defRPr>
            </a:lvl1pPr>
            <a:lvl2pPr>
              <a:defRPr sz="1725" b="0">
                <a:solidFill>
                  <a:srgbClr val="526575"/>
                </a:solidFill>
                <a:latin typeface="Arial"/>
                <a:ea typeface="Arial"/>
                <a:cs typeface="Arial"/>
              </a:defRPr>
            </a:lvl2pPr>
            <a:lvl3pPr>
              <a:defRPr sz="1725" b="0">
                <a:solidFill>
                  <a:srgbClr val="526575"/>
                </a:solidFill>
                <a:latin typeface="Arial"/>
                <a:ea typeface="Arial"/>
                <a:cs typeface="Arial"/>
              </a:defRPr>
            </a:lvl3pPr>
            <a:lvl4pPr>
              <a:defRPr sz="1725" b="0">
                <a:solidFill>
                  <a:srgbClr val="526575"/>
                </a:solidFill>
                <a:latin typeface="Arial"/>
                <a:ea typeface="Arial"/>
                <a:cs typeface="Arial"/>
              </a:defRPr>
            </a:lvl4pPr>
            <a:lvl5pPr>
              <a:defRPr sz="1725" b="0">
                <a:solidFill>
                  <a:srgbClr val="526575"/>
                </a:solidFill>
                <a:latin typeface="Arial"/>
                <a:ea typeface="Arial"/>
                <a:cs typeface="Arial"/>
              </a:defRPr>
            </a:lvl5pPr>
            <a:lvl6pPr>
              <a:defRPr sz="1725" b="0">
                <a:solidFill>
                  <a:srgbClr val="526575"/>
                </a:solidFill>
                <a:latin typeface="Arial"/>
                <a:ea typeface="Arial"/>
                <a:cs typeface="Arial"/>
              </a:defRPr>
            </a:lvl6pPr>
            <a:lvl7pPr>
              <a:defRPr sz="1725" b="0">
                <a:solidFill>
                  <a:srgbClr val="526575"/>
                </a:solidFill>
                <a:latin typeface="Arial"/>
                <a:ea typeface="Arial"/>
                <a:cs typeface="Arial"/>
              </a:defRPr>
            </a:lvl7pPr>
            <a:lvl8pPr>
              <a:defRPr sz="1725" b="0">
                <a:solidFill>
                  <a:srgbClr val="526575"/>
                </a:solidFill>
                <a:latin typeface="Arial"/>
                <a:ea typeface="Arial"/>
                <a:cs typeface="Arial"/>
              </a:defRPr>
            </a:lvl8pPr>
            <a:lvl9pPr>
              <a:defRPr sz="1725" b="0">
                <a:solidFill>
                  <a:srgbClr val="526575"/>
                </a:solidFill>
                <a:latin typeface="Arial"/>
                <a:ea typeface="Arial"/>
                <a:cs typeface="Arial"/>
              </a:defRPr>
            </a:lvl9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Signed session validation connects image decoding to attendance records.</a:t>
            </a:r>
          </a:p>
        </p:txBody>
      </p:sp>
    </p:spTree>
    <p:extLst>
      <p:ext uri="{BB962C8B-B14F-4D97-AF65-F5344CB8AC3E}">
        <p14:creationId xmlns:p14="http://schemas.microsoft.com/office/powerpoint/2010/main" val="1673234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2026-10-29T19:00:45.8910000Z</dcterms:created>
  <dcterms:modified xsi:type="dcterms:W3CDTF">2026-10-29T19:00:45.8910000Z</dcterms:modified>
</coreProperties>
</file>