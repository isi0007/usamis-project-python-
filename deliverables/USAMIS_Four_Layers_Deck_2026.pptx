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54864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8FB0E0"/>
                </a:solidFill>
                <a:latin typeface="Arial"/>
              </a:rPr>
              <a:t>UNIVERSITY STUDENT ACADEMIC MANAGEMENT INFORMATION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156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USAMIS — Four-Layer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C9D6EA"/>
                </a:solidFill>
                <a:latin typeface="Arial"/>
              </a:rPr>
              <a:t>QR attendance with OpenCV image decoding and an early academic-risk neural experiment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8FB0E0"/>
                </a:solidFill>
                <a:latin typeface="Arial"/>
              </a:rPr>
              <a:t>Jinling Institute of Technology  ·  Python 3.11 · Flask · PostgreSQL 17  ·  30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68580" cy="65836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486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02D72"/>
                </a:solidFill>
                <a:latin typeface="Arial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Arial"/>
              </a:rPr>
              <a:t>What this deck covers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10607040" cy="18288"/>
          </a:xfrm>
          <a:prstGeom prst="rect">
            <a:avLst/>
          </a:prstGeom>
          <a:solidFill>
            <a:srgbClr val="D5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475488" cy="475488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65376"/>
            <a:ext cx="475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856232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1F2933"/>
                </a:solidFill>
                <a:latin typeface="Arial"/>
              </a:rPr>
              <a:t>Project overview and scope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50008"/>
            <a:ext cx="475488" cy="475488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32304"/>
            <a:ext cx="475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423160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1F2933"/>
                </a:solidFill>
                <a:latin typeface="Arial"/>
              </a:rPr>
              <a:t>The four logical layers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916936"/>
            <a:ext cx="475488" cy="475488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99232"/>
            <a:ext cx="475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990088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1F2933"/>
                </a:solidFill>
                <a:latin typeface="Arial"/>
              </a:rPr>
              <a:t>Layer 3 — academic processing and algorithms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483864"/>
            <a:ext cx="475488" cy="475488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566160"/>
            <a:ext cx="475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557016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1F2933"/>
                </a:solidFill>
                <a:latin typeface="Arial"/>
              </a:rPr>
              <a:t>Request trace: OpenCV QR attendance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050792"/>
            <a:ext cx="475488" cy="475488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33088"/>
            <a:ext cx="475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123944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1F2933"/>
                </a:solidFill>
                <a:latin typeface="Arial"/>
              </a:rPr>
              <a:t>Request trace: neural risk experiment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617720"/>
            <a:ext cx="475488" cy="475488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700016"/>
            <a:ext cx="475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690872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1F2933"/>
                </a:solidFill>
                <a:latin typeface="Arial"/>
              </a:rPr>
              <a:t>Model architecture, training and evaluation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184648"/>
            <a:ext cx="475488" cy="475488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266944"/>
            <a:ext cx="475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257800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1F2933"/>
                </a:solidFill>
                <a:latin typeface="Arial"/>
              </a:rPr>
              <a:t>Verification evidence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751576"/>
            <a:ext cx="475488" cy="475488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833872"/>
            <a:ext cx="4754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5824728"/>
            <a:ext cx="9692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0">
                <a:solidFill>
                  <a:srgbClr val="1F2933"/>
                </a:solidFill>
                <a:latin typeface="Arial"/>
              </a:rPr>
              <a:t>Limitations and 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2011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600" b="1">
                <a:solidFill>
                  <a:srgbClr val="1B4A94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632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280160" cy="4572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C9D6EA"/>
                </a:solidFill>
                <a:latin typeface="Arial"/>
              </a:rPr>
              <a:t>A role-based academic management information system, extended with computer vision and a research-grade neural experiment.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68580" cy="65836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486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02D72"/>
                </a:solidFill>
                <a:latin typeface="Arial"/>
              </a:rPr>
              <a:t>What USAMIS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Arial"/>
              </a:rPr>
              <a:t>One Flask application serving five academic roles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10607040" cy="18288"/>
          </a:xfrm>
          <a:prstGeom prst="rect">
            <a:avLst/>
          </a:prstGeom>
          <a:solidFill>
            <a:srgbClr val="D5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Enrolment, academic history, attendance, fees and results in one place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Departments, programmes, courses, semesters and course offerings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Deterministic eligibility rules, credit-weighted GPA, published results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QR session links plus photographed-code decoding with OpenCV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Decimal-safe assessment, payment records and outstanding balances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Generated reports, exports and an immutable audit log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68580" cy="65836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486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02D72"/>
                </a:solidFill>
                <a:latin typeface="Arial"/>
              </a:rPr>
              <a:t>The System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Arial"/>
              </a:rPr>
              <a:t>Measured on the completed demonstration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10607040" cy="18288"/>
          </a:xfrm>
          <a:prstGeom prst="rect">
            <a:avLst/>
          </a:prstGeom>
          <a:solidFill>
            <a:srgbClr val="D5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65960"/>
            <a:ext cx="243459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243459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0052CC"/>
                </a:solidFill>
                <a:latin typeface="Arial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27248"/>
            <a:ext cx="216027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Arial"/>
              </a:rPr>
              <a:t>application tables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31870" y="1965960"/>
            <a:ext cx="243459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1870" y="2240280"/>
            <a:ext cx="243459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0052CC"/>
                </a:solidFill>
                <a:latin typeface="Arial"/>
              </a:rPr>
              <a:t>194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9030" y="3127248"/>
            <a:ext cx="216027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Arial"/>
              </a:rPr>
              <a:t>automated tests passed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0780" y="1965960"/>
            <a:ext cx="243459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0780" y="2240280"/>
            <a:ext cx="243459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0052CC"/>
                </a:solidFill>
                <a:latin typeface="Arial"/>
              </a:rP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7940" y="3127248"/>
            <a:ext cx="216027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Arial"/>
              </a:rPr>
              <a:t>web pages verified 200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49690" y="1965960"/>
            <a:ext cx="243459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49690" y="2240280"/>
            <a:ext cx="243459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0052CC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6850" y="3127248"/>
            <a:ext cx="216027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Arial"/>
              </a:rPr>
              <a:t>implemented roles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148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Arial"/>
              </a:rPr>
              <a:t>Roles: Administrator, Registrar, Teacher, Finance Officer, Student and Parent. The parent portal reads a linked student's record and never writes academic data.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68580" cy="65836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486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02D72"/>
                </a:solidFill>
                <a:latin typeface="Arial"/>
              </a:rPr>
              <a:t>Scope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Arial"/>
              </a:rPr>
              <a:t>What was added and what was deliberately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10607040" cy="18288"/>
          </a:xfrm>
          <a:prstGeom prst="rect">
            <a:avLst/>
          </a:prstGeom>
          <a:solidFill>
            <a:srgbClr val="D5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OpenCV image scanning, QR POST confirmation, independent neural experiment, logistic comparison, artefact persistence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Deterministic enrolment, grade/GPA and fee algorithms — official records must follow institutional rules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LSTM until genuine weekly sequences exist; face recognition without a validated requirement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Transformers until data scale justifies the complexity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Consented historical snapshots, later-cohort evaluation, calibration checks, human review of alerts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2011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600" b="1">
                <a:solidFill>
                  <a:srgbClr val="1B4A94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632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The Four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280160" cy="4572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C9D6EA"/>
                </a:solidFill>
                <a:latin typeface="Arial"/>
              </a:rPr>
              <a:t>Logical responsibilities inside a single Flask process — not four separately deployed servers.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68580" cy="65836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486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02D72"/>
                </a:solidFill>
                <a:latin typeface="Arial"/>
              </a:rPr>
              <a:t>Layer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Arial"/>
              </a:rPr>
              <a:t>Each layer carries independent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10607040" cy="18288"/>
          </a:xfrm>
          <a:prstGeom prst="rect">
            <a:avLst/>
          </a:prstGeom>
          <a:solidFill>
            <a:srgbClr val="D5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10512"/>
            <a:ext cx="10561320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9293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rial"/>
              </a:rPr>
              <a:t>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44952" y="1901952"/>
            <a:ext cx="29855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rial"/>
              </a:rPr>
              <a:t>Responsibility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3348" y="1901952"/>
            <a:ext cx="277428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0517" y="1901952"/>
            <a:ext cx="21406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194560"/>
            <a:ext cx="10561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276856"/>
            <a:ext cx="19293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02D72"/>
                </a:solidFill>
                <a:latin typeface="Arial"/>
              </a:rPr>
              <a:t>1.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2276856"/>
            <a:ext cx="29855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Render pages, collect input, display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3348" y="2276856"/>
            <a:ext cx="277428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app/frontend/templates, static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0517" y="2276856"/>
            <a:ext cx="214061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Templates compile; pages inspected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578608"/>
            <a:ext cx="10561320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2660904"/>
            <a:ext cx="19293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02D72"/>
                </a:solidFill>
                <a:latin typeface="Arial"/>
              </a:rPr>
              <a:t>2.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4952" y="2660904"/>
            <a:ext cx="29855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Route requests, authenticate, authorise, adapt forms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3348" y="2660904"/>
            <a:ext cx="277428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Flask blueprints, security/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0517" y="2660904"/>
            <a:ext cx="214061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HTTP, auth and invalid-input tests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2962656"/>
            <a:ext cx="10561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3044952"/>
            <a:ext cx="19293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02D72"/>
                </a:solidFill>
                <a:latin typeface="Arial"/>
              </a:rPr>
              <a:t>3. Academic 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4952" y="3044952"/>
            <a:ext cx="29855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Apply policy, orchestrate, decode QR, train and infer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3348" y="3044952"/>
            <a:ext cx="277428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backend/services, algorithms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0517" y="3044952"/>
            <a:ext cx="214061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Pure algorithm tests; real QR pixels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3346704"/>
            <a:ext cx="10561320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3429000"/>
            <a:ext cx="192938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02D72"/>
                </a:solidFill>
                <a:latin typeface="Arial"/>
              </a:rPr>
              <a:t>4.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44952" y="3429000"/>
            <a:ext cx="298551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Store and retrieve records and artefacts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3348" y="3429000"/>
            <a:ext cx="277428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database/models, repositories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0517" y="3429000"/>
            <a:ext cx="214061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Round-trip and persistence tests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68580" cy="65836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486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02D72"/>
                </a:solidFill>
                <a:latin typeface="Arial"/>
              </a:rPr>
              <a:t>Why Four Layers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Arial"/>
              </a:rPr>
              <a:t>Separation that is checkable, not just claimed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10607040" cy="18288"/>
          </a:xfrm>
          <a:prstGeom prst="rect">
            <a:avLst/>
          </a:prstGeom>
          <a:solidFill>
            <a:srgbClr val="D5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10512"/>
            <a:ext cx="33253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10512"/>
            <a:ext cx="3325368" cy="5029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2959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2D72"/>
                </a:solidFill>
                <a:latin typeface="Arial"/>
              </a:rPr>
              <a:t>No framework leakage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14016"/>
            <a:ext cx="295960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Arial"/>
              </a:rPr>
              <a:t>Layer 3 algorithms contain no Flask, SQLAlchemy or PostgreSQL imports. They are testable as pure functions.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0936" y="1810512"/>
            <a:ext cx="33253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0936" y="1810512"/>
            <a:ext cx="3325368" cy="5029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3816" y="1993392"/>
            <a:ext cx="2959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2D72"/>
                </a:solidFill>
                <a:latin typeface="Arial"/>
              </a:rPr>
              <a:t>Repositories, not queries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3816" y="2414016"/>
            <a:ext cx="295960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Arial"/>
              </a:rPr>
              <a:t>New code reaches the database through repositories. The neural route calls a service, which calls its repository.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8912" y="1810512"/>
            <a:ext cx="33253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8912" y="1810512"/>
            <a:ext cx="3325368" cy="5029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1792" y="1993392"/>
            <a:ext cx="2959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2D72"/>
                </a:solidFill>
                <a:latin typeface="Arial"/>
              </a:rPr>
              <a:t>Honest boundaries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1792" y="2414016"/>
            <a:ext cx="295960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Arial"/>
              </a:rPr>
              <a:t>Some legacy Flask routes still query the ORM directly. The architecture is a practical separation, not a purity claim.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483864"/>
            <a:ext cx="33253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483864"/>
            <a:ext cx="3325368" cy="5029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666744"/>
            <a:ext cx="2959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2D72"/>
                </a:solidFill>
                <a:latin typeface="Arial"/>
              </a:rPr>
              <a:t>Independent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087368"/>
            <a:ext cx="295960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Arial"/>
              </a:rPr>
              <a:t>Each layer has its own verification scope in verify_layers.ps1, plus integrated request tests on top.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40936" y="3483864"/>
            <a:ext cx="33253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40936" y="3483864"/>
            <a:ext cx="3325368" cy="5029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3816" y="3666744"/>
            <a:ext cx="2959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2D72"/>
                </a:solidFill>
                <a:latin typeface="Arial"/>
              </a:rPr>
              <a:t>Compile without a 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3816" y="4087368"/>
            <a:ext cx="295960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Arial"/>
              </a:rPr>
              <a:t>All Jinja templates compile standalone, proving Layer 1 is not entangled with a running application.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58912" y="3483864"/>
            <a:ext cx="33253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8912" y="3483864"/>
            <a:ext cx="3325368" cy="5029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1792" y="3666744"/>
            <a:ext cx="2959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2D72"/>
                </a:solidFill>
                <a:latin typeface="Arial"/>
              </a:rPr>
              <a:t>Audit by construction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1792" y="4087368"/>
            <a:ext cx="295960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Arial"/>
              </a:rPr>
              <a:t>Every sensitive operation writes an audit row in Layer 4 as part of the same transaction.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2011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600" b="1">
                <a:solidFill>
                  <a:srgbClr val="1B4A94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632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Layer 3 — Algorithms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280160" cy="4572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C9D6EA"/>
                </a:solidFill>
                <a:latin typeface="Arial"/>
              </a:rPr>
              <a:t>Deterministic policy for official records. Statistical models only for research and support.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68580" cy="65836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486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02D72"/>
                </a:solidFill>
                <a:latin typeface="Arial"/>
              </a:rPr>
              <a:t>Deterministic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Arial"/>
              </a:rPr>
              <a:t>Explainable, reproducible, and auditable by an examiner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10607040" cy="18288"/>
          </a:xfrm>
          <a:prstGeom prst="rect">
            <a:avLst/>
          </a:prstGeom>
          <a:solidFill>
            <a:srgbClr val="D5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Checks status, duplicates, prerequisites and capacity. No score, no probability — a rule outcome.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Credit-weighted average of published grades, expressed on the institutional scale.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Decimal-safe arithmetic with explicit status rules, avoiding floating-point drift.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A student's official standing must be defensible to an appeal. Rules can be read, cited and corrected.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68580" cy="65836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486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02D72"/>
                </a:solidFill>
                <a:latin typeface="Arial"/>
              </a:rPr>
              <a:t>Probabilistic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Arial"/>
              </a:rPr>
              <a:t>Where statistical learning is appropriate — and where it is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10607040" cy="18288"/>
          </a:xfrm>
          <a:prstGeom prst="rect">
            <a:avLst/>
          </a:prstGeom>
          <a:solidFill>
            <a:srgbClr val="D5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Computer vision, emphatically not deep learning. A classical detector reads pixels from a photographed code.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A trainable 4–32–16–1 network — this is the deep-learning component of the demonstration.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The same implementation with no hidden layer. A fair, like-for-like baseline.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No model changes a student's grades, enrolment or official academic standing. Ever.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2011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600" b="1">
                <a:solidFill>
                  <a:srgbClr val="1B4A94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632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QR Attendance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280160" cy="4572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C9D6EA"/>
                </a:solidFill>
                <a:latin typeface="Arial"/>
              </a:rPr>
              <a:t>Acquire attendance reliably, from an image, with signature and replay protection.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68580" cy="65836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486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02D72"/>
                </a:solidFill>
                <a:latin typeface="Arial"/>
              </a:rPr>
              <a:t>Request Trace — OpenCV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Arial"/>
              </a:rPr>
              <a:t>One scan, four layers, six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10607040" cy="18288"/>
          </a:xfrm>
          <a:prstGeom prst="rect">
            <a:avLst/>
          </a:prstGeom>
          <a:solidFill>
            <a:srgbClr val="D5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A signed-in student photographs or uploads the displayed QR image.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The route checks login, the attendance permission and CSRF protection.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OpenCV decodes the image; attendance logic verifies the HMAC signature, expiry, open session and enrolment.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PostgreSQL stores the attendance row and an audit entry in one transaction.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An existing daily record is updated, never duplicated — the operation is idempotent.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The student sees confirmation and their attendance history.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68580" cy="65836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486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02D72"/>
                </a:solidFill>
                <a:latin typeface="Arial"/>
              </a:rPr>
              <a:t>Security Properties of Scanning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Arial"/>
              </a:rPr>
              <a:t>Deliberate constraints, stated plainly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10607040" cy="18288"/>
          </a:xfrm>
          <a:prstGeom prst="rect">
            <a:avLst/>
          </a:prstGeom>
          <a:solidFill>
            <a:srgbClr val="D5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10512"/>
            <a:ext cx="33253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10512"/>
            <a:ext cx="3325368" cy="5029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2959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2D72"/>
                </a:solidFill>
                <a:latin typeface="Arial"/>
              </a:rPr>
              <a:t>Processed in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14016"/>
            <a:ext cx="295960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Arial"/>
              </a:rPr>
              <a:t>The uploaded image is never persisted to disk. Decoding happens entirely in memory.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0936" y="1810512"/>
            <a:ext cx="33253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0936" y="1810512"/>
            <a:ext cx="3325368" cy="5029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3816" y="1993392"/>
            <a:ext cx="2959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2D72"/>
                </a:solidFill>
                <a:latin typeface="Arial"/>
              </a:rPr>
              <a:t>No URL following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3816" y="2414016"/>
            <a:ext cx="295960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Arial"/>
              </a:rPr>
              <a:t>The decoder never follows a URL embedded in an uploaded QR code. Tampered codes are rejected.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8912" y="1810512"/>
            <a:ext cx="33253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8912" y="1810512"/>
            <a:ext cx="3325368" cy="5029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1792" y="1993392"/>
            <a:ext cx="2959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2D72"/>
                </a:solidFill>
                <a:latin typeface="Arial"/>
              </a:rPr>
              <a:t>POST confirms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1792" y="2414016"/>
            <a:ext cx="295960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Arial"/>
              </a:rPr>
              <a:t>An ordinary phone-camera QR link first shows a confirmation page. Only the POST writes attendance.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483864"/>
            <a:ext cx="33253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483864"/>
            <a:ext cx="3325368" cy="5029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666744"/>
            <a:ext cx="2959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2D72"/>
                </a:solidFill>
                <a:latin typeface="Arial"/>
              </a:rPr>
              <a:t>HMAC signed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087368"/>
            <a:ext cx="295960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Arial"/>
              </a:rPr>
              <a:t>Session tokens are signed and time-limited, so a captured token cannot be replayed later.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40936" y="3483864"/>
            <a:ext cx="33253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40936" y="3483864"/>
            <a:ext cx="3325368" cy="5029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3816" y="3666744"/>
            <a:ext cx="2959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2D72"/>
                </a:solidFill>
                <a:latin typeface="Arial"/>
              </a:rPr>
              <a:t>Idempotent writes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3816" y="4087368"/>
            <a:ext cx="295960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Arial"/>
              </a:rPr>
              <a:t>A repeat scan updates the day's record rather than creating a second one.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58912" y="3483864"/>
            <a:ext cx="33253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8912" y="3483864"/>
            <a:ext cx="3325368" cy="5029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1792" y="3666744"/>
            <a:ext cx="2959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2D72"/>
                </a:solidFill>
                <a:latin typeface="Arial"/>
              </a:rPr>
              <a:t>Honest limitation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1792" y="4087368"/>
            <a:ext cx="295960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Arial"/>
              </a:rPr>
              <a:t>Scanning does not prove physical presence, and cannot stop a student sharing an active code.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68580" cy="65836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486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02D72"/>
                </a:solidFill>
                <a:latin typeface="Arial"/>
              </a:rPr>
              <a:t>The Student Scanner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Arial"/>
              </a:rPr>
              <a:t>Photograph upload with live confirmation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10607040" cy="18288"/>
          </a:xfrm>
          <a:prstGeom prst="rect">
            <a:avLst/>
          </a:prstGeom>
          <a:solidFill>
            <a:srgbClr val="D5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-demo-attendance-sc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674" y="1783080"/>
            <a:ext cx="5392347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Arial"/>
              </a:rPr>
              <a:t>Student view at /attendance/scanner — upload or photograph a QR code to record attendance.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2011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600" b="1">
                <a:solidFill>
                  <a:srgbClr val="1B4A94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632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Neural Risk Experiment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280160" cy="4572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C9D6EA"/>
                </a:solidFill>
                <a:latin typeface="Arial"/>
              </a:rPr>
              <a:t>Can earlier academic signals identify students who need support? A measured, honest investigation.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68580" cy="65836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486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02D72"/>
                </a:solidFill>
                <a:latin typeface="Arial"/>
              </a:rPr>
              <a:t>The Research Question, Framed Carefully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Arial"/>
              </a:rPr>
              <a:t>What this experiment does and does not claim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10607040" cy="18288"/>
          </a:xfrm>
          <a:prstGeom prst="rect">
            <a:avLst/>
          </a:prstGeom>
          <a:solidFill>
            <a:srgbClr val="D5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Previous average (0–100), attendance proportion (0–1), early assessment average (0–100), credit load (1–40).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failed_later — an outcome observed strictly after the snapshot date.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Today's cumulative database records are never converted into historical training examples.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The bundled generator creates labelled synthetic examples for teaching only.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60 rows and 15 per class are software minimums, not proof of statistical adequacy.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A reproducible classroom demonstration — not a validated institutional predictor.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68580" cy="65836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486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02D72"/>
                </a:solidFill>
                <a:latin typeface="Arial"/>
              </a:rPr>
              <a:t>Model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Arial"/>
              </a:rPr>
              <a:t>A small network, chosen for explainability over complexity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10607040" cy="18288"/>
          </a:xfrm>
          <a:prstGeom prst="rect">
            <a:avLst/>
          </a:prstGeom>
          <a:solidFill>
            <a:srgbClr val="D5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10512"/>
            <a:ext cx="10561320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1406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rial"/>
              </a:rPr>
              <a:t>Element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56178" y="1901952"/>
            <a:ext cx="404164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rial"/>
              </a:rPr>
              <a:t>Design choice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80706" y="1901952"/>
            <a:ext cx="383042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rial"/>
              </a:rPr>
              <a:t>Rationale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194560"/>
            <a:ext cx="10561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276856"/>
            <a:ext cx="214061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02D72"/>
                </a:solidFill>
                <a:latin typeface="Arial"/>
              </a:rPr>
              <a:t>Input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6178" y="2276856"/>
            <a:ext cx="40416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4 numeric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0706" y="2276856"/>
            <a:ext cx="383042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Only signals available at the snapshot 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578608"/>
            <a:ext cx="10561320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60904"/>
            <a:ext cx="214061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02D72"/>
                </a:solidFill>
                <a:latin typeface="Arial"/>
              </a:rPr>
              <a:t>Hidden layer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56178" y="2660904"/>
            <a:ext cx="40416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32 ReLU units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0706" y="2660904"/>
            <a:ext cx="383042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Sufficient capacity for a small tabular problem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962656"/>
            <a:ext cx="10561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044952"/>
            <a:ext cx="214061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02D72"/>
                </a:solidFill>
                <a:latin typeface="Arial"/>
              </a:rPr>
              <a:t>Hidden layer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56178" y="3044952"/>
            <a:ext cx="40416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16 ReLU units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0706" y="3044952"/>
            <a:ext cx="383042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Progressive compression before the decision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346704"/>
            <a:ext cx="10561320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429000"/>
            <a:ext cx="214061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02D72"/>
                </a:solidFill>
                <a:latin typeface="Arial"/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56178" y="3429000"/>
            <a:ext cx="40416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1 sigmoid unit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0706" y="3429000"/>
            <a:ext cx="383042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Produces a probability-like score in [0,1]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3730752"/>
            <a:ext cx="10561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3813048"/>
            <a:ext cx="214061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02D72"/>
                </a:solidFill>
                <a:latin typeface="Arial"/>
              </a:rPr>
              <a:t>Comparator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56178" y="3813048"/>
            <a:ext cx="40416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No hidden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0706" y="3813048"/>
            <a:ext cx="383042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Identical implementation — this is logistic regression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114800"/>
            <a:ext cx="10561320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4197096"/>
            <a:ext cx="214061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02D72"/>
                </a:solidFill>
                <a:latin typeface="Arial"/>
              </a:rPr>
              <a:t>Implementation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56178" y="4197096"/>
            <a:ext cx="404164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NumPy backpropagation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0706" y="4197096"/>
            <a:ext cx="3830421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No framework dependency; fully inspectable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68580" cy="65836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486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02D72"/>
                </a:solidFill>
                <a:latin typeface="Arial"/>
              </a:rPr>
              <a:t>Training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Arial"/>
              </a:rPr>
              <a:t>Fixed for reproducibility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10607040" cy="18288"/>
          </a:xfrm>
          <a:prstGeom prst="rect">
            <a:avLst/>
          </a:prstGeom>
          <a:solidFill>
            <a:srgbClr val="D5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65960"/>
            <a:ext cx="243459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243459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0052CC"/>
                </a:solidFill>
                <a:latin typeface="Arial"/>
              </a:rPr>
              <a:t>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27248"/>
            <a:ext cx="216027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Arial"/>
              </a:rPr>
              <a:t>random seed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31870" y="1965960"/>
            <a:ext cx="243459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1870" y="2240280"/>
            <a:ext cx="243459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0052CC"/>
                </a:solidFill>
                <a:latin typeface="Arial"/>
              </a:rPr>
              <a:t>0.03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9030" y="3127248"/>
            <a:ext cx="216027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Arial"/>
              </a:rPr>
              <a:t>learning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0780" y="1965960"/>
            <a:ext cx="243459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0780" y="2240280"/>
            <a:ext cx="243459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0052CC"/>
                </a:solidFill>
                <a:latin typeface="Arial"/>
              </a:rPr>
              <a:t>1,200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7940" y="3127248"/>
            <a:ext cx="216027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Arial"/>
              </a:rPr>
              <a:t>max epochs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49690" y="1965960"/>
            <a:ext cx="243459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49690" y="2240280"/>
            <a:ext cx="243459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0052CC"/>
                </a:solidFill>
                <a:latin typeface="Arial"/>
              </a:rPr>
              <a:t>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6850" y="3127248"/>
            <a:ext cx="216027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Arial"/>
              </a:rPr>
              <a:t>early-stop patience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148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Arial"/>
              </a:rPr>
              <a:t>Loss: binary cross-entropy with L2 regularisation. Best validation-loss weights are restored. Normalisation is fitted on training data only — never on validation or test.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68580" cy="65836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486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02D72"/>
                </a:solidFill>
                <a:latin typeface="Arial"/>
              </a:rPr>
              <a:t>Evaluation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Arial"/>
              </a:rPr>
              <a:t>Designed so the test set cannot influence model choice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10607040" cy="18288"/>
          </a:xfrm>
          <a:prstGeom prst="rect">
            <a:avLst/>
          </a:prstGeom>
          <a:solidFill>
            <a:srgbClr val="D5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Stratified approximately 60/20/20 across distinct students.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Prevents the same student's examples appearing in both training and test groups.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The comparator is chosen on validation only.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The test group is reported afterwards and does not select the model.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Precision, recall, F1, accuracy, confusion matrix and Brier score.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Scores are not established as calibrated real-world probabilities.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68580" cy="65836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486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02D72"/>
                </a:solidFill>
                <a:latin typeface="Arial"/>
              </a:rPr>
              <a:t>Request Trace — Neural Inference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Arial"/>
              </a:rPr>
              <a:t>Layer 2 validates, Layer 3 computes, Layer 4 loads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10607040" cy="18288"/>
          </a:xfrm>
          <a:prstGeom prst="rect">
            <a:avLst/>
          </a:prstGeom>
          <a:solidFill>
            <a:srgbClr val="D5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10512"/>
            <a:ext cx="33253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10512"/>
            <a:ext cx="3325368" cy="5029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2959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2D72"/>
                </a:solidFill>
                <a:latin typeface="Arial"/>
              </a:rPr>
              <a:t>Layer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14016"/>
            <a:ext cx="295960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Arial"/>
              </a:rPr>
              <a:t>Displays a research form and the held-out results table for comparison.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0936" y="1810512"/>
            <a:ext cx="33253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0936" y="1810512"/>
            <a:ext cx="3325368" cy="5029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3816" y="1993392"/>
            <a:ext cx="2959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2D72"/>
                </a:solidFill>
                <a:latin typeface="Arial"/>
              </a:rPr>
              <a:t>Layer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3816" y="2414016"/>
            <a:ext cx="295960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Arial"/>
              </a:rPr>
              <a:t>Permits users holding manage_students, validates the request and handles errors gracefully.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8912" y="1810512"/>
            <a:ext cx="33253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8912" y="1810512"/>
            <a:ext cx="3325368" cy="5029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1792" y="1993392"/>
            <a:ext cx="2959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2D72"/>
                </a:solidFill>
                <a:latin typeface="Arial"/>
              </a:rPr>
              <a:t>Layer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1792" y="2414016"/>
            <a:ext cx="295960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Arial"/>
              </a:rPr>
              <a:t>Validates four numerical inputs and performs forward inference.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483864"/>
            <a:ext cx="33253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483864"/>
            <a:ext cx="3325368" cy="5029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666744"/>
            <a:ext cx="2959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2D72"/>
                </a:solidFill>
                <a:latin typeface="Arial"/>
              </a:rPr>
              <a:t>Layer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087368"/>
            <a:ext cx="295960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Arial"/>
              </a:rPr>
              <a:t>Loads a versioned JSON artefact, with a PostgreSQL fallback if the file is absent.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40936" y="3483864"/>
            <a:ext cx="33253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40936" y="3483864"/>
            <a:ext cx="3325368" cy="5029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3816" y="3666744"/>
            <a:ext cx="2959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2D72"/>
                </a:solidFill>
                <a:latin typeface="Arial"/>
              </a:rPr>
              <a:t>Offline 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3816" y="4087368"/>
            <a:ext cx="295960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Arial"/>
              </a:rPr>
              <a:t>Reads CSV snapshots and atomically saves the artefact — no partial writes.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58912" y="3483864"/>
            <a:ext cx="33253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8912" y="3483864"/>
            <a:ext cx="3325368" cy="5029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1792" y="3666744"/>
            <a:ext cx="2959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2D72"/>
                </a:solidFill>
                <a:latin typeface="Arial"/>
              </a:rPr>
              <a:t>Persistence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1792" y="4087368"/>
            <a:ext cx="295960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Arial"/>
              </a:rPr>
              <a:t>risk_snapshots and risk_experiments store the dataset and trained bundle in SQL.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68580" cy="65836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486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02D72"/>
                </a:solidFill>
                <a:latin typeface="Arial"/>
              </a:rPr>
              <a:t>Admin — Neural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Arial"/>
              </a:rPr>
              <a:t>Research form and held-out model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10607040" cy="18288"/>
          </a:xfrm>
          <a:prstGeom prst="rect">
            <a:avLst/>
          </a:prstGeom>
          <a:solidFill>
            <a:srgbClr val="D5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min-predictions-neu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872" y="1783080"/>
            <a:ext cx="5123950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Arial"/>
              </a:rPr>
              <a:t>Administrator view at /predictions/neural.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68580" cy="65836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486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02D72"/>
                </a:solidFill>
                <a:latin typeface="Arial"/>
              </a:rPr>
              <a:t>Model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Arial"/>
              </a:rPr>
              <a:t>A single inference rendered for the user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10607040" cy="18288"/>
          </a:xfrm>
          <a:prstGeom prst="rect">
            <a:avLst/>
          </a:prstGeom>
          <a:solidFill>
            <a:srgbClr val="D5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eural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840" y="1783080"/>
            <a:ext cx="4742014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Arial"/>
              </a:rPr>
              <a:t>Synthetic-data disclosure is shown alongside any score.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2011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600" b="1">
                <a:solidFill>
                  <a:srgbClr val="1B4A94"/>
                </a:solidFill>
                <a:latin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632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280160" cy="4572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C9D6EA"/>
                </a:solidFill>
                <a:latin typeface="Arial"/>
              </a:rPr>
              <a:t>Claims backed by executed checks, not estimates.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68580" cy="65836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486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02D72"/>
                </a:solidFill>
                <a:latin typeface="Arial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Arial"/>
              </a:rPr>
              <a:t>Recorded 30 October 2026 against the live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10607040" cy="18288"/>
          </a:xfrm>
          <a:prstGeom prst="rect">
            <a:avLst/>
          </a:prstGeom>
          <a:solidFill>
            <a:srgbClr val="D5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65960"/>
            <a:ext cx="243459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243459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0052CC"/>
                </a:solidFill>
                <a:latin typeface="Arial"/>
              </a:rPr>
              <a:t>194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27248"/>
            <a:ext cx="216027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Arial"/>
              </a:rPr>
              <a:t>tests passed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31870" y="1965960"/>
            <a:ext cx="243459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1870" y="2240280"/>
            <a:ext cx="243459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0052CC"/>
                </a:solidFill>
                <a:latin typeface="Arial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9030" y="3127248"/>
            <a:ext cx="216027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Arial"/>
              </a:rPr>
              <a:t>failures or skips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0780" y="1965960"/>
            <a:ext cx="243459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0780" y="2240280"/>
            <a:ext cx="243459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0052CC"/>
                </a:solidFill>
                <a:latin typeface="Arial"/>
              </a:rPr>
              <a:t>4/4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7940" y="3127248"/>
            <a:ext cx="216027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Arial"/>
              </a:rPr>
              <a:t>layer scopes passed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49690" y="1965960"/>
            <a:ext cx="243459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49690" y="2240280"/>
            <a:ext cx="243459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0052CC"/>
                </a:solidFill>
                <a:latin typeface="Arial"/>
              </a:rPr>
              <a:t>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6850" y="3127248"/>
            <a:ext cx="216027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Arial"/>
              </a:rPr>
              <a:t>pages returned 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1148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55555"/>
                </a:solidFill>
                <a:latin typeface="Arial"/>
              </a:rPr>
              <a:t>Full PostgreSQL-backed suite ran in 68.01 seconds. Evidence file: instance/verification.xml. 24 pages plus one neural form submission verified across administrator, teacher, student and parent accounts.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68580" cy="65836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486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02D72"/>
                </a:solidFill>
                <a:latin typeface="Arial"/>
              </a:rPr>
              <a:t>What Was Actually Checked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Arial"/>
              </a:rPr>
              <a:t>Each item was executed, not assumed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10607040" cy="18288"/>
          </a:xfrm>
          <a:prstGeom prst="rect">
            <a:avLst/>
          </a:prstGeom>
          <a:solidFill>
            <a:srgbClr val="D5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All four scopes in scripts/verify_layers.ps1 passed independently.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Tests decode actual QR pixels, persist attendance, reject tampered codes, and confirm repeat scans are idempotent.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Final migration metadata comparison returned an empty diff.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The complete dump restored into a separate empty database; every table count matched.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Eight student and two teacher profiles carry local fictional portraits — display assets, not training data.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A physical-phone classroom trial remains outstanding.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68580" cy="65836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486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02D72"/>
                </a:solidFill>
                <a:latin typeface="Arial"/>
              </a:rPr>
              <a:t>Demonstration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Arial"/>
              </a:rPr>
              <a:t>Restored and row-counted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10607040" cy="18288"/>
          </a:xfrm>
          <a:prstGeom prst="rect">
            <a:avLst/>
          </a:prstGeom>
          <a:solidFill>
            <a:srgbClr val="D5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10512"/>
            <a:ext cx="10561320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77428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rial"/>
              </a:rPr>
              <a:t>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9857" y="1901952"/>
            <a:ext cx="21406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rial"/>
              </a:rPr>
              <a:t>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3347" y="1901952"/>
            <a:ext cx="277428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rial"/>
              </a:rPr>
              <a:t>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0516" y="1901952"/>
            <a:ext cx="21406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rial"/>
              </a:rPr>
              <a:t>Count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194560"/>
            <a:ext cx="10561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276856"/>
            <a:ext cx="277428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02D72"/>
                </a:solidFill>
                <a:latin typeface="Arial"/>
              </a:rPr>
              <a:t>Students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9857" y="2276856"/>
            <a:ext cx="214061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3347" y="2276856"/>
            <a:ext cx="277428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Courses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0516" y="2276856"/>
            <a:ext cx="214061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44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578608"/>
            <a:ext cx="10561320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2660904"/>
            <a:ext cx="277428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02D72"/>
                </a:solidFill>
                <a:latin typeface="Arial"/>
              </a:rPr>
              <a:t>Teachers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9857" y="2660904"/>
            <a:ext cx="214061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3347" y="2660904"/>
            <a:ext cx="277428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Course offerings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0516" y="2660904"/>
            <a:ext cx="214061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44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2962656"/>
            <a:ext cx="10561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3044952"/>
            <a:ext cx="277428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02D72"/>
                </a:solidFill>
                <a:latin typeface="Arial"/>
              </a:rPr>
              <a:t>Departments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9857" y="3044952"/>
            <a:ext cx="214061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3347" y="3044952"/>
            <a:ext cx="277428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Enrolments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0516" y="3044952"/>
            <a:ext cx="214061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231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3346704"/>
            <a:ext cx="10561320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3429000"/>
            <a:ext cx="277428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02D72"/>
                </a:solidFill>
                <a:latin typeface="Arial"/>
              </a:rPr>
              <a:t>Semesters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9857" y="3429000"/>
            <a:ext cx="214061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3347" y="3429000"/>
            <a:ext cx="277428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Grades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0516" y="3429000"/>
            <a:ext cx="214061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217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3730752"/>
            <a:ext cx="10561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3813048"/>
            <a:ext cx="277428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02D72"/>
                </a:solidFill>
                <a:latin typeface="Arial"/>
              </a:rPr>
              <a:t>Users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9857" y="3813048"/>
            <a:ext cx="214061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3347" y="3813048"/>
            <a:ext cx="277428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Attendance rows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0516" y="3813048"/>
            <a:ext cx="214061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868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4114800"/>
            <a:ext cx="10561320" cy="384048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197096"/>
            <a:ext cx="277428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02D72"/>
                </a:solidFill>
                <a:latin typeface="Arial"/>
              </a:rPr>
              <a:t>Fee assessments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9857" y="4197096"/>
            <a:ext cx="214061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3347" y="4197096"/>
            <a:ext cx="277428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Payments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70516" y="4197096"/>
            <a:ext cx="214061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" y="4498848"/>
            <a:ext cx="10561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4581144"/>
            <a:ext cx="277428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002D72"/>
                </a:solidFill>
                <a:latin typeface="Arial"/>
              </a:rPr>
              <a:t>Research snapshots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9857" y="4581144"/>
            <a:ext cx="214061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600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3347" y="4581144"/>
            <a:ext cx="277428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Trained experiments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70516" y="4581144"/>
            <a:ext cx="214061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1F2933"/>
                </a:solidFill>
                <a:latin typeface="Arial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2011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600" b="1">
                <a:solidFill>
                  <a:srgbClr val="1B4A94"/>
                </a:solidFill>
                <a:latin typeface="Arial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0632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Limitations and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977639"/>
            <a:ext cx="1280160" cy="4572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0">
                <a:solidFill>
                  <a:srgbClr val="C9D6EA"/>
                </a:solidFill>
                <a:latin typeface="Arial"/>
              </a:rPr>
              <a:t>Stated plainly, because a demonstration earns trust by naming its edges.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68580" cy="65836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486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02D72"/>
                </a:solidFill>
                <a:latin typeface="Arial"/>
              </a:rPr>
              <a:t>Honest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Arial"/>
              </a:rPr>
              <a:t>What this build does not establish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10607040" cy="18288"/>
          </a:xfrm>
          <a:prstGeom prst="rect">
            <a:avLst/>
          </a:prstGeom>
          <a:solidFill>
            <a:srgbClr val="D5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10512"/>
            <a:ext cx="33253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10512"/>
            <a:ext cx="3325368" cy="5029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2959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2D72"/>
                </a:solidFill>
                <a:latin typeface="Arial"/>
              </a:rPr>
              <a:t>Synthetic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14016"/>
            <a:ext cx="295960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Arial"/>
              </a:rPr>
              <a:t>Model scores come from generated data. They demonstrate method, not institutional truth.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0936" y="1810512"/>
            <a:ext cx="33253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0936" y="1810512"/>
            <a:ext cx="3325368" cy="5029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3816" y="1993392"/>
            <a:ext cx="2959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2D72"/>
                </a:solidFill>
                <a:latin typeface="Arial"/>
              </a:rPr>
              <a:t>No historical cohort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3816" y="2414016"/>
            <a:ext cx="295960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Arial"/>
              </a:rPr>
              <a:t>Real prediction requires consented dated snapshots and later observed outcomes.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8912" y="1810512"/>
            <a:ext cx="33253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8912" y="1810512"/>
            <a:ext cx="3325368" cy="5029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1792" y="1993392"/>
            <a:ext cx="2959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2D72"/>
                </a:solidFill>
                <a:latin typeface="Arial"/>
              </a:rPr>
              <a:t>Not calibrated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1792" y="2414016"/>
            <a:ext cx="295960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Arial"/>
              </a:rPr>
              <a:t>Brier score is reported, but scores are not validated probabilities.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483864"/>
            <a:ext cx="33253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483864"/>
            <a:ext cx="3325368" cy="5029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666744"/>
            <a:ext cx="2959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2D72"/>
                </a:solidFill>
                <a:latin typeface="Arial"/>
              </a:rPr>
              <a:t>Threshold unset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087368"/>
            <a:ext cx="295960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Arial"/>
              </a:rPr>
              <a:t>Choosing an operating threshold depends on advisor capacity — an institutional decision.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40936" y="3483864"/>
            <a:ext cx="33253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40936" y="3483864"/>
            <a:ext cx="3325368" cy="5029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3816" y="3666744"/>
            <a:ext cx="2959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2D72"/>
                </a:solidFill>
                <a:latin typeface="Arial"/>
              </a:rPr>
              <a:t>External providers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3816" y="4087368"/>
            <a:ext cx="295960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Arial"/>
              </a:rPr>
              <a:t>SMS and payment adapters exist; live services were not exercised. Demo records are labelled stub.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58912" y="3483864"/>
            <a:ext cx="3325368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8912" y="3483864"/>
            <a:ext cx="3325368" cy="50292"/>
          </a:xfrm>
          <a:prstGeom prst="rect">
            <a:avLst/>
          </a:prstGeom>
          <a:solidFill>
            <a:srgbClr val="005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1792" y="3666744"/>
            <a:ext cx="295960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002D72"/>
                </a:solidFill>
                <a:latin typeface="Arial"/>
              </a:rPr>
              <a:t>Physical trial pending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1792" y="4087368"/>
            <a:ext cx="295960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Arial"/>
              </a:rPr>
              <a:t>OpenCV decoding is tested on images, not yet in a live classroom.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68580" cy="658368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5486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000" b="1">
                <a:solidFill>
                  <a:srgbClr val="002D72"/>
                </a:solidFill>
                <a:latin typeface="Arial"/>
              </a:rPr>
              <a:t>Recommended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11556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Arial"/>
              </a:rPr>
              <a:t>In priority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10607040" cy="18288"/>
          </a:xfrm>
          <a:prstGeom prst="rect">
            <a:avLst/>
          </a:prstGeom>
          <a:solidFill>
            <a:srgbClr val="D5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Consented, dated, governance-approved data with later observed outcomes.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Temporal validation is the only meaningful test of a predictor.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Tune the decision boundary to the number of students advisors can actually support.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A DAG with topological sorting can detect cycles and show a valid course order — high value, little data required.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E86C00"/>
                </a:solidFill>
                <a:latin typeface="Arial"/>
              </a:rPr>
              <a:t>▪  </a:t>
            </a:r>
            <a:r>
              <a:rPr sz="1500" b="0">
                <a:solidFill>
                  <a:srgbClr val="1F2933"/>
                </a:solidFill>
                <a:latin typeface="Arial"/>
              </a:rPr>
              <a:t>Consider richer sequence models once genuine weekly sequences exist.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B8C6DC"/>
                </a:solidFill>
                <a:latin typeface="Arial"/>
              </a:rPr>
              <a:t>USAMIS  ·  Jinling Institute of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52881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B8C6DC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9456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91840"/>
            <a:ext cx="1280160" cy="45720"/>
          </a:xfrm>
          <a:prstGeom prst="rect">
            <a:avLst/>
          </a:prstGeom>
          <a:solidFill>
            <a:srgbClr val="E8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566160"/>
            <a:ext cx="100584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C9D6EA"/>
                </a:solidFill>
                <a:latin typeface="Arial"/>
              </a:rPr>
              <a:t>USAMIS runs locally at http://127.0.0.1:5055 — a classroom demonstration with fictional people and synthetic training data.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C9D6EA"/>
                </a:solidFill>
                <a:latin typeface="Arial"/>
              </a:rPr>
              <a:t>Four layers, one process. Deterministic rules for official records. Statistical models for support, never authority.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C9D6EA"/>
                </a:solidFill>
                <a:latin typeface="Arial"/>
              </a:rPr>
              <a:t>194 tests passed. Four layer scopes verified. Every claim in this deck is reproducible from the repository.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